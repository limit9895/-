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76" r:id="rId3"/>
    <p:sldId id="257" r:id="rId4"/>
    <p:sldId id="258" r:id="rId5"/>
    <p:sldId id="280" r:id="rId6"/>
    <p:sldId id="281" r:id="rId7"/>
    <p:sldId id="277" r:id="rId8"/>
    <p:sldId id="278" r:id="rId9"/>
    <p:sldId id="273" r:id="rId10"/>
    <p:sldId id="282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74" r:id="rId22"/>
    <p:sldId id="269" r:id="rId23"/>
    <p:sldId id="270" r:id="rId2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-922" y="-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2019-07-12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Decision Tree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689968" y="1666960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남자다</a:t>
            </a:r>
            <a:endParaRPr lang="ko-KR" altLang="en-US"/>
          </a:p>
        </p:txBody>
      </p:sp>
      <p:cxnSp>
        <p:nvCxnSpPr>
          <p:cNvPr id="5" name="꺾인 연결선 4"/>
          <p:cNvCxnSpPr>
            <a:stCxn id="3" idx="2"/>
          </p:cNvCxnSpPr>
          <p:nvPr/>
        </p:nvCxnSpPr>
        <p:spPr>
          <a:xfrm rot="5400000">
            <a:off x="3633680" y="2253950"/>
            <a:ext cx="853672" cy="8934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꺾인 연결선 5"/>
          <p:cNvCxnSpPr>
            <a:stCxn id="3" idx="2"/>
            <a:endCxn id="7" idx="0"/>
          </p:cNvCxnSpPr>
          <p:nvPr/>
        </p:nvCxnSpPr>
        <p:spPr>
          <a:xfrm rot="16200000" flipH="1">
            <a:off x="4564747" y="2216378"/>
            <a:ext cx="854731" cy="9696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59665" y="3128593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키가 크다</a:t>
            </a:r>
            <a:endParaRPr lang="ko-KR" altLang="en-US" dirty="0"/>
          </a:p>
        </p:txBody>
      </p:sp>
      <p:cxnSp>
        <p:nvCxnSpPr>
          <p:cNvPr id="8" name="꺾인 연결선 7"/>
          <p:cNvCxnSpPr>
            <a:stCxn id="7" idx="2"/>
            <a:endCxn id="15" idx="0"/>
          </p:cNvCxnSpPr>
          <p:nvPr/>
        </p:nvCxnSpPr>
        <p:spPr>
          <a:xfrm rot="5400000">
            <a:off x="4411164" y="3424298"/>
            <a:ext cx="754601" cy="13769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3282671" y="4490096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노래를 잘한다</a:t>
            </a:r>
            <a:endParaRPr lang="ko-KR" altLang="en-US" sz="1600" dirty="0"/>
          </a:p>
        </p:txBody>
      </p:sp>
      <p:cxnSp>
        <p:nvCxnSpPr>
          <p:cNvPr id="19" name="꺾인 연결선 18"/>
          <p:cNvCxnSpPr>
            <a:stCxn id="7" idx="2"/>
          </p:cNvCxnSpPr>
          <p:nvPr/>
        </p:nvCxnSpPr>
        <p:spPr>
          <a:xfrm rot="16200000" flipH="1">
            <a:off x="5850343" y="3362113"/>
            <a:ext cx="755659" cy="15024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15" idx="2"/>
            <a:endCxn id="32" idx="0"/>
          </p:cNvCxnSpPr>
          <p:nvPr/>
        </p:nvCxnSpPr>
        <p:spPr>
          <a:xfrm rot="5400000">
            <a:off x="3234975" y="4803480"/>
            <a:ext cx="571474" cy="11585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2124161" y="5668472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사실은</a:t>
            </a:r>
            <a:r>
              <a:rPr lang="en-US" altLang="ko-KR" dirty="0" smtClean="0"/>
              <a:t>….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551136" y="2273861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Yes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3282671" y="2272803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900361" y="3728384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6747408" y="3727405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Yes</a:t>
            </a:r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605636" y="5031117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4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5" grpId="0" animBg="1"/>
      <p:bldP spid="32" grpId="0" animBg="1"/>
      <p:bldP spid="35" grpId="0"/>
      <p:bldP spid="36" grpId="0"/>
      <p:bldP spid="3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8284" y="486641"/>
            <a:ext cx="6945494" cy="940584"/>
          </a:xfrm>
        </p:spPr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49275" y="1700916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“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스무고개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”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놀이와 결정 트리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아래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표에서 속성 인덱스로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0, 1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있으며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목적 클래스 인덱스가 ＋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－로 분류되는 데이터다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속성이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3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개고 각 속성 인덱스가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개므로 가능한 모든 경우가 포함된 이와 같은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8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개의 데이터 집합이면 완벽한 결정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트리를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구성하는 것이 가능하다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46" y="3511942"/>
            <a:ext cx="2714054" cy="233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631" y="3374561"/>
            <a:ext cx="2530231" cy="2439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3396366"/>
            <a:ext cx="2879725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17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486899" y="161190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일반적인 결정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트리가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갖는 처리 과정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C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lang="en-US" altLang="ko-KR" kern="0" dirty="0"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클래스 인덱스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D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데이터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d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i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이루어진 전체 데이터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속성 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a</a:t>
            </a:r>
            <a:r>
              <a:rPr kumimoji="0" lang="en-US" altLang="ko-KR" sz="15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i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이루어진 속성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25"/>
          <a:stretch/>
        </p:blipFill>
        <p:spPr bwMode="auto">
          <a:xfrm>
            <a:off x="1353197" y="2982374"/>
            <a:ext cx="6835944" cy="53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115" y="3819260"/>
            <a:ext cx="2714054" cy="233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269" y="3696622"/>
            <a:ext cx="2530231" cy="2439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50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11175" y="162808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일반적인 결정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트리가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갖는 처리 과정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C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lang="en-US" altLang="ko-KR" kern="0" dirty="0"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클래스 인덱스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D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데이터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d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i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이루어진 전체 데이터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속성 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a</a:t>
            </a:r>
            <a:r>
              <a:rPr kumimoji="0" lang="en-US" altLang="ko-KR" sz="15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i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이루어진 속성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52" b="57781"/>
          <a:stretch/>
        </p:blipFill>
        <p:spPr bwMode="auto">
          <a:xfrm>
            <a:off x="1361289" y="2985960"/>
            <a:ext cx="6835944" cy="57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115" y="3819260"/>
            <a:ext cx="2714054" cy="233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269" y="3696622"/>
            <a:ext cx="2530231" cy="2439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657600" y="3867993"/>
            <a:ext cx="534074" cy="220912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041788" y="3623883"/>
            <a:ext cx="2241044" cy="101285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38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11175" y="162808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일반적인 결정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트리가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갖는 처리 과정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C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lang="en-US" altLang="ko-KR" kern="0" dirty="0"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클래스 인덱스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D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데이터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d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i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이루어진 전체 데이터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lvl="2" indent="-180975" latinLnBrk="0">
              <a:buClr>
                <a:srgbClr val="666633"/>
              </a:buClr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속성 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a</a:t>
            </a:r>
            <a:r>
              <a:rPr kumimoji="0" lang="en-US" altLang="ko-KR" sz="15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i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이루어진 속성 집합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95"/>
          <a:stretch/>
        </p:blipFill>
        <p:spPr bwMode="auto">
          <a:xfrm>
            <a:off x="1539314" y="2945501"/>
            <a:ext cx="6835944" cy="1593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230" y="3633143"/>
            <a:ext cx="2714054" cy="233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6060935" y="3696341"/>
            <a:ext cx="1035780" cy="220912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990889" y="1626500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남자다</a:t>
            </a:r>
            <a:endParaRPr lang="ko-KR" altLang="en-US"/>
          </a:p>
        </p:txBody>
      </p:sp>
      <p:cxnSp>
        <p:nvCxnSpPr>
          <p:cNvPr id="4" name="꺾인 연결선 3"/>
          <p:cNvCxnSpPr>
            <a:stCxn id="3" idx="2"/>
          </p:cNvCxnSpPr>
          <p:nvPr/>
        </p:nvCxnSpPr>
        <p:spPr>
          <a:xfrm rot="5400000">
            <a:off x="3934601" y="2213490"/>
            <a:ext cx="853672" cy="8934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꺾인 연결선 4"/>
          <p:cNvCxnSpPr>
            <a:stCxn id="3" idx="2"/>
            <a:endCxn id="6" idx="0"/>
          </p:cNvCxnSpPr>
          <p:nvPr/>
        </p:nvCxnSpPr>
        <p:spPr>
          <a:xfrm rot="16200000" flipH="1">
            <a:off x="4865668" y="2175918"/>
            <a:ext cx="854731" cy="9696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960586" y="3088133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키가 크다</a:t>
            </a:r>
            <a:endParaRPr lang="ko-KR" altLang="en-US" dirty="0"/>
          </a:p>
        </p:txBody>
      </p:sp>
      <p:cxnSp>
        <p:nvCxnSpPr>
          <p:cNvPr id="7" name="꺾인 연결선 6"/>
          <p:cNvCxnSpPr>
            <a:stCxn id="6" idx="2"/>
            <a:endCxn id="8" idx="0"/>
          </p:cNvCxnSpPr>
          <p:nvPr/>
        </p:nvCxnSpPr>
        <p:spPr>
          <a:xfrm rot="5400000">
            <a:off x="4712085" y="3383838"/>
            <a:ext cx="754601" cy="13769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583592" y="4449636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노래를 잘한다</a:t>
            </a:r>
            <a:endParaRPr lang="ko-KR" altLang="en-US" dirty="0"/>
          </a:p>
        </p:txBody>
      </p:sp>
      <p:cxnSp>
        <p:nvCxnSpPr>
          <p:cNvPr id="9" name="꺾인 연결선 8"/>
          <p:cNvCxnSpPr>
            <a:stCxn id="6" idx="2"/>
          </p:cNvCxnSpPr>
          <p:nvPr/>
        </p:nvCxnSpPr>
        <p:spPr>
          <a:xfrm rot="16200000" flipH="1">
            <a:off x="6151264" y="3321653"/>
            <a:ext cx="755659" cy="15024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8" idx="2"/>
            <a:endCxn id="11" idx="0"/>
          </p:cNvCxnSpPr>
          <p:nvPr/>
        </p:nvCxnSpPr>
        <p:spPr>
          <a:xfrm rot="5400000">
            <a:off x="3535896" y="4763020"/>
            <a:ext cx="571474" cy="11585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425082" y="5628012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사실은</a:t>
            </a:r>
            <a:r>
              <a:rPr lang="en-US" altLang="ko-KR" dirty="0" smtClean="0"/>
              <a:t>….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852057" y="2233401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Yes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583592" y="2232343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201282" y="3687924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048329" y="3686945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Yes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906557" y="4990657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090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990889" y="1626500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키가 크다</a:t>
            </a:r>
            <a:endParaRPr lang="ko-KR" altLang="en-US" dirty="0"/>
          </a:p>
        </p:txBody>
      </p:sp>
      <p:cxnSp>
        <p:nvCxnSpPr>
          <p:cNvPr id="5" name="꺾인 연결선 4"/>
          <p:cNvCxnSpPr>
            <a:stCxn id="4" idx="2"/>
          </p:cNvCxnSpPr>
          <p:nvPr/>
        </p:nvCxnSpPr>
        <p:spPr>
          <a:xfrm rot="5400000">
            <a:off x="3934601" y="2213490"/>
            <a:ext cx="853672" cy="8934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꺾인 연결선 5"/>
          <p:cNvCxnSpPr>
            <a:stCxn id="4" idx="2"/>
            <a:endCxn id="7" idx="0"/>
          </p:cNvCxnSpPr>
          <p:nvPr/>
        </p:nvCxnSpPr>
        <p:spPr>
          <a:xfrm rot="16200000" flipH="1">
            <a:off x="4865668" y="2175918"/>
            <a:ext cx="854731" cy="9696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960586" y="3088133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노래를 잘한다</a:t>
            </a:r>
            <a:endParaRPr lang="ko-KR" altLang="en-US" sz="1600" dirty="0"/>
          </a:p>
        </p:txBody>
      </p:sp>
      <p:cxnSp>
        <p:nvCxnSpPr>
          <p:cNvPr id="8" name="꺾인 연결선 7"/>
          <p:cNvCxnSpPr>
            <a:stCxn id="7" idx="2"/>
            <a:endCxn id="9" idx="0"/>
          </p:cNvCxnSpPr>
          <p:nvPr/>
        </p:nvCxnSpPr>
        <p:spPr>
          <a:xfrm rot="5400000">
            <a:off x="4712085" y="3383838"/>
            <a:ext cx="754601" cy="13769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583592" y="4449636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남자다</a:t>
            </a:r>
            <a:endParaRPr lang="ko-KR" altLang="en-US" dirty="0"/>
          </a:p>
        </p:txBody>
      </p:sp>
      <p:cxnSp>
        <p:nvCxnSpPr>
          <p:cNvPr id="10" name="꺾인 연결선 9"/>
          <p:cNvCxnSpPr>
            <a:stCxn id="7" idx="2"/>
          </p:cNvCxnSpPr>
          <p:nvPr/>
        </p:nvCxnSpPr>
        <p:spPr>
          <a:xfrm rot="16200000" flipH="1">
            <a:off x="6151264" y="3321653"/>
            <a:ext cx="755659" cy="15024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9" idx="2"/>
            <a:endCxn id="12" idx="0"/>
          </p:cNvCxnSpPr>
          <p:nvPr/>
        </p:nvCxnSpPr>
        <p:spPr>
          <a:xfrm rot="5400000">
            <a:off x="3535896" y="4763020"/>
            <a:ext cx="571474" cy="11585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2425082" y="5628012"/>
            <a:ext cx="1634591" cy="60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헐</a:t>
            </a:r>
            <a:r>
              <a:rPr lang="en-US" altLang="ko-KR" dirty="0" smtClean="0"/>
              <a:t>….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852057" y="2233401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Yes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583592" y="2232343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01282" y="3687924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048329" y="3686945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Yes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06557" y="4990657"/>
            <a:ext cx="67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358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207314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단계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에서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C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에 가장 크게 영향을 미치는 속성을 선택하는 방법은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?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 smtClean="0">
              <a:ea typeface="HY견고딕"/>
            </a:endParaRPr>
          </a:p>
          <a:p>
            <a:pPr marL="180975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None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sp>
        <p:nvSpPr>
          <p:cNvPr id="3" name="오른쪽 화살표 2"/>
          <p:cNvSpPr/>
          <p:nvPr/>
        </p:nvSpPr>
        <p:spPr>
          <a:xfrm>
            <a:off x="1165254" y="3528127"/>
            <a:ext cx="801111" cy="275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2435704" y="3099249"/>
            <a:ext cx="2023008" cy="18126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엔트로피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5355552" y="3099249"/>
            <a:ext cx="2023008" cy="18126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이득 정보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(Gain Index)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01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251413" y="2892784"/>
            <a:ext cx="5171512" cy="2690721"/>
            <a:chOff x="3343838" y="2714759"/>
            <a:chExt cx="3184483" cy="1526487"/>
          </a:xfrm>
        </p:grpSpPr>
        <p:pic>
          <p:nvPicPr>
            <p:cNvPr id="3" name="Picture 2" descr="Image result for ì°ê·¸ë¬ì§ ëì 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427" b="42560"/>
            <a:stretch/>
          </p:blipFill>
          <p:spPr bwMode="auto">
            <a:xfrm>
              <a:off x="3343838" y="2755346"/>
              <a:ext cx="1276716" cy="123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Image result for ì°ê·¸ë¬ì§ ëì 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01" t="43532"/>
            <a:stretch/>
          </p:blipFill>
          <p:spPr bwMode="auto">
            <a:xfrm>
              <a:off x="5242475" y="3015303"/>
              <a:ext cx="1285846" cy="1210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 rot="19038295">
              <a:off x="4248320" y="3731448"/>
              <a:ext cx="946768" cy="5097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 rot="19038295">
              <a:off x="4891244" y="2714759"/>
              <a:ext cx="946768" cy="5097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내용 개체 틀 4"/>
          <p:cNvSpPr txBox="1">
            <a:spLocks/>
          </p:cNvSpPr>
          <p:nvPr/>
        </p:nvSpPr>
        <p:spPr bwMode="auto">
          <a:xfrm>
            <a:off x="894170" y="209742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kern="0" dirty="0" smtClean="0">
                <a:ea typeface="HY견고딕"/>
              </a:rPr>
              <a:t>불확실성</a:t>
            </a:r>
            <a:r>
              <a:rPr lang="en-US" altLang="ko-KR" kern="0" dirty="0" smtClean="0">
                <a:ea typeface="HY견고딕"/>
              </a:rPr>
              <a:t>?</a:t>
            </a: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246449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13845" y="157953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엔트로피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불확실성을 계량화하기 위한 수학적 도구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345" y="2136747"/>
            <a:ext cx="32893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95" y="3233710"/>
            <a:ext cx="7150100" cy="300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22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14" name="내용 개체 틀 4"/>
          <p:cNvSpPr txBox="1">
            <a:spLocks/>
          </p:cNvSpPr>
          <p:nvPr/>
        </p:nvSpPr>
        <p:spPr bwMode="auto">
          <a:xfrm>
            <a:off x="489568" y="166045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정보이득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데이터를 분류하는 데 해당 속성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A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의 효율성을 계량화하기 위한 척도 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	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으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속성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A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를 앎으로써 얻는 엔트로피의 감소 정도로 값이 클수록 확실성이 증가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968" y="2662167"/>
            <a:ext cx="48768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6"/>
          <p:cNvSpPr txBox="1">
            <a:spLocks noChangeArrowheads="1"/>
          </p:cNvSpPr>
          <p:nvPr/>
        </p:nvSpPr>
        <p:spPr bwMode="auto">
          <a:xfrm>
            <a:off x="3888406" y="4197280"/>
            <a:ext cx="20478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전체 데이터 집합 </a:t>
            </a:r>
            <a:r>
              <a:rPr kumimoji="0" lang="en-US" altLang="ko-KR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D</a:t>
            </a:r>
            <a:r>
              <a:rPr kumimoji="0" lang="ko-KR" altLang="en-US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에 대한 엔트로피</a:t>
            </a:r>
          </a:p>
        </p:txBody>
      </p:sp>
      <p:sp>
        <p:nvSpPr>
          <p:cNvPr id="17" name="TextBox 7"/>
          <p:cNvSpPr txBox="1">
            <a:spLocks noChangeArrowheads="1"/>
          </p:cNvSpPr>
          <p:nvPr/>
        </p:nvSpPr>
        <p:spPr bwMode="auto">
          <a:xfrm>
            <a:off x="5936281" y="4197280"/>
            <a:ext cx="30670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속성 </a:t>
            </a:r>
            <a:r>
              <a:rPr kumimoji="0" lang="en-US" altLang="ko-KR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A</a:t>
            </a:r>
            <a:r>
              <a:rPr kumimoji="0" lang="ko-KR" altLang="en-US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를 사용하여 분할된 이후의 엔트로피 에 대한 기대값</a:t>
            </a:r>
          </a:p>
        </p:txBody>
      </p:sp>
      <p:cxnSp>
        <p:nvCxnSpPr>
          <p:cNvPr id="18" name="직선 화살표 연결선 17"/>
          <p:cNvCxnSpPr/>
          <p:nvPr/>
        </p:nvCxnSpPr>
        <p:spPr bwMode="auto">
          <a:xfrm rot="5400000" flipH="1" flipV="1">
            <a:off x="3793949" y="3698011"/>
            <a:ext cx="1000125" cy="1588"/>
          </a:xfrm>
          <a:prstGeom prst="straightConnector1">
            <a:avLst/>
          </a:prstGeom>
          <a:noFill/>
          <a:ln w="9525" cap="flat" cmpd="sng" algn="ctr">
            <a:solidFill>
              <a:srgbClr val="000066">
                <a:shade val="95000"/>
                <a:satMod val="105000"/>
              </a:srgbClr>
            </a:solidFill>
            <a:prstDash val="solid"/>
            <a:headEnd type="none" w="med" len="med"/>
            <a:tailEnd type="arrow"/>
          </a:ln>
          <a:effectLst/>
        </p:spPr>
      </p:cxnSp>
      <p:cxnSp>
        <p:nvCxnSpPr>
          <p:cNvPr id="19" name="직선 화살표 연결선 18"/>
          <p:cNvCxnSpPr/>
          <p:nvPr/>
        </p:nvCxnSpPr>
        <p:spPr bwMode="auto">
          <a:xfrm rot="5400000" flipH="1" flipV="1">
            <a:off x="6369668" y="3849617"/>
            <a:ext cx="739775" cy="3175"/>
          </a:xfrm>
          <a:prstGeom prst="straightConnector1">
            <a:avLst/>
          </a:prstGeom>
          <a:noFill/>
          <a:ln w="9525" cap="flat" cmpd="sng" algn="ctr">
            <a:solidFill>
              <a:srgbClr val="000066">
                <a:shade val="95000"/>
                <a:satMod val="105000"/>
              </a:srgbClr>
            </a:solidFill>
            <a:prstDash val="solid"/>
            <a:headEnd type="none" w="med" len="med"/>
            <a:tailEnd type="arrow"/>
          </a:ln>
          <a:effectLst/>
        </p:spPr>
      </p:cxnSp>
      <p:sp>
        <p:nvSpPr>
          <p:cNvPr id="20" name="모서리가 둥근 직사각형 19"/>
          <p:cNvSpPr/>
          <p:nvPr/>
        </p:nvSpPr>
        <p:spPr bwMode="auto">
          <a:xfrm>
            <a:off x="3404218" y="2820917"/>
            <a:ext cx="1109663" cy="37465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 cap="flat" cmpd="sng" algn="ctr">
            <a:solidFill>
              <a:srgbClr val="000066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Y그래픽" pitchFamily="18" charset="-127"/>
              <a:ea typeface="HY그래픽" pitchFamily="18" charset="-127"/>
              <a:cs typeface="+mn-cs"/>
            </a:endParaRPr>
          </a:p>
        </p:txBody>
      </p:sp>
      <p:sp>
        <p:nvSpPr>
          <p:cNvPr id="21" name="모서리가 둥근 직사각형 20"/>
          <p:cNvSpPr/>
          <p:nvPr/>
        </p:nvSpPr>
        <p:spPr bwMode="auto">
          <a:xfrm>
            <a:off x="4648818" y="2662167"/>
            <a:ext cx="2349500" cy="71120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 cap="flat" cmpd="sng" algn="ctr">
            <a:solidFill>
              <a:srgbClr val="000066"/>
            </a:solidFill>
            <a:prstDash val="solid"/>
            <a:headEnd type="none" w="med" len="med"/>
            <a:tailEnd type="none" w="med" len="med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Y그래픽" pitchFamily="18" charset="-127"/>
              <a:ea typeface="HY그래픽" pitchFamily="18" charset="-127"/>
              <a:cs typeface="+mn-cs"/>
            </a:endParaRPr>
          </a:p>
        </p:txBody>
      </p:sp>
      <p:cxnSp>
        <p:nvCxnSpPr>
          <p:cNvPr id="22" name="직선 화살표 연결선 21"/>
          <p:cNvCxnSpPr/>
          <p:nvPr/>
        </p:nvCxnSpPr>
        <p:spPr bwMode="auto">
          <a:xfrm rot="5400000" flipH="1" flipV="1">
            <a:off x="1792111" y="3696424"/>
            <a:ext cx="1001713" cy="0"/>
          </a:xfrm>
          <a:prstGeom prst="straightConnector1">
            <a:avLst/>
          </a:prstGeom>
          <a:noFill/>
          <a:ln w="9525" cap="flat" cmpd="sng" algn="ctr">
            <a:solidFill>
              <a:srgbClr val="000066">
                <a:shade val="95000"/>
                <a:satMod val="105000"/>
              </a:srgbClr>
            </a:solidFill>
            <a:prstDash val="solid"/>
            <a:headEnd type="none" w="med" len="med"/>
            <a:tailEnd type="arrow"/>
          </a:ln>
          <a:effectLst/>
        </p:spPr>
      </p:cxnSp>
      <p:sp>
        <p:nvSpPr>
          <p:cNvPr id="23" name="모서리가 둥근 직사각형 22"/>
          <p:cNvSpPr/>
          <p:nvPr/>
        </p:nvSpPr>
        <p:spPr bwMode="auto">
          <a:xfrm>
            <a:off x="2165968" y="2822505"/>
            <a:ext cx="1060450" cy="37465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 cap="flat" cmpd="sng" algn="ctr">
            <a:solidFill>
              <a:srgbClr val="000066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Y그래픽" pitchFamily="18" charset="-127"/>
              <a:ea typeface="HY그래픽" pitchFamily="18" charset="-127"/>
              <a:cs typeface="+mn-cs"/>
            </a:endParaRPr>
          </a:p>
        </p:txBody>
      </p:sp>
      <p:sp>
        <p:nvSpPr>
          <p:cNvPr id="24" name="TextBox 6"/>
          <p:cNvSpPr txBox="1">
            <a:spLocks noChangeArrowheads="1"/>
          </p:cNvSpPr>
          <p:nvPr/>
        </p:nvSpPr>
        <p:spPr bwMode="auto">
          <a:xfrm>
            <a:off x="603868" y="4222680"/>
            <a:ext cx="32004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G(D, A)</a:t>
            </a:r>
            <a:r>
              <a:rPr kumimoji="0" lang="ko-KR" altLang="en-US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는 속성 </a:t>
            </a:r>
            <a:r>
              <a:rPr kumimoji="0" lang="en-US" altLang="ko-KR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A</a:t>
            </a:r>
            <a:r>
              <a:rPr kumimoji="0" lang="ko-KR" altLang="en-US" sz="1500" b="1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의 값을 앎으로써 발생하는 엔트로피의 감소 기대값</a:t>
            </a:r>
          </a:p>
        </p:txBody>
      </p:sp>
    </p:spTree>
    <p:extLst>
      <p:ext uri="{BB962C8B-B14F-4D97-AF65-F5344CB8AC3E}">
        <p14:creationId xmlns:p14="http://schemas.microsoft.com/office/powerpoint/2010/main" val="317853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116" y="2936453"/>
            <a:ext cx="5430411" cy="3183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704553"/>
            <a:ext cx="7920037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7" y="2499891"/>
            <a:ext cx="2160588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77" y="3140347"/>
            <a:ext cx="2462991" cy="2119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42086" y="5259823"/>
            <a:ext cx="841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표 </a:t>
            </a:r>
            <a:r>
              <a:rPr lang="en-US" altLang="ko-KR" sz="1200" dirty="0" smtClean="0"/>
              <a:t>12-1</a:t>
            </a:r>
            <a:endParaRPr lang="ko-KR" altLang="en-US" sz="1200" dirty="0"/>
          </a:p>
        </p:txBody>
      </p:sp>
      <p:sp>
        <p:nvSpPr>
          <p:cNvPr id="4" name="직사각형 3"/>
          <p:cNvSpPr/>
          <p:nvPr/>
        </p:nvSpPr>
        <p:spPr>
          <a:xfrm>
            <a:off x="7865458" y="3835625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017858" y="3988025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904591" y="4969466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904591" y="5733081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61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81" y="1827589"/>
            <a:ext cx="6403329" cy="4336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7095388" y="2129162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095388" y="3357802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998947" y="4837296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50727" y="5831267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69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762012"/>
            <a:ext cx="7920038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7739484" y="2150740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7897163" y="3324085"/>
            <a:ext cx="809204" cy="234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758197" y="4538676"/>
            <a:ext cx="757153" cy="397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41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70489" y="160381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kern="0" dirty="0" smtClean="0">
                <a:ea typeface="HY견고딕"/>
              </a:rPr>
              <a:t>아래와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같은 학습 데이터가 주어진 경우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ID3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결정 트리 학습 알고리즘을 이용하여 최적의 결정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트리를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구축하는 과정을 살펴보자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505" y="2195921"/>
            <a:ext cx="7371845" cy="3959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385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47700" y="171709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각 속성이 취하는 인덱스</a:t>
            </a: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212204" y="2176756"/>
            <a:ext cx="7252992" cy="4021179"/>
            <a:chOff x="628650" y="2140961"/>
            <a:chExt cx="8280400" cy="4591050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7350" y="2140961"/>
              <a:ext cx="3657600" cy="165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50" y="4052311"/>
              <a:ext cx="8280400" cy="2679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직사각형 3"/>
          <p:cNvSpPr/>
          <p:nvPr/>
        </p:nvSpPr>
        <p:spPr>
          <a:xfrm>
            <a:off x="7703618" y="5526860"/>
            <a:ext cx="811732" cy="445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60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831" y="1844984"/>
            <a:ext cx="5491270" cy="4255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6773033" y="2540899"/>
            <a:ext cx="811732" cy="445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773033" y="3140729"/>
            <a:ext cx="811732" cy="445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773033" y="3977519"/>
            <a:ext cx="811732" cy="445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773033" y="5215601"/>
            <a:ext cx="811732" cy="445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5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1254265" y="1804524"/>
            <a:ext cx="7261085" cy="4348682"/>
            <a:chOff x="628650" y="1684267"/>
            <a:chExt cx="7920038" cy="4711700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50" y="1684267"/>
              <a:ext cx="5210175" cy="2178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50" y="4219505"/>
              <a:ext cx="7920038" cy="2176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7531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32"/>
          <a:stretch/>
        </p:blipFill>
        <p:spPr bwMode="auto">
          <a:xfrm>
            <a:off x="805944" y="1822297"/>
            <a:ext cx="7920038" cy="2288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8003023" y="3249237"/>
            <a:ext cx="811732" cy="445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07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822128" y="2014917"/>
            <a:ext cx="7920038" cy="3413069"/>
            <a:chOff x="773576" y="4029834"/>
            <a:chExt cx="7920038" cy="3413069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0793" y="5102928"/>
              <a:ext cx="4392612" cy="2339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457"/>
            <a:stretch/>
          </p:blipFill>
          <p:spPr bwMode="auto">
            <a:xfrm>
              <a:off x="773576" y="4029834"/>
              <a:ext cx="7920038" cy="1073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7860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04825" y="171710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결정 트리는 다음과 같은 논리체계로 표현된다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455287"/>
            <a:ext cx="798195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685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endParaRPr lang="ko-KR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2" y="1773744"/>
            <a:ext cx="7920038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230" y="3539550"/>
            <a:ext cx="3209586" cy="259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88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2291</TotalTime>
  <Words>336</Words>
  <Application>Microsoft Office PowerPoint</Application>
  <PresentationFormat>화면 슬라이드 쇼(4:3)</PresentationFormat>
  <Paragraphs>122</Paragraphs>
  <Slides>23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테마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  <vt:lpstr>Decision Tree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Windows 사용자</cp:lastModifiedBy>
  <cp:revision>385</cp:revision>
  <dcterms:created xsi:type="dcterms:W3CDTF">2016-09-05T08:32:33Z</dcterms:created>
  <dcterms:modified xsi:type="dcterms:W3CDTF">2019-07-12T01:50:23Z</dcterms:modified>
</cp:coreProperties>
</file>