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65" r:id="rId3"/>
    <p:sldId id="266" r:id="rId4"/>
    <p:sldId id="270" r:id="rId5"/>
    <p:sldId id="257" r:id="rId6"/>
    <p:sldId id="258" r:id="rId7"/>
    <p:sldId id="259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60" r:id="rId17"/>
    <p:sldId id="285" r:id="rId18"/>
    <p:sldId id="281" r:id="rId19"/>
    <p:sldId id="282" r:id="rId20"/>
    <p:sldId id="283" r:id="rId21"/>
    <p:sldId id="284" r:id="rId22"/>
    <p:sldId id="280" r:id="rId2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5" autoAdjust="0"/>
    <p:restoredTop sz="94708" autoAdjust="0"/>
  </p:normalViewPr>
  <p:slideViewPr>
    <p:cSldViewPr snapToGrid="0">
      <p:cViewPr varScale="1">
        <p:scale>
          <a:sx n="111" d="100"/>
          <a:sy n="111" d="100"/>
        </p:scale>
        <p:origin x="1242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4027A-1E75-420D-87C7-AD2403D30044}" type="datetimeFigureOut">
              <a:rPr lang="ko-KR" altLang="en-US" smtClean="0"/>
              <a:t>2018-10-23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D3FA8-EE82-4C17-8F23-37C62FB78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50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D3FA8-EE82-4C17-8F23-37C62FB7854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3645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94484"/>
            <a:ext cx="6858000" cy="1263316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2018-10-23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192" y="6081834"/>
            <a:ext cx="3188484" cy="890093"/>
          </a:xfrm>
          <a:prstGeom prst="rect">
            <a:avLst/>
          </a:prstGeom>
        </p:spPr>
      </p:pic>
      <p:cxnSp>
        <p:nvCxnSpPr>
          <p:cNvPr id="10" name="직선 연결선 9"/>
          <p:cNvCxnSpPr/>
          <p:nvPr userDrawn="1"/>
        </p:nvCxnSpPr>
        <p:spPr>
          <a:xfrm>
            <a:off x="0" y="365126"/>
            <a:ext cx="9144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 flipH="1">
            <a:off x="302294" y="0"/>
            <a:ext cx="10528" cy="6858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 userDrawn="1"/>
        </p:nvSpPr>
        <p:spPr>
          <a:xfrm>
            <a:off x="0" y="1442612"/>
            <a:ext cx="9144000" cy="975736"/>
          </a:xfrm>
          <a:prstGeom prst="rect">
            <a:avLst/>
          </a:prstGeom>
          <a:solidFill>
            <a:srgbClr val="92D050"/>
          </a:solidFill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 userDrawn="1"/>
        </p:nvSpPr>
        <p:spPr>
          <a:xfrm>
            <a:off x="0" y="1600200"/>
            <a:ext cx="9144000" cy="1792705"/>
          </a:xfrm>
          <a:prstGeom prst="rect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206" y="421418"/>
            <a:ext cx="2581295" cy="5730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6077"/>
            <a:ext cx="7772400" cy="1913885"/>
          </a:xfrm>
        </p:spPr>
        <p:txBody>
          <a:bodyPr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4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4293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37318"/>
            <a:ext cx="7886700" cy="99799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2018-10-23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579BABCB-72A4-4245-AD44-8A2DEE65F6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921" y="6329011"/>
            <a:ext cx="1922102" cy="536571"/>
          </a:xfrm>
          <a:prstGeom prst="rect">
            <a:avLst/>
          </a:prstGeom>
        </p:spPr>
      </p:pic>
      <p:cxnSp>
        <p:nvCxnSpPr>
          <p:cNvPr id="15" name="직선 연결선 14"/>
          <p:cNvCxnSpPr/>
          <p:nvPr userDrawn="1"/>
        </p:nvCxnSpPr>
        <p:spPr>
          <a:xfrm>
            <a:off x="0" y="365126"/>
            <a:ext cx="9144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 flipH="1">
            <a:off x="302294" y="0"/>
            <a:ext cx="10528" cy="6858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 flipV="1">
            <a:off x="628650" y="466816"/>
            <a:ext cx="0" cy="904787"/>
          </a:xfrm>
          <a:prstGeom prst="line">
            <a:avLst/>
          </a:prstGeom>
          <a:ln w="1016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25"/>
          <p:cNvSpPr/>
          <p:nvPr userDrawn="1"/>
        </p:nvSpPr>
        <p:spPr>
          <a:xfrm>
            <a:off x="445168" y="1580147"/>
            <a:ext cx="8578516" cy="4740109"/>
          </a:xfrm>
          <a:prstGeom prst="roundRect">
            <a:avLst>
              <a:gd name="adj" fmla="val 7944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4008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2018-10-23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3584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2018-10-23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4150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2018-10-23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7175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2018-10-23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649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2018-10-23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753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2018-10-23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559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2018-10-23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457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2018-10-23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074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2018-10-23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839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E9D86-AD47-474D-8353-A659234A42A1}" type="datetimeFigureOut">
              <a:rPr lang="ko-KR" altLang="en-US" smtClean="0"/>
              <a:t>2018-10-23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92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벡터 양자화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순천향대학교</a:t>
            </a:r>
            <a:endParaRPr lang="en-US" altLang="ko-KR" dirty="0" smtClean="0"/>
          </a:p>
          <a:p>
            <a:r>
              <a:rPr lang="ko-KR" altLang="en-US" dirty="0" smtClean="0"/>
              <a:t>박성근</a:t>
            </a:r>
            <a:r>
              <a:rPr lang="en-US" altLang="ko-KR" dirty="0" smtClean="0"/>
              <a:t>(keiny@sch.ac.kr)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503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기계</a:t>
            </a:r>
            <a:r>
              <a:rPr lang="en-US" altLang="ko-KR" dirty="0" smtClean="0"/>
              <a:t> </a:t>
            </a:r>
            <a:r>
              <a:rPr lang="ko-KR" altLang="en-US" dirty="0" smtClean="0"/>
              <a:t>학습</a:t>
            </a:r>
            <a:endParaRPr lang="ko-KR" altLang="en-US" dirty="0"/>
          </a:p>
        </p:txBody>
      </p:sp>
      <p:sp>
        <p:nvSpPr>
          <p:cNvPr id="4" name="내용 개체 틀 4"/>
          <p:cNvSpPr txBox="1">
            <a:spLocks/>
          </p:cNvSpPr>
          <p:nvPr/>
        </p:nvSpPr>
        <p:spPr bwMode="auto">
          <a:xfrm>
            <a:off x="481476" y="1652363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지도</a:t>
            </a: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(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교사</a:t>
            </a: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) 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학습</a:t>
            </a: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(Supervised Learning)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관측된 데이터가 특징 벡터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x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와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관측값이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속해있는 클래스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ω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로 이루어진 변수 쌍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{</a:t>
            </a:r>
            <a:r>
              <a:rPr kumimoji="0" lang="en-US" altLang="ko-KR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x,ω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}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으로 구성될 경우의 학습 </a:t>
            </a: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비지도</a:t>
            </a: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(</a:t>
            </a:r>
            <a:r>
              <a:rPr kumimoji="0" lang="ko-KR" alt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비교사</a:t>
            </a: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)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학습</a:t>
            </a: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(Unsupervised</a:t>
            </a:r>
            <a:r>
              <a:rPr kumimoji="0" lang="en-US" altLang="ko-KR" sz="2000" b="0" i="0" u="none" strike="noStrike" kern="0" cap="none" spc="0" normalizeH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Learning)</a:t>
            </a: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클래스 라벨 </a:t>
            </a:r>
            <a:r>
              <a:rPr kumimoji="0" lang="en-US" altLang="ko-KR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ωi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가 주어지지 않고 특징 벡터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x={x1, x2,...,</a:t>
            </a:r>
            <a:r>
              <a:rPr kumimoji="0" lang="en-US" altLang="ko-KR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xN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}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만으로 이루어진 데이터 집합이 주어질 경우의 학습 </a:t>
            </a: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비교사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학습의 이용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첫째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,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표본의 수가 너무 많아서 각 표본마다 일일이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라벨링하는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것이 비용이 많이 드는 지루한 과정일 경우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둘째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,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데이터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마이닝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(data mining)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과 같이 원천적으로 데이터에 대한 클래스 라벨들이 주어지지 않을 경우 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셋째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,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많은 데이터 집합들이 작은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프로토타입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원형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)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집합으로 압축되어 질 수 있는 경우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(</a:t>
            </a:r>
            <a:r>
              <a:rPr kumimoji="0" lang="en-US" altLang="ko-KR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kNNR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)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</p:spTree>
    <p:extLst>
      <p:ext uri="{BB962C8B-B14F-4D97-AF65-F5344CB8AC3E}">
        <p14:creationId xmlns:p14="http://schemas.microsoft.com/office/powerpoint/2010/main" val="321591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Parametric vs Non Parametric</a:t>
            </a:r>
            <a:endParaRPr lang="ko-KR" altLang="en-US" dirty="0"/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538120" y="1749469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모수적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혼합 모델 구축을 통한 방법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여러 개의 확률밀도함수를 이용하여 주어진 클래스의 데이터를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모델링하는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방법으로 아래와 과 같이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모델링된다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이 방법을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모수적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혼합 모델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(parametric mixture model)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이라고</a:t>
            </a:r>
            <a:r>
              <a:rPr kumimoji="0" lang="ko-KR" altLang="en-US" sz="1700" b="0" i="0" u="none" strike="noStrike" kern="0" cap="none" spc="0" normalizeH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한다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비모수적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방법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통계적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모수를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이용하지 않고 학습 데이터의 모델을 구성하는 방법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(k-means, LBG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알고리즘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)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545" y="3063919"/>
            <a:ext cx="3679825" cy="102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5633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Parametric vs Non Parametric</a:t>
            </a:r>
            <a:endParaRPr lang="ko-KR" altLang="en-US" dirty="0"/>
          </a:p>
        </p:txBody>
      </p:sp>
      <p:pic>
        <p:nvPicPr>
          <p:cNvPr id="1026" name="Picture 2" descr="gaussian mixture modelì ëí ì´ë¯¸ì§ ê²ìê²°ê³¼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2" t="17145" b="15115"/>
          <a:stretch/>
        </p:blipFill>
        <p:spPr bwMode="auto">
          <a:xfrm>
            <a:off x="2978169" y="2186362"/>
            <a:ext cx="3187661" cy="1958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article filter distributionì ëí ì´ë¯¸ì§ ê²ìê²°ê³¼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78" t="68122" r="14721" b="12740"/>
          <a:stretch/>
        </p:blipFill>
        <p:spPr bwMode="auto">
          <a:xfrm>
            <a:off x="2018661" y="4895681"/>
            <a:ext cx="4944233" cy="995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47135" y="1786252"/>
            <a:ext cx="3554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indent="-2667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Wingdings" panose="05000000000000000000" pitchFamily="2" charset="2"/>
              <a:buChar char="v"/>
              <a:defRPr/>
            </a:pPr>
            <a:r>
              <a:rPr lang="en-US" altLang="ko-KR" sz="2000" kern="0" dirty="0">
                <a:solidFill>
                  <a:srgbClr val="000066"/>
                </a:solidFill>
                <a:latin typeface="Comic Sans MS" pitchFamily="66" charset="0"/>
                <a:ea typeface="HY견고딕"/>
              </a:rPr>
              <a:t>Parametric method</a:t>
            </a:r>
            <a:endParaRPr lang="ko-KR" altLang="en-US" sz="2000" kern="0" dirty="0">
              <a:solidFill>
                <a:srgbClr val="000066"/>
              </a:solidFill>
              <a:latin typeface="Comic Sans MS" pitchFamily="66" charset="0"/>
              <a:ea typeface="HY견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7135" y="4320103"/>
            <a:ext cx="3554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indent="-26670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Wingdings" panose="05000000000000000000" pitchFamily="2" charset="2"/>
              <a:buChar char="v"/>
              <a:defRPr/>
            </a:pPr>
            <a:r>
              <a:rPr lang="en-US" altLang="ko-KR" sz="2000" kern="0" dirty="0" smtClean="0">
                <a:solidFill>
                  <a:srgbClr val="000066"/>
                </a:solidFill>
                <a:latin typeface="Comic Sans MS" pitchFamily="66" charset="0"/>
                <a:ea typeface="HY견고딕"/>
              </a:rPr>
              <a:t>Non Parametric </a:t>
            </a:r>
            <a:r>
              <a:rPr lang="en-US" altLang="ko-KR" sz="2000" kern="0" dirty="0">
                <a:solidFill>
                  <a:srgbClr val="000066"/>
                </a:solidFill>
                <a:latin typeface="Comic Sans MS" pitchFamily="66" charset="0"/>
                <a:ea typeface="HY견고딕"/>
              </a:rPr>
              <a:t>method</a:t>
            </a:r>
            <a:endParaRPr lang="ko-KR" altLang="en-US" sz="2000" kern="0" dirty="0">
              <a:solidFill>
                <a:srgbClr val="000066"/>
              </a:solidFill>
              <a:latin typeface="Comic Sans MS" pitchFamily="66" charset="0"/>
              <a:ea typeface="HY견고딕"/>
            </a:endParaRPr>
          </a:p>
        </p:txBody>
      </p:sp>
    </p:spTree>
    <p:extLst>
      <p:ext uri="{BB962C8B-B14F-4D97-AF65-F5344CB8AC3E}">
        <p14:creationId xmlns:p14="http://schemas.microsoft.com/office/powerpoint/2010/main" val="2224922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벡터의 양자화</a:t>
            </a:r>
            <a:endParaRPr lang="ko-KR" altLang="en-US" dirty="0"/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497660" y="1676639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벡터 양자화</a:t>
            </a: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클러스터링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: N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개의 특징 벡터들의 집합을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N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개의 특징 벡터들의 집합으로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mapping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시키는 것</a:t>
            </a: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양자화 연산자</a:t>
            </a: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c(.)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라는 사상 함수로 정의</a:t>
            </a: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code vectors=code words=cluster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일반적으로는 유한 집합 의 하나의 원소가 되는 경우</a:t>
            </a: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코드북</a:t>
            </a: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(codebook)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code vector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의 집합</a:t>
            </a: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코드북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크기</a:t>
            </a: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(codebook size)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코드 벡터의 개수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615"/>
          <a:stretch/>
        </p:blipFill>
        <p:spPr bwMode="auto">
          <a:xfrm>
            <a:off x="4790055" y="4103673"/>
            <a:ext cx="1880314" cy="2070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7509" y="3819440"/>
            <a:ext cx="2055948" cy="2342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8709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벡터의 양자화</a:t>
            </a:r>
          </a:p>
        </p:txBody>
      </p:sp>
      <p:sp>
        <p:nvSpPr>
          <p:cNvPr id="7" name="내용 개체 틀 4"/>
          <p:cNvSpPr txBox="1">
            <a:spLocks/>
          </p:cNvSpPr>
          <p:nvPr/>
        </p:nvSpPr>
        <p:spPr bwMode="auto">
          <a:xfrm>
            <a:off x="628650" y="1636179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유클리디안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자승거리</a:t>
            </a: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중심평균</a:t>
            </a: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N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개의 벡터에서 평균왜곡</a:t>
            </a: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ko-KR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725" y="2148941"/>
            <a:ext cx="4943475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4" y="3360414"/>
            <a:ext cx="561975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836" y="5079844"/>
            <a:ext cx="614362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268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벡터의 양자화</a:t>
            </a:r>
          </a:p>
        </p:txBody>
      </p:sp>
      <p:sp>
        <p:nvSpPr>
          <p:cNvPr id="9" name="내용 개체 틀 4"/>
          <p:cNvSpPr txBox="1">
            <a:spLocks/>
          </p:cNvSpPr>
          <p:nvPr/>
        </p:nvSpPr>
        <p:spPr bwMode="auto">
          <a:xfrm>
            <a:off x="457200" y="1750479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벡터 양자화</a:t>
            </a: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(VQ)</a:t>
            </a: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의 세가지 문제</a:t>
            </a:r>
            <a:endParaRPr kumimoji="0" lang="ko-KR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</p:txBody>
      </p:sp>
      <p:sp>
        <p:nvSpPr>
          <p:cNvPr id="10" name="아래쪽 화살표 17"/>
          <p:cNvSpPr>
            <a:spLocks noChangeArrowheads="1"/>
          </p:cNvSpPr>
          <p:nvPr/>
        </p:nvSpPr>
        <p:spPr bwMode="auto">
          <a:xfrm>
            <a:off x="4572000" y="3745172"/>
            <a:ext cx="428625" cy="785813"/>
          </a:xfrm>
          <a:prstGeom prst="downArrow">
            <a:avLst>
              <a:gd name="adj1" fmla="val 50000"/>
              <a:gd name="adj2" fmla="val 50001"/>
            </a:avLst>
          </a:prstGeom>
          <a:solidFill>
            <a:srgbClr val="00CC99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latinLnBrk="0">
              <a:defRPr/>
            </a:pPr>
            <a:endParaRPr lang="ko-KR" altLang="en-US" kern="0">
              <a:solidFill>
                <a:sysClr val="windowText" lastClr="00000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11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" y="2234622"/>
            <a:ext cx="8162925" cy="130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402" y="4731847"/>
            <a:ext cx="6842125" cy="130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1642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K-Means</a:t>
            </a:r>
            <a:endParaRPr lang="ko-KR" altLang="en-US" dirty="0"/>
          </a:p>
        </p:txBody>
      </p:sp>
      <p:pic>
        <p:nvPicPr>
          <p:cNvPr id="1026" name="Picture 2" descr="Image result for k means proces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651" b="49395"/>
          <a:stretch/>
        </p:blipFill>
        <p:spPr bwMode="auto">
          <a:xfrm>
            <a:off x="1272275" y="2155507"/>
            <a:ext cx="3603600" cy="360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78307" y="3689969"/>
            <a:ext cx="2969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a) Random Data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2696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K-Means</a:t>
            </a:r>
            <a:endParaRPr lang="ko-KR" altLang="en-US" dirty="0"/>
          </a:p>
        </p:txBody>
      </p:sp>
      <p:pic>
        <p:nvPicPr>
          <p:cNvPr id="3" name="Picture 2" descr="Image result for k means proces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9" t="130" r="49903" b="49603"/>
          <a:stretch/>
        </p:blipFill>
        <p:spPr bwMode="auto">
          <a:xfrm>
            <a:off x="1181437" y="2160575"/>
            <a:ext cx="3614878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13571" y="3317931"/>
            <a:ext cx="2969777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b) </a:t>
            </a:r>
            <a:r>
              <a:rPr lang="ko-KR" altLang="en-US" dirty="0" smtClean="0"/>
              <a:t>클러스터의 개수만큼의 임의의 클러스터의 중심을 선정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5246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K-Means</a:t>
            </a:r>
            <a:endParaRPr lang="ko-KR" altLang="en-US" dirty="0"/>
          </a:p>
        </p:txBody>
      </p:sp>
      <p:pic>
        <p:nvPicPr>
          <p:cNvPr id="3" name="Picture 2" descr="Image result for k means proces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86" t="545" r="24738" b="49603"/>
          <a:stretch/>
        </p:blipFill>
        <p:spPr bwMode="auto">
          <a:xfrm>
            <a:off x="1189529" y="2160575"/>
            <a:ext cx="3675002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29755" y="3156090"/>
            <a:ext cx="29697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c</a:t>
            </a:r>
            <a:r>
              <a:rPr lang="en-US" altLang="ko-KR" dirty="0" smtClean="0"/>
              <a:t>) (Expectation) </a:t>
            </a:r>
            <a:r>
              <a:rPr lang="ko-KR" altLang="en-US" dirty="0" smtClean="0"/>
              <a:t>각</a:t>
            </a:r>
            <a:r>
              <a:rPr lang="en-US" altLang="ko-KR" dirty="0" smtClean="0"/>
              <a:t> </a:t>
            </a:r>
            <a:r>
              <a:rPr lang="ko-KR" altLang="en-US" dirty="0" smtClean="0"/>
              <a:t>데이터를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클러스터의 중심으로부터 거리를 구해 가장 가까운 클러스터로 할당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9750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K-Means</a:t>
            </a:r>
            <a:endParaRPr lang="ko-KR" altLang="en-US" dirty="0"/>
          </a:p>
        </p:txBody>
      </p:sp>
      <p:pic>
        <p:nvPicPr>
          <p:cNvPr id="3" name="Picture 2" descr="Image result for k means proces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38" t="337" r="-115" b="49395"/>
          <a:stretch/>
        </p:blipFill>
        <p:spPr bwMode="auto">
          <a:xfrm>
            <a:off x="1391828" y="2079655"/>
            <a:ext cx="3644630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29755" y="3156090"/>
            <a:ext cx="2969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d) (Maximization) </a:t>
            </a:r>
            <a:r>
              <a:rPr lang="ko-KR" altLang="en-US" dirty="0" smtClean="0"/>
              <a:t>각 클러스터들의 중심을 재 계산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2676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K-Means</a:t>
            </a:r>
            <a:endParaRPr lang="ko-KR" altLang="en-US" dirty="0"/>
          </a:p>
        </p:txBody>
      </p:sp>
      <p:pic>
        <p:nvPicPr>
          <p:cNvPr id="3" name="Picture 2" descr="Image result for k means proces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" t="49565" r="74756" b="-664"/>
          <a:stretch/>
        </p:blipFill>
        <p:spPr bwMode="auto">
          <a:xfrm>
            <a:off x="1666958" y="2144388"/>
            <a:ext cx="3526830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29755" y="3156090"/>
            <a:ext cx="29697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e) (Expectation) </a:t>
            </a:r>
            <a:r>
              <a:rPr lang="ko-KR" altLang="en-US" dirty="0" smtClean="0"/>
              <a:t>각</a:t>
            </a:r>
            <a:r>
              <a:rPr lang="en-US" altLang="ko-KR" dirty="0" smtClean="0"/>
              <a:t> </a:t>
            </a:r>
            <a:r>
              <a:rPr lang="ko-KR" altLang="en-US" dirty="0" smtClean="0"/>
              <a:t>데이터를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클러스터의 중심으로부터 거리를 구해 가장 가까운 클러스터로 할당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343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K-Means</a:t>
            </a:r>
            <a:endParaRPr lang="ko-KR" altLang="en-US" dirty="0"/>
          </a:p>
        </p:txBody>
      </p:sp>
      <p:pic>
        <p:nvPicPr>
          <p:cNvPr id="3" name="Picture 2" descr="Image result for k means proces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5" t="49358" r="49903" b="-41"/>
          <a:stretch/>
        </p:blipFill>
        <p:spPr bwMode="auto">
          <a:xfrm>
            <a:off x="1319000" y="2128203"/>
            <a:ext cx="3600000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29755" y="3156090"/>
            <a:ext cx="2969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f) (Maximization) </a:t>
            </a:r>
            <a:r>
              <a:rPr lang="ko-KR" altLang="en-US" dirty="0" smtClean="0"/>
              <a:t>각 클러스터들의 중심을 재 계산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4229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K-Means</a:t>
            </a:r>
            <a:endParaRPr lang="ko-KR" altLang="en-US" dirty="0"/>
          </a:p>
        </p:txBody>
      </p:sp>
      <p:pic>
        <p:nvPicPr>
          <p:cNvPr id="3" name="Picture 2" descr="Image result for k means proces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89" t="50188" r="24947" b="-664"/>
          <a:stretch/>
        </p:blipFill>
        <p:spPr bwMode="auto">
          <a:xfrm>
            <a:off x="1537487" y="2257678"/>
            <a:ext cx="3585183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29755" y="3156090"/>
            <a:ext cx="29697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g) (Expectation) </a:t>
            </a:r>
            <a:r>
              <a:rPr lang="ko-KR" altLang="en-US" dirty="0" smtClean="0"/>
              <a:t>각</a:t>
            </a:r>
            <a:r>
              <a:rPr lang="en-US" altLang="ko-KR" dirty="0" smtClean="0"/>
              <a:t> </a:t>
            </a:r>
            <a:r>
              <a:rPr lang="ko-KR" altLang="en-US" dirty="0" smtClean="0"/>
              <a:t>데이터를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클러스터의 중심으로부터 거리를 구해 가장 가까운 클러스터로 할당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3104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K-Means</a:t>
            </a:r>
            <a:endParaRPr lang="ko-KR" altLang="en-US" dirty="0"/>
          </a:p>
        </p:txBody>
      </p:sp>
      <p:pic>
        <p:nvPicPr>
          <p:cNvPr id="3" name="Picture 2" descr="Image result for k means proces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2" t="50189"/>
          <a:stretch/>
        </p:blipFill>
        <p:spPr bwMode="auto">
          <a:xfrm>
            <a:off x="1197620" y="2006824"/>
            <a:ext cx="3646564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29755" y="3156090"/>
            <a:ext cx="2969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h</a:t>
            </a:r>
            <a:r>
              <a:rPr lang="en-US" altLang="ko-KR" dirty="0" smtClean="0"/>
              <a:t>) (Maximization) </a:t>
            </a:r>
            <a:r>
              <a:rPr lang="ko-KR" altLang="en-US" dirty="0" smtClean="0"/>
              <a:t>각 클러스터들의 중심을 재 계산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6372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4"/>
          <p:cNvSpPr txBox="1">
            <a:spLocks/>
          </p:cNvSpPr>
          <p:nvPr/>
        </p:nvSpPr>
        <p:spPr bwMode="auto">
          <a:xfrm>
            <a:off x="628650" y="1571443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k-means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의 계산 절차</a:t>
            </a: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ko-KR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582" y="1901994"/>
            <a:ext cx="6398135" cy="377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K-Means</a:t>
            </a:r>
            <a:endParaRPr lang="ko-KR" alt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19"/>
          <a:stretch/>
        </p:blipFill>
        <p:spPr bwMode="auto">
          <a:xfrm>
            <a:off x="3351242" y="5672163"/>
            <a:ext cx="2207986" cy="6087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0961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K-Means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210" y="2459067"/>
            <a:ext cx="2344415" cy="8017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7917" y="1794294"/>
            <a:ext cx="3476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Silhouette Parameter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10884" y="3476445"/>
            <a:ext cx="803227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a : </a:t>
            </a:r>
            <a:r>
              <a:rPr lang="ko-KR" altLang="en-US" dirty="0" smtClean="0"/>
              <a:t>데이터들이 속해있는 클러스터의 데이터들과의 거리 평균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 smtClean="0"/>
              <a:t>b : </a:t>
            </a:r>
            <a:r>
              <a:rPr lang="ko-KR" altLang="en-US" dirty="0" smtClean="0"/>
              <a:t>데이터와 가장 가까운 </a:t>
            </a:r>
            <a:r>
              <a:rPr lang="ko-KR" altLang="en-US" dirty="0" smtClean="0"/>
              <a:t>클러스터의 중심과 자신의 클러스터 </a:t>
            </a:r>
            <a:r>
              <a:rPr lang="ko-KR" altLang="en-US" dirty="0" smtClean="0"/>
              <a:t>데이터들과의 거리 평균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9018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K-Means</a:t>
            </a:r>
            <a:endParaRPr lang="ko-KR" altLang="en-US" dirty="0"/>
          </a:p>
        </p:txBody>
      </p:sp>
      <p:pic>
        <p:nvPicPr>
          <p:cNvPr id="3074" name="Picture 2" descr="http://cfile28.uf.tistory.com/image/2277144959119BF12138F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252" y="2339479"/>
            <a:ext cx="7315200" cy="310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960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K-Means</a:t>
            </a:r>
            <a:endParaRPr lang="ko-KR" altLang="en-US" dirty="0"/>
          </a:p>
        </p:txBody>
      </p:sp>
      <p:pic>
        <p:nvPicPr>
          <p:cNvPr id="4098" name="Picture 2" descr="http://cfile30.uf.tistory.com/image/216FF74F5911ACFB1F27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066" y="2561328"/>
            <a:ext cx="7239175" cy="2718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4270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K-Means</a:t>
            </a:r>
            <a:endParaRPr lang="ko-KR" altLang="en-US" dirty="0"/>
          </a:p>
        </p:txBody>
      </p:sp>
      <p:pic>
        <p:nvPicPr>
          <p:cNvPr id="5122" name="Picture 2" descr="http://cfile25.uf.tistory.com/image/254B6F4E5911B4D13224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731" y="2283660"/>
            <a:ext cx="7897565" cy="2992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128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K-Means</a:t>
            </a:r>
            <a:endParaRPr lang="ko-KR" altLang="en-US" dirty="0"/>
          </a:p>
        </p:txBody>
      </p:sp>
      <p:pic>
        <p:nvPicPr>
          <p:cNvPr id="7170" name="Picture 2" descr="http://cfile5.uf.tistory.com/image/21424F485911CCF81D97B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122" y="2236997"/>
            <a:ext cx="7927596" cy="336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6060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K-Means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258" y="2188320"/>
            <a:ext cx="8261968" cy="335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103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2837</TotalTime>
  <Words>395</Words>
  <Application>Microsoft Office PowerPoint</Application>
  <PresentationFormat>화면 슬라이드 쇼(4:3)</PresentationFormat>
  <Paragraphs>77</Paragraphs>
  <Slides>22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9" baseType="lpstr">
      <vt:lpstr>HY견고딕</vt:lpstr>
      <vt:lpstr>돋움</vt:lpstr>
      <vt:lpstr>맑은 고딕</vt:lpstr>
      <vt:lpstr>Arial</vt:lpstr>
      <vt:lpstr>Comic Sans MS</vt:lpstr>
      <vt:lpstr>Wingdings</vt:lpstr>
      <vt:lpstr>Office 테마</vt:lpstr>
      <vt:lpstr>벡터 양자화</vt:lpstr>
      <vt:lpstr>기계 학습</vt:lpstr>
      <vt:lpstr>Parametric vs Non Parametric</vt:lpstr>
      <vt:lpstr>Parametric vs Non Parametric</vt:lpstr>
      <vt:lpstr>벡터의 양자화</vt:lpstr>
      <vt:lpstr>벡터의 양자화</vt:lpstr>
      <vt:lpstr>벡터의 양자화</vt:lpstr>
      <vt:lpstr>K-Means</vt:lpstr>
      <vt:lpstr>K-Means</vt:lpstr>
      <vt:lpstr>K-Means</vt:lpstr>
      <vt:lpstr>K-Means</vt:lpstr>
      <vt:lpstr>K-Means</vt:lpstr>
      <vt:lpstr>K-Means</vt:lpstr>
      <vt:lpstr>K-Means</vt:lpstr>
      <vt:lpstr>K-Means</vt:lpstr>
      <vt:lpstr>K-Means</vt:lpstr>
      <vt:lpstr>K-Means</vt:lpstr>
      <vt:lpstr>K-Means</vt:lpstr>
      <vt:lpstr>K-Means</vt:lpstr>
      <vt:lpstr>K-Means</vt:lpstr>
      <vt:lpstr>K-Means</vt:lpstr>
      <vt:lpstr>K-Means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Seongkeun Park</dc:creator>
  <cp:lastModifiedBy>user</cp:lastModifiedBy>
  <cp:revision>389</cp:revision>
  <dcterms:created xsi:type="dcterms:W3CDTF">2016-09-05T08:32:33Z</dcterms:created>
  <dcterms:modified xsi:type="dcterms:W3CDTF">2018-10-23T05:55:03Z</dcterms:modified>
</cp:coreProperties>
</file>