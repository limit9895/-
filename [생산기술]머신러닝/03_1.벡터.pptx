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56" r:id="rId2"/>
    <p:sldId id="257" r:id="rId3"/>
    <p:sldId id="258" r:id="rId4"/>
    <p:sldId id="292" r:id="rId5"/>
    <p:sldId id="263" r:id="rId6"/>
    <p:sldId id="294" r:id="rId7"/>
    <p:sldId id="300" r:id="rId8"/>
    <p:sldId id="264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80" r:id="rId18"/>
    <p:sldId id="281" r:id="rId19"/>
    <p:sldId id="302" r:id="rId20"/>
    <p:sldId id="282" r:id="rId21"/>
    <p:sldId id="306" r:id="rId22"/>
    <p:sldId id="307" r:id="rId23"/>
    <p:sldId id="309" r:id="rId24"/>
    <p:sldId id="308" r:id="rId25"/>
    <p:sldId id="290" r:id="rId26"/>
    <p:sldId id="304" r:id="rId2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33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5" autoAdjust="0"/>
    <p:restoredTop sz="94660"/>
  </p:normalViewPr>
  <p:slideViewPr>
    <p:cSldViewPr snapToGrid="0">
      <p:cViewPr varScale="1">
        <p:scale>
          <a:sx n="93" d="100"/>
          <a:sy n="93" d="100"/>
        </p:scale>
        <p:origin x="898" y="53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84027A-1E75-420D-87C7-AD2403D30044}" type="datetimeFigureOut">
              <a:rPr lang="ko-KR" altLang="en-US" smtClean="0"/>
              <a:t>2021-01-07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CD3FA8-EE82-4C17-8F23-37C62FB785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50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994484"/>
            <a:ext cx="6858000" cy="1263316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2021-01-07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5192" y="6081834"/>
            <a:ext cx="3188484" cy="890093"/>
          </a:xfrm>
          <a:prstGeom prst="rect">
            <a:avLst/>
          </a:prstGeom>
        </p:spPr>
      </p:pic>
      <p:cxnSp>
        <p:nvCxnSpPr>
          <p:cNvPr id="10" name="직선 연결선 9"/>
          <p:cNvCxnSpPr/>
          <p:nvPr userDrawn="1"/>
        </p:nvCxnSpPr>
        <p:spPr>
          <a:xfrm>
            <a:off x="0" y="365126"/>
            <a:ext cx="9144000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 flipH="1">
            <a:off x="302294" y="0"/>
            <a:ext cx="10528" cy="6858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 userDrawn="1"/>
        </p:nvSpPr>
        <p:spPr>
          <a:xfrm>
            <a:off x="0" y="1442612"/>
            <a:ext cx="9144000" cy="975736"/>
          </a:xfrm>
          <a:prstGeom prst="rect">
            <a:avLst/>
          </a:prstGeom>
          <a:solidFill>
            <a:srgbClr val="92D050"/>
          </a:solidFill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 userDrawn="1"/>
        </p:nvSpPr>
        <p:spPr>
          <a:xfrm>
            <a:off x="0" y="1600200"/>
            <a:ext cx="9144000" cy="1792705"/>
          </a:xfrm>
          <a:prstGeom prst="rect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206" y="421418"/>
            <a:ext cx="2581295" cy="57308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6077"/>
            <a:ext cx="7772400" cy="1913885"/>
          </a:xfrm>
        </p:spPr>
        <p:txBody>
          <a:bodyPr anchor="ctr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4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4293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37318"/>
            <a:ext cx="7886700" cy="997999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2021-01-07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579BABCB-72A4-4245-AD44-8A2DEE65F6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3921" y="6329011"/>
            <a:ext cx="1922102" cy="536571"/>
          </a:xfrm>
          <a:prstGeom prst="rect">
            <a:avLst/>
          </a:prstGeom>
        </p:spPr>
      </p:pic>
      <p:cxnSp>
        <p:nvCxnSpPr>
          <p:cNvPr id="15" name="직선 연결선 14"/>
          <p:cNvCxnSpPr/>
          <p:nvPr userDrawn="1"/>
        </p:nvCxnSpPr>
        <p:spPr>
          <a:xfrm>
            <a:off x="0" y="365126"/>
            <a:ext cx="9144000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 flipH="1">
            <a:off x="302294" y="0"/>
            <a:ext cx="10528" cy="6858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 userDrawn="1"/>
        </p:nvCxnSpPr>
        <p:spPr>
          <a:xfrm flipV="1">
            <a:off x="628650" y="466816"/>
            <a:ext cx="0" cy="904787"/>
          </a:xfrm>
          <a:prstGeom prst="line">
            <a:avLst/>
          </a:prstGeom>
          <a:ln w="1016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모서리가 둥근 직사각형 25"/>
          <p:cNvSpPr/>
          <p:nvPr userDrawn="1"/>
        </p:nvSpPr>
        <p:spPr>
          <a:xfrm>
            <a:off x="445168" y="1580147"/>
            <a:ext cx="8578516" cy="4740109"/>
          </a:xfrm>
          <a:prstGeom prst="roundRect">
            <a:avLst>
              <a:gd name="adj" fmla="val 7944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14008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2021-01-07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3584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2021-01-07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4150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2021-01-07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7175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2021-01-07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649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2021-01-07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2753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2021-01-07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2559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2021-01-07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9457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2021-01-07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074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2021-01-07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1839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7E9D86-AD47-474D-8353-A659234A42A1}" type="datetimeFigureOut">
              <a:rPr lang="ko-KR" altLang="en-US" smtClean="0"/>
              <a:t>2021-01-07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921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1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smtClean="0"/>
              <a:t>선형대수학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순천향대학교</a:t>
            </a:r>
            <a:endParaRPr lang="en-US" altLang="ko-KR" dirty="0" smtClean="0"/>
          </a:p>
          <a:p>
            <a:r>
              <a:rPr lang="ko-KR" altLang="en-US" dirty="0" smtClean="0"/>
              <a:t>박성근</a:t>
            </a:r>
            <a:r>
              <a:rPr lang="en-US" altLang="ko-KR" dirty="0" smtClean="0"/>
              <a:t>(keiny@sch.ac.kr)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5030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벡터의 정의</a:t>
            </a:r>
            <a:endParaRPr lang="ko-KR" altLang="en-US" dirty="0"/>
          </a:p>
        </p:txBody>
      </p:sp>
      <p:sp>
        <p:nvSpPr>
          <p:cNvPr id="5" name="내용 개체 틀 4"/>
          <p:cNvSpPr txBox="1">
            <a:spLocks/>
          </p:cNvSpPr>
          <p:nvPr/>
        </p:nvSpPr>
        <p:spPr bwMode="auto">
          <a:xfrm>
            <a:off x="505752" y="1644271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19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Times New Roman" pitchFamily="18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Times New Roman" pitchFamily="18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1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벡터의 표현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벡터 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: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크기와 방향을 가지는 임의의 </a:t>
            </a:r>
            <a:r>
              <a:rPr kumimoji="0" lang="ko-KR" altLang="en-US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물리량</a:t>
            </a:r>
            <a:endParaRPr kumimoji="0" lang="ko-KR" altLang="en-US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패턴 인식에서는 인식 대상이 되는 객체가 특징으로 표현되고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,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특징은 차원을 가진 벡터로 표현된다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이러한 벡터를 특징 벡터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(feature vector)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라고 한다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 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특징 벡터에 대한 대수학적 계산을 위해서 특징 벡터를 행렬로 표현하여 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d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차원 공간상의 한 점의 데이터로 특징을 다루게 된다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 </a:t>
            </a:r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3084" y="3876084"/>
            <a:ext cx="1241265" cy="2410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6459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벡터의 성질</a:t>
            </a:r>
            <a:endParaRPr lang="ko-KR" altLang="en-US" dirty="0"/>
          </a:p>
        </p:txBody>
      </p:sp>
      <p:sp>
        <p:nvSpPr>
          <p:cNvPr id="7" name="내용 개체 틀 4"/>
          <p:cNvSpPr txBox="1">
            <a:spLocks/>
          </p:cNvSpPr>
          <p:nvPr/>
        </p:nvSpPr>
        <p:spPr bwMode="auto">
          <a:xfrm>
            <a:off x="628650" y="1725191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19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Times New Roman" pitchFamily="18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Times New Roman" pitchFamily="18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1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 벡터의 전치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N×1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행렬을 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1×N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행렬로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,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혹은 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1×N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행렬을 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N×1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행렬로 행과 열을 바꾼 행렬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1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 벡터의 크기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원점에서 벡터 공간상의 한 점까지의 거리</a:t>
            </a: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None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</p:txBody>
      </p:sp>
      <p:pic>
        <p:nvPicPr>
          <p:cNvPr id="8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321050" y="2593553"/>
            <a:ext cx="2833688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6450" y="4095328"/>
            <a:ext cx="5373688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5950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벡터의 성질</a:t>
            </a:r>
            <a:endParaRPr lang="ko-KR" altLang="en-US" dirty="0"/>
          </a:p>
        </p:txBody>
      </p:sp>
      <p:sp>
        <p:nvSpPr>
          <p:cNvPr id="7" name="내용 개체 틀 4"/>
          <p:cNvSpPr txBox="1">
            <a:spLocks/>
          </p:cNvSpPr>
          <p:nvPr/>
        </p:nvSpPr>
        <p:spPr bwMode="auto">
          <a:xfrm>
            <a:off x="628650" y="1707988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19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Times New Roman" pitchFamily="18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Times New Roman" pitchFamily="18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1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  단위 벡터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벡터의 크기가 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1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인 벡터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만약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,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벡터 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v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가 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0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이 아닌 벡터라면 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v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방향의 단위벡터 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u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벡터 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v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와 방향이 같은 단위 벡터를 구하는 것을 정규화라고 함</a:t>
            </a: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</p:txBody>
      </p:sp>
      <p:pic>
        <p:nvPicPr>
          <p:cNvPr id="10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9756" y="2946387"/>
            <a:ext cx="839787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내용 개체 틀 4"/>
          <p:cNvSpPr txBox="1">
            <a:spLocks/>
          </p:cNvSpPr>
          <p:nvPr/>
        </p:nvSpPr>
        <p:spPr bwMode="auto">
          <a:xfrm>
            <a:off x="628650" y="3532174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19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Times New Roman" pitchFamily="18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Times New Roman" pitchFamily="18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1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  벡터의 스칼라 곱</a:t>
            </a:r>
            <a:endParaRPr kumimoji="0" lang="en-US" altLang="ko-KR" sz="19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lvl="1" indent="-171450" latinLnBrk="0">
              <a:buClr>
                <a:srgbClr val="FF6600"/>
              </a:buClr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임</a:t>
            </a:r>
            <a:r>
              <a:rPr lang="ko-KR" altLang="en-US" kern="0" dirty="0">
                <a:ea typeface="HY견고딕"/>
              </a:rPr>
              <a:t>의의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벡터에 임의의 스칼라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(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실수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)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를 곱하기 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</p:txBody>
      </p:sp>
      <p:pic>
        <p:nvPicPr>
          <p:cNvPr id="12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5978" y="4466566"/>
            <a:ext cx="2576512" cy="177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7679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벡터의 성질</a:t>
            </a:r>
          </a:p>
        </p:txBody>
      </p:sp>
      <p:sp>
        <p:nvSpPr>
          <p:cNvPr id="7" name="내용 개체 틀 4"/>
          <p:cNvSpPr txBox="1">
            <a:spLocks/>
          </p:cNvSpPr>
          <p:nvPr/>
        </p:nvSpPr>
        <p:spPr bwMode="auto">
          <a:xfrm>
            <a:off x="513844" y="1717100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19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Times New Roman" pitchFamily="18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Times New Roman" pitchFamily="18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1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 선형 결합</a:t>
            </a:r>
            <a:endParaRPr kumimoji="0" lang="en-US" altLang="ko-KR" sz="19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벡터 집합 </a:t>
            </a:r>
            <a:r>
              <a:rPr kumimoji="0" lang="en-US" altLang="ko-K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{x</a:t>
            </a:r>
            <a:r>
              <a:rPr kumimoji="0" lang="en-US" altLang="ko-KR" sz="16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1</a:t>
            </a:r>
            <a:r>
              <a:rPr kumimoji="0" lang="en-US" altLang="ko-K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,x</a:t>
            </a:r>
            <a:r>
              <a:rPr kumimoji="0" lang="en-US" altLang="ko-KR" sz="16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2</a:t>
            </a:r>
            <a:r>
              <a:rPr kumimoji="0" lang="en-US" altLang="ko-K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,…,</a:t>
            </a:r>
            <a:r>
              <a:rPr kumimoji="0" lang="en-US" altLang="ko-KR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x</a:t>
            </a:r>
            <a:r>
              <a:rPr kumimoji="0" lang="en-US" altLang="ko-KR" sz="1600" b="0" i="0" u="none" strike="noStrike" kern="0" cap="none" spc="0" normalizeH="0" baseline="-2500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m</a:t>
            </a:r>
            <a:r>
              <a:rPr kumimoji="0" lang="en-US" altLang="ko-K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}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를 스칼라 계수 집합</a:t>
            </a:r>
            <a:r>
              <a:rPr kumimoji="0" lang="en-US" altLang="ko-K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 {</a:t>
            </a:r>
            <a:r>
              <a:rPr kumimoji="0" lang="el-GR" altLang="ko-K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α</a:t>
            </a:r>
            <a:r>
              <a:rPr kumimoji="0" lang="en-US" altLang="ko-K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 </a:t>
            </a:r>
            <a:r>
              <a:rPr kumimoji="0" lang="en-US" altLang="ko-KR" sz="16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1</a:t>
            </a:r>
            <a:r>
              <a:rPr kumimoji="0" lang="en-US" altLang="ko-K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 </a:t>
            </a:r>
            <a:r>
              <a:rPr kumimoji="0" lang="el-GR" altLang="ko-K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α</a:t>
            </a:r>
            <a:r>
              <a:rPr kumimoji="0" lang="en-US" altLang="ko-KR" sz="16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2</a:t>
            </a:r>
            <a:r>
              <a:rPr kumimoji="0" lang="en-US" altLang="ko-K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,…, </a:t>
            </a:r>
            <a:r>
              <a:rPr kumimoji="0" lang="el-GR" altLang="ko-K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α</a:t>
            </a:r>
            <a:r>
              <a:rPr kumimoji="0" lang="en-US" altLang="ko-KR" sz="16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 m</a:t>
            </a:r>
            <a:r>
              <a:rPr kumimoji="0" lang="en-US" altLang="ko-K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}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과의 곱의 합으로 표현할 수 있을 때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벡터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y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를 벡터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x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의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'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선형 결합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(linear combination)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혹은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1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차 결합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'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이라고 함</a:t>
            </a: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None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</p:txBody>
      </p:sp>
      <p:pic>
        <p:nvPicPr>
          <p:cNvPr id="8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800" y="3123414"/>
            <a:ext cx="2986088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43343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벡터의 성질</a:t>
            </a:r>
          </a:p>
        </p:txBody>
      </p:sp>
      <p:sp>
        <p:nvSpPr>
          <p:cNvPr id="7" name="내용 개체 틀 4"/>
          <p:cNvSpPr txBox="1">
            <a:spLocks/>
          </p:cNvSpPr>
          <p:nvPr/>
        </p:nvSpPr>
        <p:spPr bwMode="auto">
          <a:xfrm>
            <a:off x="489568" y="1725192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19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Times New Roman" pitchFamily="18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Times New Roman" pitchFamily="18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1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 선형 종속과 선형 독립</a:t>
            </a:r>
            <a:endParaRPr kumimoji="0" lang="en-US" altLang="ko-KR" sz="19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선형 종속</a:t>
            </a:r>
          </a:p>
          <a:p>
            <a:pPr marL="714375" marR="0" lvl="2" indent="-1714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벡터 집합 </a:t>
            </a:r>
            <a:r>
              <a:rPr kumimoji="0" lang="en-US" altLang="ko-K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{x</a:t>
            </a:r>
            <a:r>
              <a:rPr kumimoji="0" lang="en-US" altLang="ko-KR" sz="16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1</a:t>
            </a:r>
            <a:r>
              <a:rPr kumimoji="0" lang="en-US" altLang="ko-K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,x</a:t>
            </a:r>
            <a:r>
              <a:rPr kumimoji="0" lang="en-US" altLang="ko-KR" sz="16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2</a:t>
            </a:r>
            <a:r>
              <a:rPr kumimoji="0" lang="en-US" altLang="ko-K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,…,</a:t>
            </a:r>
            <a:r>
              <a:rPr kumimoji="0" lang="en-US" altLang="ko-KR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x</a:t>
            </a:r>
            <a:r>
              <a:rPr kumimoji="0" lang="en-US" altLang="ko-KR" sz="1600" b="0" i="0" u="none" strike="noStrike" kern="0" cap="none" spc="0" normalizeH="0" baseline="-2500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m</a:t>
            </a:r>
            <a:r>
              <a:rPr kumimoji="0" lang="en-US" altLang="ko-K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}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이 모두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0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이 아닌 아래 식을 만족하는 스칼라 계수 집합 </a:t>
            </a:r>
            <a:r>
              <a:rPr kumimoji="0" lang="en-US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{</a:t>
            </a:r>
            <a:r>
              <a:rPr kumimoji="0" lang="el-GR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α</a:t>
            </a:r>
            <a:r>
              <a:rPr kumimoji="0" lang="en-US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 </a:t>
            </a:r>
            <a:r>
              <a:rPr kumimoji="0" lang="en-US" altLang="ko-KR" sz="14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1</a:t>
            </a:r>
            <a:r>
              <a:rPr kumimoji="0" lang="en-US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 </a:t>
            </a:r>
            <a:r>
              <a:rPr kumimoji="0" lang="el-GR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α</a:t>
            </a:r>
            <a:r>
              <a:rPr kumimoji="0" lang="en-US" altLang="ko-KR" sz="14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2</a:t>
            </a:r>
            <a:r>
              <a:rPr kumimoji="0" lang="en-US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,…, </a:t>
            </a:r>
            <a:r>
              <a:rPr kumimoji="0" lang="el-GR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α</a:t>
            </a:r>
            <a:r>
              <a:rPr kumimoji="0" lang="en-US" altLang="ko-KR" sz="14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 m</a:t>
            </a:r>
            <a:r>
              <a:rPr kumimoji="0" lang="en-US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}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이 존재한다면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즉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벡터 집합 중 적어도 하나를 다른 벡터들의 선형 결합으로 표현할 수 있다면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이 벡터 집합은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'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선형 종속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(linearly dependent)'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이라고 함</a:t>
            </a: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선형 독립</a:t>
            </a: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만약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위의 식을 만족하는 유일한 해가 모든 </a:t>
            </a:r>
            <a:r>
              <a:rPr kumimoji="0" lang="en-US" altLang="ko-KR" sz="15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i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에 대하여 </a:t>
            </a:r>
            <a:r>
              <a:rPr kumimoji="0" lang="el-GR" altLang="ko-K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α</a:t>
            </a:r>
            <a:r>
              <a:rPr kumimoji="0" lang="en-US" altLang="ko-KR" sz="16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1</a:t>
            </a:r>
            <a:r>
              <a:rPr kumimoji="0" lang="en-US" altLang="ko-K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=0, {x</a:t>
            </a:r>
            <a:r>
              <a:rPr kumimoji="0" lang="en-US" altLang="ko-KR" sz="16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1</a:t>
            </a:r>
            <a:r>
              <a:rPr kumimoji="0" lang="en-US" altLang="ko-K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,x</a:t>
            </a:r>
            <a:r>
              <a:rPr kumimoji="0" lang="en-US" altLang="ko-KR" sz="16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2</a:t>
            </a:r>
            <a:r>
              <a:rPr kumimoji="0" lang="en-US" altLang="ko-K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,…,</a:t>
            </a:r>
            <a:r>
              <a:rPr kumimoji="0" lang="en-US" altLang="ko-KR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x</a:t>
            </a:r>
            <a:r>
              <a:rPr kumimoji="0" lang="en-US" altLang="ko-KR" sz="1600" b="0" i="0" u="none" strike="noStrike" kern="0" cap="none" spc="0" normalizeH="0" baseline="-2500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m</a:t>
            </a:r>
            <a:r>
              <a:rPr kumimoji="0" lang="en-US" altLang="ko-K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}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는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'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선형 독립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(linearly independent)'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이라고 함</a:t>
            </a: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</p:txBody>
      </p:sp>
      <p:pic>
        <p:nvPicPr>
          <p:cNvPr id="9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4811" y="3556240"/>
            <a:ext cx="321151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7355" y="5331472"/>
            <a:ext cx="3689350" cy="41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211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벡터의 성질</a:t>
            </a:r>
          </a:p>
        </p:txBody>
      </p:sp>
      <p:pic>
        <p:nvPicPr>
          <p:cNvPr id="3074" name="Picture 2" descr="https://lh3.googleusercontent.com/SWsbirxh8PBZhOh_RgTgEbAIKCZBrfwzsy-0qt0lLyePxlSdFrHMrSwRSYXgXN8dE6bN-BC5LwOA1pPazzQ96rUV_mL6oSKYcda8xzBqmtZpeQhsUjTrsRTGBF6f6ZH2swWa3nQ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151" y="2277389"/>
            <a:ext cx="5086350" cy="1762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lh3.googleusercontent.com/4pLPkxnSkeKPB-57pytK1h8S9ZHNbuFPJSC0K30yUZMnv5xk9H13d7RPA83ea0QUZtDbVVoU-j9MYD5KuRbVQozRLuEufcNT6nQAv-Nx6owTmz0U1Di3yV2kWtr2kFnOseMn0zW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4051" y="4096467"/>
            <a:ext cx="5124450" cy="1943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내용 개체 틀 4"/>
          <p:cNvSpPr txBox="1">
            <a:spLocks/>
          </p:cNvSpPr>
          <p:nvPr/>
        </p:nvSpPr>
        <p:spPr bwMode="auto">
          <a:xfrm>
            <a:off x="513844" y="1725193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19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Times New Roman" pitchFamily="18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Times New Roman" pitchFamily="18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1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 선형 종속과 선형 독립 </a:t>
            </a:r>
            <a:r>
              <a:rPr kumimoji="0" lang="en-US" altLang="ko-KR" sz="1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/ </a:t>
            </a:r>
            <a:r>
              <a:rPr kumimoji="0" lang="ko-KR" altLang="en-US" sz="1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기저 벡터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05636" y="3965662"/>
            <a:ext cx="19016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/>
              <a:t>기저벡터 </a:t>
            </a:r>
            <a:r>
              <a:rPr lang="en-US" altLang="ko-KR" sz="1100" dirty="0" smtClean="0"/>
              <a:t>: v1(or v2)</a:t>
            </a:r>
            <a:endParaRPr lang="ko-KR" altLang="en-US" sz="1100" dirty="0"/>
          </a:p>
        </p:txBody>
      </p:sp>
      <p:sp>
        <p:nvSpPr>
          <p:cNvPr id="7" name="TextBox 6"/>
          <p:cNvSpPr txBox="1"/>
          <p:nvPr/>
        </p:nvSpPr>
        <p:spPr>
          <a:xfrm>
            <a:off x="5412223" y="3965662"/>
            <a:ext cx="19016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/>
              <a:t>기저벡터 </a:t>
            </a:r>
            <a:r>
              <a:rPr lang="en-US" altLang="ko-KR" sz="1100" dirty="0" smtClean="0"/>
              <a:t>: v1 / v2</a:t>
            </a:r>
            <a:endParaRPr lang="ko-KR" altLang="en-US" sz="1100" dirty="0"/>
          </a:p>
        </p:txBody>
      </p:sp>
      <p:sp>
        <p:nvSpPr>
          <p:cNvPr id="8" name="TextBox 7"/>
          <p:cNvSpPr txBox="1"/>
          <p:nvPr/>
        </p:nvSpPr>
        <p:spPr>
          <a:xfrm>
            <a:off x="2465374" y="5859053"/>
            <a:ext cx="19016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/>
              <a:t>기저벡터 </a:t>
            </a:r>
            <a:r>
              <a:rPr lang="en-US" altLang="ko-KR" sz="1100" dirty="0" smtClean="0"/>
              <a:t>: v1 / v2</a:t>
            </a:r>
            <a:endParaRPr lang="ko-KR" altLang="en-US" sz="1100" dirty="0"/>
          </a:p>
        </p:txBody>
      </p:sp>
      <p:sp>
        <p:nvSpPr>
          <p:cNvPr id="9" name="TextBox 8"/>
          <p:cNvSpPr txBox="1"/>
          <p:nvPr/>
        </p:nvSpPr>
        <p:spPr>
          <a:xfrm>
            <a:off x="5174731" y="5859053"/>
            <a:ext cx="19016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/>
              <a:t>기저벡터 </a:t>
            </a:r>
            <a:r>
              <a:rPr lang="en-US" altLang="ko-KR" sz="1100" dirty="0" smtClean="0"/>
              <a:t>: v1 / v2 / v3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302817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벡터의 성질</a:t>
            </a:r>
          </a:p>
        </p:txBody>
      </p:sp>
      <p:sp>
        <p:nvSpPr>
          <p:cNvPr id="8" name="내용 개체 틀 4"/>
          <p:cNvSpPr txBox="1">
            <a:spLocks/>
          </p:cNvSpPr>
          <p:nvPr/>
        </p:nvSpPr>
        <p:spPr bwMode="auto">
          <a:xfrm>
            <a:off x="530029" y="1611903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19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Times New Roman" pitchFamily="18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Times New Roman" pitchFamily="18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1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 기저 집합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계수 </a:t>
            </a:r>
            <a:r>
              <a:rPr kumimoji="0" lang="en-US" altLang="ko-K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{</a:t>
            </a:r>
            <a:r>
              <a:rPr kumimoji="0" lang="en-US" altLang="ko-KR" sz="1600" b="0" i="1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a</a:t>
            </a:r>
            <a:r>
              <a:rPr kumimoji="0" lang="en-US" altLang="ko-KR" sz="16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  <a:cs typeface="Times New Roman" panose="02020603050405020304" pitchFamily="18" charset="0"/>
              </a:rPr>
              <a:t>1</a:t>
            </a:r>
            <a:r>
              <a:rPr kumimoji="0" lang="en-US" altLang="ko-K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 </a:t>
            </a:r>
            <a:r>
              <a:rPr kumimoji="0" lang="en-US" altLang="ko-KR" sz="1600" b="0" i="1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a</a:t>
            </a:r>
            <a:r>
              <a:rPr kumimoji="0" lang="en-US" altLang="ko-KR" sz="16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  <a:cs typeface="Times New Roman" panose="02020603050405020304" pitchFamily="18" charset="0"/>
              </a:rPr>
              <a:t>2</a:t>
            </a:r>
            <a:r>
              <a:rPr kumimoji="0" lang="en-US" altLang="ko-K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,…, </a:t>
            </a:r>
            <a:r>
              <a:rPr kumimoji="0" lang="en-US" altLang="ko-KR" sz="1600" b="0" i="1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a</a:t>
            </a:r>
            <a:r>
              <a:rPr kumimoji="0" lang="en-US" altLang="ko-KR" sz="16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  <a:cs typeface="Times New Roman" panose="02020603050405020304" pitchFamily="18" charset="0"/>
              </a:rPr>
              <a:t>n</a:t>
            </a:r>
            <a:r>
              <a:rPr kumimoji="0" lang="en-US" altLang="ko-K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}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를 기저</a:t>
            </a:r>
            <a:r>
              <a:rPr kumimoji="0" lang="en-US" altLang="ko-K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 {</a:t>
            </a:r>
            <a:r>
              <a:rPr kumimoji="0" lang="en-US" altLang="ko-KR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u</a:t>
            </a:r>
            <a:r>
              <a:rPr kumimoji="0" lang="en-US" altLang="ko-KR" sz="1600" b="0" i="0" u="none" strike="noStrike" kern="0" cap="none" spc="0" normalizeH="0" baseline="-2500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  <a:cs typeface="Times New Roman" panose="02020603050405020304" pitchFamily="18" charset="0"/>
              </a:rPr>
              <a:t>i</a:t>
            </a:r>
            <a:r>
              <a:rPr kumimoji="0" lang="en-US" altLang="ko-K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}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에 따른 벡터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x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의 성분이라고 하고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기저를 형성하기 위해서 </a:t>
            </a:r>
            <a:r>
              <a:rPr kumimoji="0" lang="en-US" altLang="ko-K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{</a:t>
            </a:r>
            <a:r>
              <a:rPr kumimoji="0" lang="en-US" altLang="ko-KR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u</a:t>
            </a:r>
            <a:r>
              <a:rPr kumimoji="0" lang="en-US" altLang="ko-KR" sz="1600" b="0" i="0" u="none" strike="noStrike" kern="0" cap="none" spc="0" normalizeH="0" baseline="-2500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  <a:cs typeface="Times New Roman" panose="02020603050405020304" pitchFamily="18" charset="0"/>
              </a:rPr>
              <a:t>i</a:t>
            </a:r>
            <a:r>
              <a:rPr kumimoji="0" lang="en-US" altLang="ko-K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}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벡터들이 선현 독립인 것은 필요 충분한 조건</a:t>
            </a: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1076325" marR="0" lvl="3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ko-KR" alt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다음 조건을 만족하면 기저 </a:t>
            </a:r>
            <a:r>
              <a:rPr kumimoji="0" lang="en-US" altLang="ko-K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{</a:t>
            </a:r>
            <a:r>
              <a:rPr kumimoji="0" lang="en-US" altLang="ko-KR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u</a:t>
            </a:r>
            <a:r>
              <a:rPr kumimoji="0" lang="en-US" altLang="ko-KR" sz="1600" b="0" i="0" u="none" strike="noStrike" kern="0" cap="none" spc="0" normalizeH="0" baseline="-25000" noProof="0" dirty="0" err="1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  <a:cs typeface="Times New Roman" panose="02020603050405020304" pitchFamily="18" charset="0"/>
              </a:rPr>
              <a:t>i</a:t>
            </a:r>
            <a:r>
              <a:rPr kumimoji="0" lang="en-US" altLang="ko-K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}</a:t>
            </a:r>
            <a:r>
              <a:rPr kumimoji="0" lang="ko-KR" alt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는 직교</a:t>
            </a:r>
            <a:endParaRPr kumimoji="0" lang="en-US" altLang="ko-KR" sz="1600" b="0" i="0" u="none" strike="noStrike" kern="0" cap="none" spc="0" normalizeH="0" baseline="0" noProof="0" dirty="0" smtClean="0">
              <a:ln>
                <a:noFill/>
              </a:ln>
              <a:solidFill>
                <a:srgbClr val="008080"/>
              </a:solidFill>
              <a:effectLst/>
              <a:uLnTx/>
              <a:uFillTx/>
              <a:latin typeface="Times New Roman" pitchFamily="18" charset="0"/>
              <a:ea typeface="맑은 고딕" pitchFamily="50" charset="-127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1076325" marR="0" lvl="3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ko-KR" alt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다음 조건을 만족하면 기저 </a:t>
            </a:r>
            <a:r>
              <a:rPr kumimoji="0" lang="en-US" altLang="ko-K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{</a:t>
            </a:r>
            <a:r>
              <a:rPr kumimoji="0" lang="en-US" altLang="ko-KR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u</a:t>
            </a:r>
            <a:r>
              <a:rPr kumimoji="0" lang="en-US" altLang="ko-KR" sz="1600" b="0" i="0" u="none" strike="noStrike" kern="0" cap="none" spc="0" normalizeH="0" baseline="-25000" noProof="0" dirty="0" err="1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  <a:cs typeface="Times New Roman" panose="02020603050405020304" pitchFamily="18" charset="0"/>
              </a:rPr>
              <a:t>i</a:t>
            </a:r>
            <a:r>
              <a:rPr kumimoji="0" lang="en-US" altLang="ko-K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}</a:t>
            </a:r>
            <a:r>
              <a:rPr kumimoji="0" lang="ko-KR" alt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는 정규직교</a:t>
            </a:r>
            <a:endParaRPr kumimoji="0" lang="el-GR" altLang="ko-KR" sz="1600" b="0" i="0" u="none" strike="noStrike" kern="0" cap="none" spc="0" normalizeH="0" baseline="0" noProof="0" dirty="0" smtClean="0">
              <a:ln>
                <a:noFill/>
              </a:ln>
              <a:solidFill>
                <a:srgbClr val="008080"/>
              </a:solidFill>
              <a:effectLst/>
              <a:uLnTx/>
              <a:uFillTx/>
              <a:latin typeface="Times New Roman" pitchFamily="18" charset="0"/>
              <a:ea typeface="맑은 고딕" pitchFamily="50" charset="-127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</p:txBody>
      </p:sp>
      <p:pic>
        <p:nvPicPr>
          <p:cNvPr id="11" name="Picture 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7616" y="2964916"/>
            <a:ext cx="1643063" cy="66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8496" y="3977038"/>
            <a:ext cx="1357312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2355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벡터의 성질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6022" y="1958385"/>
            <a:ext cx="6265863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5105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벡터의 성질</a:t>
            </a:r>
          </a:p>
        </p:txBody>
      </p:sp>
      <p:sp>
        <p:nvSpPr>
          <p:cNvPr id="6" name="내용 개체 틀 4"/>
          <p:cNvSpPr txBox="1">
            <a:spLocks/>
          </p:cNvSpPr>
          <p:nvPr/>
        </p:nvSpPr>
        <p:spPr bwMode="auto">
          <a:xfrm>
            <a:off x="400556" y="1765652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19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Times New Roman" pitchFamily="18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Times New Roman" pitchFamily="18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유클리디안 거리</a:t>
            </a: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1076325" marR="0" lvl="3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벡터 공간상에서 두 점 간의 거리는 점 사이 벡터 차의 크기로 정의</a:t>
            </a: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008080"/>
              </a:solidFill>
              <a:effectLst/>
              <a:uLnTx/>
              <a:uFillTx/>
              <a:latin typeface="Times New Roman" pitchFamily="18" charset="0"/>
              <a:ea typeface="맑은 고딕" pitchFamily="50" charset="-127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294" y="3586649"/>
            <a:ext cx="4537928" cy="2401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7356" y="2503839"/>
            <a:ext cx="3511550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3516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벡터의 성질</a:t>
            </a:r>
          </a:p>
        </p:txBody>
      </p:sp>
      <p:sp>
        <p:nvSpPr>
          <p:cNvPr id="4" name="내용 개체 틀 4"/>
          <p:cNvSpPr txBox="1">
            <a:spLocks/>
          </p:cNvSpPr>
          <p:nvPr/>
        </p:nvSpPr>
        <p:spPr bwMode="auto">
          <a:xfrm>
            <a:off x="513845" y="1798020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19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Times New Roman" pitchFamily="18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Times New Roman" pitchFamily="18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1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 벡터 공간</a:t>
            </a:r>
            <a:r>
              <a:rPr kumimoji="0" lang="en-US" altLang="ko-KR" sz="1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, </a:t>
            </a:r>
            <a:r>
              <a:rPr kumimoji="0" lang="ko-KR" altLang="en-US" sz="19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유클리드</a:t>
            </a:r>
            <a:r>
              <a:rPr kumimoji="0" lang="ko-KR" altLang="en-US" sz="1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 공간</a:t>
            </a:r>
            <a:r>
              <a:rPr kumimoji="0" lang="en-US" altLang="ko-KR" sz="1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,</a:t>
            </a:r>
            <a:r>
              <a:rPr kumimoji="0" lang="ko-KR" altLang="en-US" sz="1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함수 공간</a:t>
            </a:r>
            <a:r>
              <a:rPr kumimoji="0" lang="en-US" altLang="ko-KR" sz="1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, </a:t>
            </a:r>
            <a:r>
              <a:rPr kumimoji="0" lang="ko-KR" altLang="en-US" sz="1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널 공간</a:t>
            </a:r>
          </a:p>
          <a:p>
            <a:pPr marL="714375" marR="0" lvl="2" indent="-1714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모든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n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차원 벡터들이 존재하는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n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차원 공간</a:t>
            </a: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실제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벡터 공간은 실수에 의하여 벡터 덧셈과 곱셈에 대한 규칙에 닫혀있는 벡터 집합</a:t>
            </a: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그러므로 임의의 두 벡터에 대한 덧셈과 곱셈을 통하여 해당 벡터 공간 내에 있는 새로운 벡터를 생성할 수 있음</a:t>
            </a: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즉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 n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차원 공간 </a:t>
            </a:r>
            <a:r>
              <a:rPr kumimoji="0" lang="en-US" altLang="ko-K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R</a:t>
            </a:r>
            <a:r>
              <a:rPr kumimoji="0" lang="en-US" altLang="ko-KR" sz="1600" b="0" i="0" u="none" strike="noStrike" kern="0" cap="none" spc="0" normalizeH="0" baseline="3000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n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은 모두 선형독립인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n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개의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n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차원 벡터에 의해 생성될 수 있음</a:t>
            </a: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이 때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n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차원 공간 </a:t>
            </a:r>
            <a:r>
              <a:rPr kumimoji="0" lang="en-US" altLang="ko-K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R</a:t>
            </a:r>
            <a:r>
              <a:rPr kumimoji="0" lang="en-US" altLang="ko-KR" sz="1600" b="0" i="0" u="none" strike="noStrike" kern="0" cap="none" spc="0" normalizeH="0" baseline="3000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n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을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'</a:t>
            </a:r>
            <a:r>
              <a:rPr kumimoji="0" lang="ko-KR" altLang="en-US" sz="15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유클리드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n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차원 공간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'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 혹은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'</a:t>
            </a:r>
            <a:r>
              <a:rPr kumimoji="0" lang="ko-KR" altLang="en-US" sz="15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유클리드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 공간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'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이라고 함</a:t>
            </a: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벡터의 차원이 무한대일 경우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벡터 공간은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 ‘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함수 공간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’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이 됨</a:t>
            </a: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행렬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A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의 널 공간은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A</a:t>
            </a:r>
            <a:r>
              <a:rPr kumimoji="0" lang="en-US" altLang="ko-KR" sz="15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x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=0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를 만족하는 모든 벡터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x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로 이루어져 있는 공간을 뜻한다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25696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벡터의 성질</a:t>
            </a:r>
          </a:p>
        </p:txBody>
      </p:sp>
      <p:sp>
        <p:nvSpPr>
          <p:cNvPr id="7" name="내용 개체 틀 4"/>
          <p:cNvSpPr txBox="1">
            <a:spLocks/>
          </p:cNvSpPr>
          <p:nvPr/>
        </p:nvSpPr>
        <p:spPr bwMode="auto">
          <a:xfrm>
            <a:off x="530028" y="1765652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19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Times New Roman" pitchFamily="18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Times New Roman" pitchFamily="18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19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 전치행렬</a:t>
            </a:r>
            <a:endParaRPr kumimoji="0" lang="en-US" altLang="ko-KR" sz="19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altLang="ko-KR" sz="19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altLang="ko-KR" sz="19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altLang="ko-KR" sz="19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altLang="ko-KR" sz="19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altLang="ko-KR" sz="19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19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정방행렬</a:t>
            </a:r>
            <a:endParaRPr kumimoji="0" lang="en-US" altLang="ko-KR" sz="19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행의 수와 열의 수가 동일한 행렬</a:t>
            </a:r>
            <a:endParaRPr kumimoji="0" lang="en-US" altLang="ko-KR" sz="16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</p:txBody>
      </p:sp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8703" y="2492727"/>
            <a:ext cx="2938463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703" y="2421289"/>
            <a:ext cx="3071813" cy="164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오른쪽 화살표 11"/>
          <p:cNvSpPr>
            <a:spLocks noChangeArrowheads="1"/>
          </p:cNvSpPr>
          <p:nvPr/>
        </p:nvSpPr>
        <p:spPr bwMode="auto">
          <a:xfrm>
            <a:off x="4430516" y="3064227"/>
            <a:ext cx="428625" cy="21431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CC7DC"/>
          </a:solidFill>
          <a:ln w="9525" algn="ctr">
            <a:solidFill>
              <a:srgbClr val="00006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 smtClean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46227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벡터의 성질</a:t>
            </a:r>
          </a:p>
        </p:txBody>
      </p:sp>
      <p:sp>
        <p:nvSpPr>
          <p:cNvPr id="6" name="내용 개체 틀 4"/>
          <p:cNvSpPr txBox="1">
            <a:spLocks/>
          </p:cNvSpPr>
          <p:nvPr/>
        </p:nvSpPr>
        <p:spPr bwMode="auto">
          <a:xfrm>
            <a:off x="628650" y="1571443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19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Times New Roman" pitchFamily="18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Times New Roman" pitchFamily="18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19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 대각 행렬</a:t>
            </a:r>
            <a:endParaRPr kumimoji="0" lang="en-US" altLang="ko-KR" sz="19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행렬의 대각 성분을 제외하고는 모두 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0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인 행렬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스칼라 행렬 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: 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대각 성분이 모두 같고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 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비대각 성분이 모두 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0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인 정방행렬</a:t>
            </a: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altLang="ko-KR" sz="19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altLang="ko-KR" sz="19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altLang="ko-KR" sz="19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altLang="ko-KR" sz="19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altLang="ko-KR" sz="19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altLang="ko-KR" sz="19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19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항등 행렬 혹은 단위 행렬 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대각 성분이 모두 </a:t>
            </a:r>
            <a:r>
              <a:rPr kumimoji="0" lang="en-US" altLang="ko-KR" sz="16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1</a:t>
            </a:r>
            <a:r>
              <a:rPr kumimoji="0" lang="ko-KR" altLang="en-US" sz="16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이고 그밖의 성분이 모두 </a:t>
            </a:r>
            <a:r>
              <a:rPr kumimoji="0" lang="en-US" altLang="ko-KR" sz="16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0</a:t>
            </a:r>
            <a:r>
              <a:rPr kumimoji="0" lang="ko-KR" altLang="en-US" sz="16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인 정방행렬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4638" y="2870018"/>
            <a:ext cx="1857375" cy="122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4638" y="5441768"/>
            <a:ext cx="1808162" cy="820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1112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벡터의 성질</a:t>
            </a:r>
          </a:p>
        </p:txBody>
      </p:sp>
      <p:sp>
        <p:nvSpPr>
          <p:cNvPr id="6" name="내용 개체 틀 4"/>
          <p:cNvSpPr txBox="1">
            <a:spLocks/>
          </p:cNvSpPr>
          <p:nvPr/>
        </p:nvSpPr>
        <p:spPr bwMode="auto">
          <a:xfrm>
            <a:off x="513844" y="1700915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19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Times New Roman" pitchFamily="18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Times New Roman" pitchFamily="18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19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 대칭 행렬</a:t>
            </a:r>
            <a:endParaRPr kumimoji="0" lang="en-US" altLang="ko-KR" sz="19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대각선을 축으로 모든 성분이 대칭되는 행렬</a:t>
            </a: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19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영 행렬</a:t>
            </a:r>
            <a:endParaRPr kumimoji="0" lang="en-US" altLang="ko-KR" sz="19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모든 구성 성분이 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0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인 행렬</a:t>
            </a: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19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직교 행렬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주어진 행렬 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A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가 정방행렬일 떼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                    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를 만족하는 행렬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194" y="2391477"/>
            <a:ext cx="844550" cy="31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694" y="4658427"/>
            <a:ext cx="75565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0008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벡터의 성질</a:t>
            </a:r>
          </a:p>
        </p:txBody>
      </p:sp>
      <p:sp>
        <p:nvSpPr>
          <p:cNvPr id="5" name="내용 개체 틀 4"/>
          <p:cNvSpPr txBox="1">
            <a:spLocks/>
          </p:cNvSpPr>
          <p:nvPr/>
        </p:nvSpPr>
        <p:spPr bwMode="auto">
          <a:xfrm>
            <a:off x="628650" y="1676640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19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Times New Roman" pitchFamily="18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Times New Roman" pitchFamily="18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19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 직교 행렬</a:t>
            </a:r>
            <a:endParaRPr kumimoji="0" lang="en-US" altLang="ko-KR" sz="19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행렬의 대각 성분을 제외하고는 모두 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0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인 행렬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스칼라 행렬 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: 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대각 성분이 모두 같고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 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비대각 성분이 모두 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0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인 정방행렬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7600" y="2894252"/>
            <a:ext cx="3778250" cy="152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4327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벡터의 성질</a:t>
            </a:r>
          </a:p>
        </p:txBody>
      </p:sp>
      <p:sp>
        <p:nvSpPr>
          <p:cNvPr id="7" name="내용 개체 틀 4"/>
          <p:cNvSpPr txBox="1">
            <a:spLocks/>
          </p:cNvSpPr>
          <p:nvPr/>
        </p:nvSpPr>
        <p:spPr bwMode="auto">
          <a:xfrm>
            <a:off x="546212" y="1611903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19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Times New Roman" pitchFamily="18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Times New Roman" pitchFamily="18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1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 행렬의 곱셈</a:t>
            </a:r>
            <a:endParaRPr kumimoji="0" lang="en-US" altLang="ko-KR" sz="19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altLang="ko-KR" sz="19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altLang="ko-KR" sz="19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altLang="ko-KR" sz="19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altLang="ko-KR" sz="19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altLang="ko-KR" sz="19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altLang="ko-KR" sz="19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altLang="ko-KR" sz="19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1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행렬의 </a:t>
            </a:r>
            <a:r>
              <a:rPr kumimoji="0" lang="ko-KR" altLang="en-US" sz="19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트레이스</a:t>
            </a:r>
            <a:r>
              <a:rPr kumimoji="0" lang="ko-KR" altLang="en-US" sz="1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 </a:t>
            </a:r>
            <a:r>
              <a:rPr kumimoji="0" lang="en-US" altLang="ko-KR" sz="1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– </a:t>
            </a:r>
            <a:r>
              <a:rPr kumimoji="0" lang="ko-KR" altLang="en-US" sz="1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정방행렬에서 대각 성분의 합 </a:t>
            </a:r>
            <a:endParaRPr kumimoji="0" lang="en-US" altLang="ko-KR" sz="19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altLang="ko-KR" sz="19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altLang="ko-KR" sz="19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altLang="ko-KR" sz="19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262" y="1981790"/>
            <a:ext cx="6286500" cy="2189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2571" y="5035401"/>
            <a:ext cx="1643063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5325" y="5068683"/>
            <a:ext cx="2357437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1299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벡터의 성질</a:t>
            </a:r>
          </a:p>
        </p:txBody>
      </p:sp>
      <p:sp>
        <p:nvSpPr>
          <p:cNvPr id="6" name="내용 개체 틀 4"/>
          <p:cNvSpPr txBox="1">
            <a:spLocks/>
          </p:cNvSpPr>
          <p:nvPr/>
        </p:nvSpPr>
        <p:spPr bwMode="auto">
          <a:xfrm>
            <a:off x="513845" y="1676640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19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Times New Roman" pitchFamily="18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Times New Roman" pitchFamily="18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19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역행렬 </a:t>
            </a:r>
            <a:endParaRPr kumimoji="0" lang="en-US" altLang="ko-KR" sz="19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대수 연산에서 임의의 수를 곱하여 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1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이 될 때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 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이를 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'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역수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'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라고 함</a:t>
            </a: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역수를 행렬 대수에 적용했을 때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 </a:t>
            </a:r>
            <a:r>
              <a:rPr kumimoji="0" lang="en-US" altLang="ko-KR" sz="1600" b="0" i="1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AX</a:t>
            </a:r>
            <a:r>
              <a:rPr kumimoji="0" lang="en-US" altLang="ko-KR" sz="16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=</a:t>
            </a:r>
            <a:r>
              <a:rPr kumimoji="0" lang="en-US" altLang="ko-KR" sz="1600" b="0" i="1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I 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I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가 되는 </a:t>
            </a:r>
            <a:r>
              <a:rPr kumimoji="0" lang="en-US" altLang="ko-KR" sz="1500" b="0" i="1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X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가 존재할 경우에  이 행렬 </a:t>
            </a:r>
            <a:r>
              <a:rPr kumimoji="0" lang="en-US" altLang="ko-KR" sz="1500" b="0" i="1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X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를 </a:t>
            </a:r>
            <a:r>
              <a:rPr kumimoji="0" lang="en-US" altLang="ko-KR" sz="1500" b="0" i="1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A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의 역행렬이라고 하며 </a:t>
            </a:r>
            <a:r>
              <a:rPr kumimoji="0" lang="en-US" altLang="ko-KR" sz="1600" b="0" i="1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A</a:t>
            </a:r>
            <a:r>
              <a:rPr kumimoji="0" lang="en-US" altLang="ko-KR" sz="1600" b="0" i="0" u="none" strike="noStrike" kern="0" cap="none" spc="0" normalizeH="0" baseline="3000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-1 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로 표현한다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. 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altLang="ko-KR" sz="19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19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역행렬의 성질</a:t>
            </a:r>
            <a:endParaRPr kumimoji="0" lang="en-US" altLang="ko-KR" sz="19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altLang="ko-KR" sz="19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0645" y="2945052"/>
            <a:ext cx="3600450" cy="47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5583" y="4497627"/>
            <a:ext cx="2092325" cy="125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0998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벡터의 성질</a:t>
            </a:r>
          </a:p>
        </p:txBody>
      </p:sp>
      <p:sp>
        <p:nvSpPr>
          <p:cNvPr id="7" name="내용 개체 틀 4"/>
          <p:cNvSpPr txBox="1">
            <a:spLocks/>
          </p:cNvSpPr>
          <p:nvPr/>
        </p:nvSpPr>
        <p:spPr bwMode="auto">
          <a:xfrm>
            <a:off x="562396" y="1660455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19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Times New Roman" pitchFamily="18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Times New Roman" pitchFamily="18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19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고유값과</a:t>
            </a:r>
            <a:r>
              <a:rPr kumimoji="0" lang="ko-KR" altLang="en-US" sz="1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 고유벡터</a:t>
            </a:r>
            <a:endParaRPr kumimoji="0" lang="en-US" altLang="ko-KR" sz="19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kern="0" dirty="0" smtClean="0">
                <a:ea typeface="HY견고딕"/>
              </a:rPr>
              <a:t>기계학습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에서뿐만 아니라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 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물리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 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기계 전기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 경제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 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경영 분야와 같은 사회과학 분야에서도 널리 사용되는 분석 도구</a:t>
            </a: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통계학의 </a:t>
            </a:r>
            <a:r>
              <a:rPr kumimoji="0" lang="ko-KR" altLang="en-US" sz="15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다변량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 통계 분석에서 많이 사용</a:t>
            </a: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</p:txBody>
      </p:sp>
    </p:spTree>
    <p:extLst>
      <p:ext uri="{BB962C8B-B14F-4D97-AF65-F5344CB8AC3E}">
        <p14:creationId xmlns:p14="http://schemas.microsoft.com/office/powerpoint/2010/main" val="2212563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벡터의 성질</a:t>
            </a:r>
          </a:p>
        </p:txBody>
      </p:sp>
      <p:sp>
        <p:nvSpPr>
          <p:cNvPr id="7" name="내용 개체 틀 4"/>
          <p:cNvSpPr txBox="1">
            <a:spLocks/>
          </p:cNvSpPr>
          <p:nvPr/>
        </p:nvSpPr>
        <p:spPr bwMode="auto">
          <a:xfrm>
            <a:off x="562396" y="1660455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19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Times New Roman" pitchFamily="18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Times New Roman" pitchFamily="18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19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고유값과</a:t>
            </a:r>
            <a:r>
              <a:rPr kumimoji="0" lang="ko-KR" altLang="en-US" sz="1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 고유벡터</a:t>
            </a:r>
            <a:endParaRPr kumimoji="0" lang="en-US" altLang="ko-KR" sz="19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고유값과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고유벡터의 개념</a:t>
            </a: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행렬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A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가 </a:t>
            </a:r>
            <a:r>
              <a:rPr kumimoji="0" lang="en-US" altLang="ko-KR" sz="15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n×n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의 정방 행렬이고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 x≠0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인 벡터 </a:t>
            </a:r>
            <a:r>
              <a:rPr kumimoji="0" lang="en-US" altLang="ko-K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  <a:cs typeface="Times New Roman" panose="02020603050405020304" pitchFamily="18" charset="0"/>
              </a:rPr>
              <a:t>x ∈ </a:t>
            </a:r>
            <a:r>
              <a:rPr kumimoji="0" lang="en-US" altLang="ko-KR" sz="1600" b="0" i="1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  <a:cs typeface="Times New Roman" panose="02020603050405020304" pitchFamily="18" charset="0"/>
              </a:rPr>
              <a:t>R</a:t>
            </a:r>
            <a:r>
              <a:rPr kumimoji="0" lang="en-US" altLang="ko-KR" sz="1600" b="0" i="1" u="none" strike="noStrike" kern="0" cap="none" spc="0" normalizeH="0" baseline="3000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  <a:cs typeface="Times New Roman" panose="02020603050405020304" pitchFamily="18" charset="0"/>
              </a:rPr>
              <a:t>n</a:t>
            </a:r>
            <a:r>
              <a:rPr kumimoji="0" lang="en-US" altLang="ko-KR" sz="1600" b="0" i="0" u="none" strike="noStrike" kern="0" cap="none" spc="0" normalizeH="0" baseline="3000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  <a:cs typeface="Times New Roman" panose="02020603050405020304" pitchFamily="18" charset="0"/>
              </a:rPr>
              <a:t>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가 존재할 때</a:t>
            </a: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다음 관계를 만족하는 스칼라 </a:t>
            </a:r>
            <a:r>
              <a:rPr kumimoji="0" lang="el-GR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λ</a:t>
            </a:r>
            <a:r>
              <a:rPr kumimoji="0" lang="ko-KR" altLang="en-US" sz="15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를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 행렬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A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의 </a:t>
            </a:r>
            <a:r>
              <a:rPr kumimoji="0" lang="ko-KR" altLang="en-US" sz="15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고유값이라고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 함</a:t>
            </a: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1076325" marR="0" lvl="3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벡터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x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는 </a:t>
            </a:r>
            <a:r>
              <a:rPr kumimoji="0" lang="el-GR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λ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에 대응하는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A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의 고유 벡터라고 함</a:t>
            </a: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008080"/>
              </a:solidFill>
              <a:effectLst/>
              <a:uLnTx/>
              <a:uFillTx/>
              <a:latin typeface="Times New Roman" pitchFamily="18" charset="0"/>
              <a:ea typeface="맑은 고딕" pitchFamily="50" charset="-127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고유값의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 계산</a:t>
            </a: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동차일차 </a:t>
            </a:r>
            <a:r>
              <a:rPr kumimoji="0" lang="ko-KR" altLang="en-US" sz="15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연립방적식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Ax=0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에서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x=0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이 아닌 해를 얻는 유일한 경우는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|A|=0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인 경우</a:t>
            </a: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따라서 위 식을 만족하려면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|A –</a:t>
            </a:r>
            <a:r>
              <a:rPr kumimoji="0" lang="en-US" altLang="ko-KR" sz="15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λI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| =0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일 때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x≠0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인 해가 존재하게 된다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.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이때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 |A –</a:t>
            </a:r>
            <a:r>
              <a:rPr kumimoji="0" lang="en-US" altLang="ko-KR" sz="15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λI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| =0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이라는 식을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A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의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'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특성 방정식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'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이라고 함</a:t>
            </a: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1076325" marR="0" lvl="3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A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를 </a:t>
            </a:r>
            <a:r>
              <a:rPr kumimoji="0" lang="en-US" altLang="ko-KR" sz="1500" b="0" i="1" u="none" strike="noStrike" kern="0" cap="none" spc="0" normalizeH="0" baseline="0" noProof="0" dirty="0" err="1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n×n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행렬이라 하고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, λ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를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A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의 </a:t>
            </a:r>
            <a:r>
              <a:rPr kumimoji="0" lang="ko-KR" altLang="en-US" sz="15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고유값이라고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 한다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. </a:t>
            </a:r>
          </a:p>
          <a:p>
            <a:pPr marL="1076325" marR="0" lvl="3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λ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에 대응하는 모든 고유 벡터의 집합은 </a:t>
            </a:r>
            <a:r>
              <a:rPr kumimoji="0" lang="ko-KR" altLang="en-US" sz="15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영벡터와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 함께 </a:t>
            </a:r>
            <a:r>
              <a:rPr kumimoji="0" lang="en-US" altLang="ko-KR" sz="1400" b="0" i="1" u="none" strike="noStrike" kern="0" cap="none" spc="0" normalizeH="0" baseline="0" noProof="0" dirty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  <a:cs typeface="Times New Roman" panose="02020603050405020304" pitchFamily="18" charset="0"/>
              </a:rPr>
              <a:t>R</a:t>
            </a:r>
            <a:r>
              <a:rPr kumimoji="0" lang="en-US" altLang="ko-KR" sz="1400" b="0" i="1" u="none" strike="noStrike" kern="0" cap="none" spc="0" normalizeH="0" baseline="30000" noProof="0" dirty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  <a:cs typeface="Times New Roman" panose="02020603050405020304" pitchFamily="18" charset="0"/>
              </a:rPr>
              <a:t>n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의 부분공간을 이룬다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. </a:t>
            </a:r>
          </a:p>
          <a:p>
            <a:pPr marL="1076325" marR="0" lvl="3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이 부분 공간을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A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의 고유 공간이라고 한다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.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</p:txBody>
      </p:sp>
      <p:graphicFrame>
        <p:nvGraphicFramePr>
          <p:cNvPr id="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0048135"/>
              </p:ext>
            </p:extLst>
          </p:nvPr>
        </p:nvGraphicFramePr>
        <p:xfrm>
          <a:off x="5791867" y="3031245"/>
          <a:ext cx="89217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4" name="Equation" r:id="rId3" imgW="545760" imgH="177480" progId="Equation.DSMT4">
                  <p:embed/>
                </p:oleObj>
              </mc:Choice>
              <mc:Fallback>
                <p:oleObj name="Equation" r:id="rId3" imgW="54576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867" y="3031245"/>
                        <a:ext cx="89217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6433305"/>
              </p:ext>
            </p:extLst>
          </p:nvPr>
        </p:nvGraphicFramePr>
        <p:xfrm>
          <a:off x="2903411" y="3435914"/>
          <a:ext cx="5776913" cy="28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5" name="Equation" r:id="rId5" imgW="4127400" imgH="203040" progId="Equation.DSMT4">
                  <p:embed/>
                </p:oleObj>
              </mc:Choice>
              <mc:Fallback>
                <p:oleObj name="Equation" r:id="rId5" imgW="4127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3411" y="3435914"/>
                        <a:ext cx="5776913" cy="284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865705"/>
              </p:ext>
            </p:extLst>
          </p:nvPr>
        </p:nvGraphicFramePr>
        <p:xfrm>
          <a:off x="2068800" y="4936896"/>
          <a:ext cx="5272088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6" name="Equation" r:id="rId7" imgW="3759120" imgH="253800" progId="Equation.DSMT4">
                  <p:embed/>
                </p:oleObj>
              </mc:Choice>
              <mc:Fallback>
                <p:oleObj name="Equation" r:id="rId7" imgW="375912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8800" y="4936896"/>
                        <a:ext cx="5272088" cy="35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46648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벡터의 성질</a:t>
            </a:r>
          </a:p>
        </p:txBody>
      </p:sp>
      <p:sp>
        <p:nvSpPr>
          <p:cNvPr id="4" name="내용 개체 틀 4"/>
          <p:cNvSpPr txBox="1">
            <a:spLocks/>
          </p:cNvSpPr>
          <p:nvPr/>
        </p:nvSpPr>
        <p:spPr bwMode="auto">
          <a:xfrm>
            <a:off x="546212" y="1547167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19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Times New Roman" pitchFamily="18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Times New Roman" pitchFamily="18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19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고유값과</a:t>
            </a:r>
            <a:r>
              <a:rPr kumimoji="0" lang="ko-KR" altLang="en-US" sz="1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 고유벡터의 성질</a:t>
            </a:r>
            <a:endParaRPr kumimoji="0" lang="en-US" altLang="ko-KR" sz="19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대각 행렬의 </a:t>
            </a:r>
            <a:r>
              <a:rPr kumimoji="0" lang="ko-KR" altLang="en-US" sz="15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고유값은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 대각 성분 값이다</a:t>
            </a:r>
          </a:p>
          <a:p>
            <a:pPr marL="714375" marR="0" lvl="2" indent="-1714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삼각 행렬의 </a:t>
            </a:r>
            <a:r>
              <a:rPr kumimoji="0" lang="ko-KR" altLang="en-US" sz="15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고유값은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 이 행렬 대각 성분 값이다</a:t>
            </a:r>
          </a:p>
          <a:p>
            <a:pPr marL="714375" marR="0" lvl="2" indent="-1714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벡터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x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가 행렬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A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의 고유 벡터이면 벡터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x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의 스칼라 곱인 </a:t>
            </a:r>
            <a:r>
              <a:rPr kumimoji="0" lang="en-US" altLang="ko-KR" sz="1500" b="0" i="1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k</a:t>
            </a:r>
            <a:r>
              <a:rPr kumimoji="0" lang="en-US" altLang="ko-KR" sz="15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x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도 고유 벡터이다</a:t>
            </a:r>
          </a:p>
          <a:p>
            <a:pPr marL="714375" marR="0" lvl="2" indent="-1714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전치하여도 </a:t>
            </a:r>
            <a:r>
              <a:rPr kumimoji="0" lang="ko-KR" altLang="en-US" sz="15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고유값은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 변하지 않는다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.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즉 행렬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A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의 </a:t>
            </a:r>
            <a:r>
              <a:rPr kumimoji="0" lang="ko-KR" altLang="en-US" sz="15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고유값과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 전치 행렬 </a:t>
            </a:r>
            <a:r>
              <a:rPr kumimoji="0" lang="en-US" altLang="ko-K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A</a:t>
            </a:r>
            <a:r>
              <a:rPr kumimoji="0" lang="en-US" altLang="ko-KR" sz="1600" b="0" i="0" u="none" strike="noStrike" kern="0" cap="none" spc="0" normalizeH="0" baseline="3000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T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의 </a:t>
            </a:r>
            <a:r>
              <a:rPr kumimoji="0" lang="ko-KR" altLang="en-US" sz="15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고유값은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 동일하다</a:t>
            </a:r>
          </a:p>
          <a:p>
            <a:pPr marL="714375" marR="0" lvl="2" indent="-1714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역행렬의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 </a:t>
            </a:r>
            <a:r>
              <a:rPr kumimoji="0" lang="ko-KR" altLang="en-US" sz="15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고유값은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 원래 행렬의 </a:t>
            </a:r>
            <a:r>
              <a:rPr kumimoji="0" lang="ko-KR" altLang="en-US" sz="15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고유값의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 역수가 된다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.</a:t>
            </a:r>
          </a:p>
          <a:p>
            <a:pPr marL="714375" marR="0" lvl="2" indent="-1714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행렬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A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의 모든 </a:t>
            </a:r>
            <a:r>
              <a:rPr kumimoji="0" lang="ko-KR" altLang="en-US" sz="15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고유값의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 곱은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A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의 행렬식과 같다</a:t>
            </a:r>
          </a:p>
          <a:p>
            <a:pPr marL="714375" marR="0" lvl="2" indent="-1714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서로 다른 </a:t>
            </a:r>
            <a:r>
              <a:rPr kumimoji="0" lang="ko-KR" altLang="en-US" sz="15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고유값과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 관련된 고유 벡터는 선형 독립이다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.</a:t>
            </a:r>
          </a:p>
          <a:p>
            <a:pPr marL="714375" marR="0" lvl="2" indent="-1714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실수 대칭행렬의 고유 벡터는 서로 직교한다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.</a:t>
            </a:r>
          </a:p>
          <a:p>
            <a:pPr marL="714375" marR="0" lvl="2" indent="-1714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실수 대칭 행렬의 </a:t>
            </a:r>
            <a:r>
              <a:rPr kumimoji="0" lang="ko-KR" altLang="en-US" sz="15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고유값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 또한 실수이다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.</a:t>
            </a:r>
          </a:p>
          <a:p>
            <a:pPr marL="714375" marR="0" lvl="2" indent="-1714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만약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A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가 양의 </a:t>
            </a:r>
            <a:r>
              <a:rPr kumimoji="0" lang="ko-KR" altLang="en-US" sz="15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정부호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 행렬이라면 모든 </a:t>
            </a:r>
            <a:r>
              <a:rPr kumimoji="0" lang="ko-KR" altLang="en-US" sz="15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고유값은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 양수이다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.</a:t>
            </a:r>
          </a:p>
          <a:p>
            <a:pPr marL="714375" marR="0" lvl="2" indent="-1714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</p:txBody>
      </p:sp>
    </p:spTree>
    <p:extLst>
      <p:ext uri="{BB962C8B-B14F-4D97-AF65-F5344CB8AC3E}">
        <p14:creationId xmlns:p14="http://schemas.microsoft.com/office/powerpoint/2010/main" val="1787572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벡터의 성질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t="23451"/>
          <a:stretch/>
        </p:blipFill>
        <p:spPr>
          <a:xfrm>
            <a:off x="1026592" y="1950179"/>
            <a:ext cx="2381250" cy="90411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081" y="3155893"/>
            <a:ext cx="3612446" cy="284055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809" y="3026123"/>
            <a:ext cx="4167066" cy="297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924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벡터의 성질</a:t>
            </a:r>
          </a:p>
        </p:txBody>
      </p:sp>
      <p:pic>
        <p:nvPicPr>
          <p:cNvPr id="5122" name="Picture 2" descr="https://postfiles.pstatic.net/MjAxODAyMTJfMjIz/MDAxNTE4Mzk1ODc4OTc2.wliuAkbdyF8kirxEVvkcRNlS7YozZq6ezXZ23Wv2oE0g.yMD58XIZZ5LWbv7rHrqVayiBVjX6BaJG02x78f-np70g.GIF.angryking/6.gif?type=w773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3097" y="1671005"/>
            <a:ext cx="4537806" cy="4537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2611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벡터의 성질</a:t>
            </a:r>
          </a:p>
        </p:txBody>
      </p:sp>
      <p:pic>
        <p:nvPicPr>
          <p:cNvPr id="5124" name="Picture 4" descr="https://t1.daumcdn.net/cfile/tistory/277D6547525CFB120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372" y="1906216"/>
            <a:ext cx="4125156" cy="4125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3353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벡터의 성질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485" y="2000587"/>
            <a:ext cx="5792311" cy="4011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430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벡터의 성질</a:t>
            </a:r>
          </a:p>
        </p:txBody>
      </p:sp>
      <p:sp>
        <p:nvSpPr>
          <p:cNvPr id="5" name="내용 개체 틀 4"/>
          <p:cNvSpPr txBox="1">
            <a:spLocks/>
          </p:cNvSpPr>
          <p:nvPr/>
        </p:nvSpPr>
        <p:spPr bwMode="auto">
          <a:xfrm>
            <a:off x="628650" y="1676639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19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Times New Roman" pitchFamily="18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Times New Roman" pitchFamily="18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1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선형 변환</a:t>
            </a:r>
            <a:endParaRPr kumimoji="0" lang="en-US" altLang="ko-KR" sz="19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벡터 공간 </a:t>
            </a:r>
            <a:r>
              <a:rPr kumimoji="0" lang="en-US" altLang="ko-K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X</a:t>
            </a:r>
            <a:r>
              <a:rPr kumimoji="0" lang="en-US" altLang="ko-KR" sz="1600" b="0" i="0" u="none" strike="noStrike" kern="0" cap="none" spc="0" normalizeH="0" baseline="3000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N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으로부터 벡터 공간 </a:t>
            </a:r>
            <a:r>
              <a:rPr kumimoji="0" lang="en-US" altLang="ko-K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Y</a:t>
            </a:r>
            <a:r>
              <a:rPr kumimoji="0" lang="en-US" altLang="ko-KR" sz="1600" b="0" i="0" u="none" strike="noStrike" kern="0" cap="none" spc="0" normalizeH="0" baseline="3000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M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상으로 </a:t>
            </a:r>
            <a:r>
              <a:rPr kumimoji="0" lang="ko-KR" altLang="en-US" sz="15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매핑하는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 것을 말함</a:t>
            </a: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벡터 </a:t>
            </a:r>
            <a:r>
              <a:rPr kumimoji="0" lang="en-US" altLang="ko-K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x ∈X</a:t>
            </a:r>
            <a:r>
              <a:rPr kumimoji="0" lang="en-US" altLang="ko-KR" sz="1600" b="0" i="0" u="none" strike="noStrike" kern="0" cap="none" spc="0" normalizeH="0" baseline="3000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N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가 주어질 때 </a:t>
            </a:r>
            <a:r>
              <a:rPr kumimoji="0" lang="en-US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Y</a:t>
            </a:r>
            <a:r>
              <a:rPr kumimoji="0" lang="en-US" altLang="ko-KR" sz="1400" b="0" i="0" u="none" strike="noStrike" kern="0" cap="none" spc="0" normalizeH="0" baseline="3000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M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상에 대응 되는 벡터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y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는 다음과 같이 계산한다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.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선형 변환이 이루어지는 두 벡터 공간의 차원이 같을 필요는 없다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.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기계학습에서는 선형 변환을 특징 벡터의 차원을 축소하는 데 이용한다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.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선형 변환 행렬이 정방행렬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A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이고 </a:t>
            </a:r>
            <a:r>
              <a:rPr kumimoji="0" lang="en-US" altLang="ko-K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AA</a:t>
            </a:r>
            <a:r>
              <a:rPr kumimoji="0" lang="en-US" altLang="ko-KR" sz="1600" b="0" i="0" u="none" strike="noStrike" kern="0" cap="none" spc="0" normalizeH="0" baseline="3000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T</a:t>
            </a:r>
            <a:r>
              <a:rPr kumimoji="0" lang="en-US" altLang="ko-K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 = A</a:t>
            </a:r>
            <a:r>
              <a:rPr kumimoji="0" lang="en-US" altLang="ko-KR" sz="1600" b="0" i="0" u="none" strike="noStrike" kern="0" cap="none" spc="0" normalizeH="0" baseline="3000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T</a:t>
            </a:r>
            <a:r>
              <a:rPr kumimoji="0" lang="en-US" altLang="ko-K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A = I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일 때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정규 직교한다고 말한다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. 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350" y="2900601"/>
            <a:ext cx="3314700" cy="170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1554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4"/>
          <p:cNvSpPr txBox="1">
            <a:spLocks/>
          </p:cNvSpPr>
          <p:nvPr/>
        </p:nvSpPr>
        <p:spPr bwMode="auto">
          <a:xfrm>
            <a:off x="628650" y="1660455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19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Times New Roman" pitchFamily="18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Times New Roman" pitchFamily="18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1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선형 변환</a:t>
            </a:r>
            <a:endParaRPr kumimoji="0" lang="en-US" altLang="ko-KR" sz="19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벡터의 성질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275" y="2555735"/>
            <a:ext cx="600075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739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2701</TotalTime>
  <Words>1049</Words>
  <Application>Microsoft Office PowerPoint</Application>
  <PresentationFormat>화면 슬라이드 쇼(4:3)</PresentationFormat>
  <Paragraphs>183</Paragraphs>
  <Slides>26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5" baseType="lpstr">
      <vt:lpstr>HY견고딕</vt:lpstr>
      <vt:lpstr>돋움</vt:lpstr>
      <vt:lpstr>맑은 고딕</vt:lpstr>
      <vt:lpstr>Arial</vt:lpstr>
      <vt:lpstr>Comic Sans MS</vt:lpstr>
      <vt:lpstr>Times New Roman</vt:lpstr>
      <vt:lpstr>Wingdings</vt:lpstr>
      <vt:lpstr>Office 테마</vt:lpstr>
      <vt:lpstr>Equation</vt:lpstr>
      <vt:lpstr>선형대수학</vt:lpstr>
      <vt:lpstr>벡터의 정의</vt:lpstr>
      <vt:lpstr>벡터의 성질</vt:lpstr>
      <vt:lpstr>벡터의 성질</vt:lpstr>
      <vt:lpstr>벡터의 성질</vt:lpstr>
      <vt:lpstr>벡터의 성질</vt:lpstr>
      <vt:lpstr>벡터의 성질</vt:lpstr>
      <vt:lpstr>벡터의 성질</vt:lpstr>
      <vt:lpstr>벡터의 성질</vt:lpstr>
      <vt:lpstr>벡터의 성질</vt:lpstr>
      <vt:lpstr>벡터의 성질</vt:lpstr>
      <vt:lpstr>벡터의 성질</vt:lpstr>
      <vt:lpstr>벡터의 성질</vt:lpstr>
      <vt:lpstr>벡터의 성질</vt:lpstr>
      <vt:lpstr>벡터의 성질</vt:lpstr>
      <vt:lpstr>벡터의 성질</vt:lpstr>
      <vt:lpstr>벡터의 성질</vt:lpstr>
      <vt:lpstr>벡터의 성질</vt:lpstr>
      <vt:lpstr>벡터의 성질</vt:lpstr>
      <vt:lpstr>벡터의 성질</vt:lpstr>
      <vt:lpstr>벡터의 성질</vt:lpstr>
      <vt:lpstr>벡터의 성질</vt:lpstr>
      <vt:lpstr>벡터의 성질</vt:lpstr>
      <vt:lpstr>벡터의 성질</vt:lpstr>
      <vt:lpstr>벡터의 성질</vt:lpstr>
      <vt:lpstr>벡터의 성질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Seongkeun Park</dc:creator>
  <cp:lastModifiedBy>Windows 사용자</cp:lastModifiedBy>
  <cp:revision>398</cp:revision>
  <dcterms:created xsi:type="dcterms:W3CDTF">2016-09-05T08:32:33Z</dcterms:created>
  <dcterms:modified xsi:type="dcterms:W3CDTF">2021-01-06T21:20:27Z</dcterms:modified>
</cp:coreProperties>
</file>