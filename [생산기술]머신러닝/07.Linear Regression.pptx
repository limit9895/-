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wmf" ContentType="image/x-wmf"/>
  <Default Extension="emf" ContentType="image/x-e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8"/>
  </p:notesMasterIdLst>
  <p:sldIdLst>
    <p:sldId id="256" r:id="rId2"/>
    <p:sldId id="258" r:id="rId3"/>
    <p:sldId id="262" r:id="rId4"/>
    <p:sldId id="259" r:id="rId5"/>
    <p:sldId id="261" r:id="rId6"/>
    <p:sldId id="264" r:id="rId7"/>
    <p:sldId id="263" r:id="rId8"/>
    <p:sldId id="265" r:id="rId9"/>
    <p:sldId id="271" r:id="rId10"/>
    <p:sldId id="270" r:id="rId11"/>
    <p:sldId id="268" r:id="rId12"/>
    <p:sldId id="267" r:id="rId13"/>
    <p:sldId id="269" r:id="rId14"/>
    <p:sldId id="266" r:id="rId15"/>
    <p:sldId id="273" r:id="rId16"/>
    <p:sldId id="272" r:id="rId17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9900"/>
    <a:srgbClr val="3399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=""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D7B26C5-4107-4FEC-AEDC-1716B250A1EF}" styleName="밝은 스타일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977" autoAdjust="0"/>
    <p:restoredTop sz="94660"/>
  </p:normalViewPr>
  <p:slideViewPr>
    <p:cSldViewPr snapToGrid="0">
      <p:cViewPr varScale="1">
        <p:scale>
          <a:sx n="89" d="100"/>
          <a:sy n="89" d="100"/>
        </p:scale>
        <p:origin x="-878" y="-72"/>
      </p:cViewPr>
      <p:guideLst>
        <p:guide orient="horz" pos="2160"/>
        <p:guide pos="288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wmf"/></Relationships>
</file>

<file path=ppt/drawings/_rels/vmlDrawing3.vml.rels><?xml version="1.0" encoding="UTF-8" standalone="yes"?>
<Relationships xmlns="http://schemas.openxmlformats.org/package/2006/relationships"><Relationship Id="rId3" Type="http://schemas.openxmlformats.org/officeDocument/2006/relationships/image" Target="../media/image9.wmf"/><Relationship Id="rId2" Type="http://schemas.openxmlformats.org/officeDocument/2006/relationships/image" Target="../media/image8.wmf"/><Relationship Id="rId1" Type="http://schemas.openxmlformats.org/officeDocument/2006/relationships/image" Target="../media/image7.wmf"/><Relationship Id="rId4" Type="http://schemas.openxmlformats.org/officeDocument/2006/relationships/image" Target="../media/image10.w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1.wmf"/></Relationships>
</file>

<file path=ppt/drawings/_rels/vmlDrawing5.vml.rels><?xml version="1.0" encoding="UTF-8" standalone="yes"?>
<Relationships xmlns="http://schemas.openxmlformats.org/package/2006/relationships"><Relationship Id="rId2" Type="http://schemas.openxmlformats.org/officeDocument/2006/relationships/image" Target="../media/image6.wmf"/><Relationship Id="rId1" Type="http://schemas.openxmlformats.org/officeDocument/2006/relationships/image" Target="../media/image12.wmf"/></Relationships>
</file>

<file path=ppt/drawings/_rels/vmlDrawing6.vml.rels><?xml version="1.0" encoding="UTF-8" standalone="yes"?>
<Relationships xmlns="http://schemas.openxmlformats.org/package/2006/relationships"><Relationship Id="rId3" Type="http://schemas.openxmlformats.org/officeDocument/2006/relationships/image" Target="../media/image16.wmf"/><Relationship Id="rId2" Type="http://schemas.openxmlformats.org/officeDocument/2006/relationships/image" Target="../media/image15.wmf"/><Relationship Id="rId1" Type="http://schemas.openxmlformats.org/officeDocument/2006/relationships/image" Target="../media/image14.wmf"/></Relationships>
</file>

<file path=ppt/drawings/_rels/vmlDrawing7.vml.rels><?xml version="1.0" encoding="UTF-8" standalone="yes"?>
<Relationships xmlns="http://schemas.openxmlformats.org/package/2006/relationships"><Relationship Id="rId3" Type="http://schemas.openxmlformats.org/officeDocument/2006/relationships/image" Target="../media/image19.wmf"/><Relationship Id="rId2" Type="http://schemas.openxmlformats.org/officeDocument/2006/relationships/image" Target="../media/image18.wmf"/><Relationship Id="rId1" Type="http://schemas.openxmlformats.org/officeDocument/2006/relationships/image" Target="../media/image17.wmf"/><Relationship Id="rId5" Type="http://schemas.openxmlformats.org/officeDocument/2006/relationships/image" Target="../media/image21.wmf"/><Relationship Id="rId4" Type="http://schemas.openxmlformats.org/officeDocument/2006/relationships/image" Target="../media/image20.wmf"/></Relationships>
</file>

<file path=ppt/drawings/_rels/vmlDrawing8.vml.rels><?xml version="1.0" encoding="UTF-8" standalone="yes"?>
<Relationships xmlns="http://schemas.openxmlformats.org/package/2006/relationships"><Relationship Id="rId3" Type="http://schemas.openxmlformats.org/officeDocument/2006/relationships/image" Target="../media/image9.wmf"/><Relationship Id="rId2" Type="http://schemas.openxmlformats.org/officeDocument/2006/relationships/image" Target="../media/image25.wmf"/><Relationship Id="rId1" Type="http://schemas.openxmlformats.org/officeDocument/2006/relationships/image" Target="../media/image24.wmf"/><Relationship Id="rId5" Type="http://schemas.openxmlformats.org/officeDocument/2006/relationships/image" Target="../media/image27.wmf"/><Relationship Id="rId4" Type="http://schemas.openxmlformats.org/officeDocument/2006/relationships/image" Target="../media/image26.wmf"/></Relationships>
</file>

<file path=ppt/drawings/_rels/vmlDrawing9.vml.rels><?xml version="1.0" encoding="UTF-8" standalone="yes"?>
<Relationships xmlns="http://schemas.openxmlformats.org/package/2006/relationships"><Relationship Id="rId1" Type="http://schemas.openxmlformats.org/officeDocument/2006/relationships/image" Target="../media/image28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A84027A-1E75-420D-87C7-AD2403D30044}" type="datetimeFigureOut">
              <a:rPr lang="ko-KR" altLang="en-US" smtClean="0"/>
              <a:t>2019-02-20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8CD3FA8-EE82-4C17-8F23-37C62FB7854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66501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994484"/>
            <a:ext cx="6858000" cy="1263316"/>
          </a:xfrm>
        </p:spPr>
        <p:txBody>
          <a:bodyPr anchor="ctr"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dirty="0" smtClean="0"/>
              <a:t>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7E9D86-AD47-474D-8353-A659234A42A1}" type="datetimeFigureOut">
              <a:rPr lang="ko-KR" altLang="en-US" smtClean="0"/>
              <a:t>2019-02-20</a:t>
            </a:fld>
            <a:endParaRPr lang="ko-KR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48D2D-4EDD-4709-942E-43A31633F2AD}" type="slidenum">
              <a:rPr lang="ko-KR" altLang="en-US" smtClean="0"/>
              <a:t>‹#›</a:t>
            </a:fld>
            <a:endParaRPr lang="ko-KR" altLang="en-US"/>
          </a:p>
        </p:txBody>
      </p:sp>
      <p:pic>
        <p:nvPicPr>
          <p:cNvPr id="8" name="그림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65192" y="6081834"/>
            <a:ext cx="3188484" cy="890093"/>
          </a:xfrm>
          <a:prstGeom prst="rect">
            <a:avLst/>
          </a:prstGeom>
        </p:spPr>
      </p:pic>
      <p:cxnSp>
        <p:nvCxnSpPr>
          <p:cNvPr id="10" name="직선 연결선 9"/>
          <p:cNvCxnSpPr/>
          <p:nvPr userDrawn="1"/>
        </p:nvCxnSpPr>
        <p:spPr>
          <a:xfrm>
            <a:off x="0" y="365126"/>
            <a:ext cx="9144000" cy="0"/>
          </a:xfrm>
          <a:prstGeom prst="line">
            <a:avLst/>
          </a:prstGeom>
          <a:ln w="76200">
            <a:solidFill>
              <a:srgbClr val="92D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직선 연결선 10"/>
          <p:cNvCxnSpPr/>
          <p:nvPr userDrawn="1"/>
        </p:nvCxnSpPr>
        <p:spPr>
          <a:xfrm flipH="1">
            <a:off x="302294" y="0"/>
            <a:ext cx="10528" cy="6858000"/>
          </a:xfrm>
          <a:prstGeom prst="line">
            <a:avLst/>
          </a:prstGeom>
          <a:ln w="762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직사각형 14"/>
          <p:cNvSpPr/>
          <p:nvPr userDrawn="1"/>
        </p:nvSpPr>
        <p:spPr>
          <a:xfrm>
            <a:off x="0" y="1442612"/>
            <a:ext cx="9144000" cy="975736"/>
          </a:xfrm>
          <a:prstGeom prst="rect">
            <a:avLst/>
          </a:prstGeom>
          <a:solidFill>
            <a:srgbClr val="92D050"/>
          </a:solidFill>
          <a:ln w="76200">
            <a:solidFill>
              <a:srgbClr val="92D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직사각형 13"/>
          <p:cNvSpPr/>
          <p:nvPr userDrawn="1"/>
        </p:nvSpPr>
        <p:spPr>
          <a:xfrm>
            <a:off x="0" y="1600200"/>
            <a:ext cx="9144000" cy="1792705"/>
          </a:xfrm>
          <a:prstGeom prst="rect">
            <a:avLst/>
          </a:prstGeom>
          <a:solidFill>
            <a:srgbClr val="00B050"/>
          </a:solidFill>
          <a:ln w="762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6" name="그림 15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54206" y="421418"/>
            <a:ext cx="2581295" cy="57308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6077"/>
            <a:ext cx="7772400" cy="1913885"/>
          </a:xfrm>
        </p:spPr>
        <p:txBody>
          <a:bodyPr anchor="ctr">
            <a:normAutofit/>
          </a:bodyPr>
          <a:lstStyle>
            <a:lvl1pPr marL="0" indent="0" algn="ctr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en-US" sz="4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ko-KR" altLang="en-US" dirty="0" smtClean="0"/>
              <a:t>마스터 제목 스타일 편집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442935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437318"/>
            <a:ext cx="7886700" cy="997999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ko-KR" altLang="en-US" dirty="0" smtClean="0"/>
              <a:t>마스터 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7E9D86-AD47-474D-8353-A659234A42A1}" type="datetimeFigureOut">
              <a:rPr lang="ko-KR" altLang="en-US" smtClean="0"/>
              <a:t>2019-02-20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fld id="{579BABCB-72A4-4245-AD44-8A2DEE65F69D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pic>
        <p:nvPicPr>
          <p:cNvPr id="10" name="그림 9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33921" y="6329011"/>
            <a:ext cx="1922102" cy="536571"/>
          </a:xfrm>
          <a:prstGeom prst="rect">
            <a:avLst/>
          </a:prstGeom>
        </p:spPr>
      </p:pic>
      <p:cxnSp>
        <p:nvCxnSpPr>
          <p:cNvPr id="15" name="직선 연결선 14"/>
          <p:cNvCxnSpPr/>
          <p:nvPr userDrawn="1"/>
        </p:nvCxnSpPr>
        <p:spPr>
          <a:xfrm>
            <a:off x="0" y="365126"/>
            <a:ext cx="9144000" cy="0"/>
          </a:xfrm>
          <a:prstGeom prst="line">
            <a:avLst/>
          </a:prstGeom>
          <a:ln w="76200">
            <a:solidFill>
              <a:srgbClr val="92D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직선 연결선 15"/>
          <p:cNvCxnSpPr/>
          <p:nvPr userDrawn="1"/>
        </p:nvCxnSpPr>
        <p:spPr>
          <a:xfrm flipH="1">
            <a:off x="302294" y="0"/>
            <a:ext cx="10528" cy="6858000"/>
          </a:xfrm>
          <a:prstGeom prst="line">
            <a:avLst/>
          </a:prstGeom>
          <a:ln w="762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직선 연결선 19"/>
          <p:cNvCxnSpPr/>
          <p:nvPr userDrawn="1"/>
        </p:nvCxnSpPr>
        <p:spPr>
          <a:xfrm flipV="1">
            <a:off x="628650" y="466816"/>
            <a:ext cx="0" cy="904787"/>
          </a:xfrm>
          <a:prstGeom prst="line">
            <a:avLst/>
          </a:prstGeom>
          <a:ln w="1016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모서리가 둥근 직사각형 25"/>
          <p:cNvSpPr/>
          <p:nvPr userDrawn="1"/>
        </p:nvSpPr>
        <p:spPr>
          <a:xfrm>
            <a:off x="445168" y="1580147"/>
            <a:ext cx="8578516" cy="4740109"/>
          </a:xfrm>
          <a:prstGeom prst="roundRect">
            <a:avLst>
              <a:gd name="adj" fmla="val 7944"/>
            </a:avLst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1140083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7E9D86-AD47-474D-8353-A659234A42A1}" type="datetimeFigureOut">
              <a:rPr lang="ko-KR" altLang="en-US" smtClean="0"/>
              <a:t>2019-02-20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48D2D-4EDD-4709-942E-43A31633F2A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8235848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7E9D86-AD47-474D-8353-A659234A42A1}" type="datetimeFigureOut">
              <a:rPr lang="ko-KR" altLang="en-US" smtClean="0"/>
              <a:t>2019-02-20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48D2D-4EDD-4709-942E-43A31633F2A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8441507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7E9D86-AD47-474D-8353-A659234A42A1}" type="datetimeFigureOut">
              <a:rPr lang="ko-KR" altLang="en-US" smtClean="0"/>
              <a:t>2019-02-20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48D2D-4EDD-4709-942E-43A31633F2A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6171754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7E9D86-AD47-474D-8353-A659234A42A1}" type="datetimeFigureOut">
              <a:rPr lang="ko-KR" altLang="en-US" smtClean="0"/>
              <a:t>2019-02-20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48D2D-4EDD-4709-942E-43A31633F2A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026494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7E9D86-AD47-474D-8353-A659234A42A1}" type="datetimeFigureOut">
              <a:rPr lang="ko-KR" altLang="en-US" smtClean="0"/>
              <a:t>2019-02-20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48D2D-4EDD-4709-942E-43A31633F2A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127534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7E9D86-AD47-474D-8353-A659234A42A1}" type="datetimeFigureOut">
              <a:rPr lang="ko-KR" altLang="en-US" smtClean="0"/>
              <a:t>2019-02-20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48D2D-4EDD-4709-942E-43A31633F2A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725595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 smtClean="0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7E9D86-AD47-474D-8353-A659234A42A1}" type="datetimeFigureOut">
              <a:rPr lang="ko-KR" altLang="en-US" smtClean="0"/>
              <a:t>2019-02-20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48D2D-4EDD-4709-942E-43A31633F2A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494573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7E9D86-AD47-474D-8353-A659234A42A1}" type="datetimeFigureOut">
              <a:rPr lang="ko-KR" altLang="en-US" smtClean="0"/>
              <a:t>2019-02-20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48D2D-4EDD-4709-942E-43A31633F2A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370748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7E9D86-AD47-474D-8353-A659234A42A1}" type="datetimeFigureOut">
              <a:rPr lang="ko-KR" altLang="en-US" smtClean="0"/>
              <a:t>2019-02-20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48D2D-4EDD-4709-942E-43A31633F2A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218396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97E9D86-AD47-474D-8353-A659234A42A1}" type="datetimeFigureOut">
              <a:rPr lang="ko-KR" altLang="en-US" smtClean="0"/>
              <a:t>2019-02-20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1F48D2D-4EDD-4709-942E-43A31633F2A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639210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5.wmf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4" Type="http://schemas.openxmlformats.org/officeDocument/2006/relationships/image" Target="../media/image6.wmf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wmf"/><Relationship Id="rId3" Type="http://schemas.openxmlformats.org/officeDocument/2006/relationships/oleObject" Target="../embeddings/oleObject3.bin"/><Relationship Id="rId7" Type="http://schemas.openxmlformats.org/officeDocument/2006/relationships/oleObject" Target="../embeddings/oleObject5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8.wmf"/><Relationship Id="rId5" Type="http://schemas.openxmlformats.org/officeDocument/2006/relationships/oleObject" Target="../embeddings/oleObject4.bin"/><Relationship Id="rId10" Type="http://schemas.openxmlformats.org/officeDocument/2006/relationships/image" Target="../media/image10.wmf"/><Relationship Id="rId4" Type="http://schemas.openxmlformats.org/officeDocument/2006/relationships/image" Target="../media/image7.wmf"/><Relationship Id="rId9" Type="http://schemas.openxmlformats.org/officeDocument/2006/relationships/oleObject" Target="../embeddings/oleObject6.bin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4" Type="http://schemas.openxmlformats.org/officeDocument/2006/relationships/image" Target="../media/image11.wmf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emf"/><Relationship Id="rId7" Type="http://schemas.openxmlformats.org/officeDocument/2006/relationships/image" Target="../media/image6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.vml"/><Relationship Id="rId6" Type="http://schemas.openxmlformats.org/officeDocument/2006/relationships/oleObject" Target="../embeddings/oleObject9.bin"/><Relationship Id="rId5" Type="http://schemas.openxmlformats.org/officeDocument/2006/relationships/image" Target="../media/image12.wmf"/><Relationship Id="rId4" Type="http://schemas.openxmlformats.org/officeDocument/2006/relationships/oleObject" Target="../embeddings/oleObject8.bin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2.bin"/><Relationship Id="rId3" Type="http://schemas.openxmlformats.org/officeDocument/2006/relationships/image" Target="../media/image13.emf"/><Relationship Id="rId7" Type="http://schemas.openxmlformats.org/officeDocument/2006/relationships/image" Target="../media/image15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6.vml"/><Relationship Id="rId6" Type="http://schemas.openxmlformats.org/officeDocument/2006/relationships/oleObject" Target="../embeddings/oleObject11.bin"/><Relationship Id="rId5" Type="http://schemas.openxmlformats.org/officeDocument/2006/relationships/image" Target="../media/image14.wmf"/><Relationship Id="rId4" Type="http://schemas.openxmlformats.org/officeDocument/2006/relationships/oleObject" Target="../embeddings/oleObject10.bin"/><Relationship Id="rId9" Type="http://schemas.openxmlformats.org/officeDocument/2006/relationships/image" Target="../media/image16.wmf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wmf"/><Relationship Id="rId3" Type="http://schemas.openxmlformats.org/officeDocument/2006/relationships/oleObject" Target="../embeddings/oleObject13.bin"/><Relationship Id="rId7" Type="http://schemas.openxmlformats.org/officeDocument/2006/relationships/oleObject" Target="../embeddings/oleObject15.bin"/><Relationship Id="rId12" Type="http://schemas.openxmlformats.org/officeDocument/2006/relationships/image" Target="../media/image21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7.vml"/><Relationship Id="rId6" Type="http://schemas.openxmlformats.org/officeDocument/2006/relationships/image" Target="../media/image18.wmf"/><Relationship Id="rId11" Type="http://schemas.openxmlformats.org/officeDocument/2006/relationships/oleObject" Target="../embeddings/oleObject17.bin"/><Relationship Id="rId5" Type="http://schemas.openxmlformats.org/officeDocument/2006/relationships/oleObject" Target="../embeddings/oleObject14.bin"/><Relationship Id="rId10" Type="http://schemas.openxmlformats.org/officeDocument/2006/relationships/image" Target="../media/image20.wmf"/><Relationship Id="rId4" Type="http://schemas.openxmlformats.org/officeDocument/2006/relationships/image" Target="../media/image17.wmf"/><Relationship Id="rId9" Type="http://schemas.openxmlformats.org/officeDocument/2006/relationships/oleObject" Target="../embeddings/oleObject16.bin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wmf"/><Relationship Id="rId3" Type="http://schemas.openxmlformats.org/officeDocument/2006/relationships/oleObject" Target="../embeddings/oleObject18.bin"/><Relationship Id="rId7" Type="http://schemas.openxmlformats.org/officeDocument/2006/relationships/oleObject" Target="../embeddings/oleObject20.bin"/><Relationship Id="rId12" Type="http://schemas.openxmlformats.org/officeDocument/2006/relationships/image" Target="../media/image27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8.vml"/><Relationship Id="rId6" Type="http://schemas.openxmlformats.org/officeDocument/2006/relationships/image" Target="../media/image25.wmf"/><Relationship Id="rId11" Type="http://schemas.openxmlformats.org/officeDocument/2006/relationships/oleObject" Target="../embeddings/oleObject22.bin"/><Relationship Id="rId5" Type="http://schemas.openxmlformats.org/officeDocument/2006/relationships/oleObject" Target="../embeddings/oleObject19.bin"/><Relationship Id="rId10" Type="http://schemas.openxmlformats.org/officeDocument/2006/relationships/image" Target="../media/image26.wmf"/><Relationship Id="rId4" Type="http://schemas.openxmlformats.org/officeDocument/2006/relationships/image" Target="../media/image24.wmf"/><Relationship Id="rId9" Type="http://schemas.openxmlformats.org/officeDocument/2006/relationships/oleObject" Target="../embeddings/oleObject21.bin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9.vml"/><Relationship Id="rId4" Type="http://schemas.openxmlformats.org/officeDocument/2006/relationships/image" Target="../media/image28.w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ko-KR" altLang="en-US" dirty="0"/>
              <a:t>선형</a:t>
            </a:r>
            <a:r>
              <a:rPr lang="en-US" altLang="ko-KR" dirty="0"/>
              <a:t> </a:t>
            </a:r>
            <a:r>
              <a:rPr lang="ko-KR" altLang="en-US" dirty="0" smtClean="0"/>
              <a:t>회기</a:t>
            </a:r>
            <a:endParaRPr lang="ko-KR" altLang="en-US" dirty="0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 altLang="en-US" dirty="0" smtClean="0"/>
              <a:t>순천향대학교</a:t>
            </a:r>
            <a:endParaRPr lang="en-US" altLang="ko-KR" dirty="0" smtClean="0"/>
          </a:p>
          <a:p>
            <a:r>
              <a:rPr lang="ko-KR" altLang="en-US" dirty="0" smtClean="0"/>
              <a:t>박성근</a:t>
            </a:r>
            <a:r>
              <a:rPr lang="en-US" altLang="ko-KR" dirty="0" smtClean="0"/>
              <a:t>(keiny@sch.ac.kr)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9750306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Regression</a:t>
            </a:r>
            <a:endParaRPr lang="ko-KR" altLang="en-US" dirty="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7772" y="2375287"/>
            <a:ext cx="5296904" cy="373093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242330" y="1674566"/>
            <a:ext cx="455522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2800" dirty="0" smtClean="0"/>
              <a:t>Regression</a:t>
            </a:r>
            <a:endParaRPr lang="ko-KR" altLang="en-US" sz="2800" dirty="0"/>
          </a:p>
        </p:txBody>
      </p:sp>
    </p:spTree>
    <p:extLst>
      <p:ext uri="{BB962C8B-B14F-4D97-AF65-F5344CB8AC3E}">
        <p14:creationId xmlns:p14="http://schemas.microsoft.com/office/powerpoint/2010/main" val="32924514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Regression</a:t>
            </a:r>
            <a:endParaRPr lang="ko-KR" altLang="en-US" dirty="0"/>
          </a:p>
        </p:txBody>
      </p:sp>
      <p:sp>
        <p:nvSpPr>
          <p:cNvPr id="3" name="Freeform 2"/>
          <p:cNvSpPr>
            <a:spLocks/>
          </p:cNvSpPr>
          <p:nvPr/>
        </p:nvSpPr>
        <p:spPr bwMode="auto">
          <a:xfrm>
            <a:off x="2513013" y="2773363"/>
            <a:ext cx="1978025" cy="365125"/>
          </a:xfrm>
          <a:custGeom>
            <a:avLst/>
            <a:gdLst>
              <a:gd name="T0" fmla="*/ 0 w 1246"/>
              <a:gd name="T1" fmla="*/ 229 h 230"/>
              <a:gd name="T2" fmla="*/ 0 w 1246"/>
              <a:gd name="T3" fmla="*/ 141 h 230"/>
              <a:gd name="T4" fmla="*/ 1245 w 1246"/>
              <a:gd name="T5" fmla="*/ 141 h 230"/>
              <a:gd name="T6" fmla="*/ 1245 w 1246"/>
              <a:gd name="T7" fmla="*/ 0 h 23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246" h="230">
                <a:moveTo>
                  <a:pt x="0" y="229"/>
                </a:moveTo>
                <a:lnTo>
                  <a:pt x="0" y="141"/>
                </a:lnTo>
                <a:lnTo>
                  <a:pt x="1245" y="141"/>
                </a:lnTo>
                <a:lnTo>
                  <a:pt x="1245" y="0"/>
                </a:lnTo>
              </a:path>
            </a:pathLst>
          </a:custGeom>
          <a:noFill/>
          <a:ln w="25400" cap="rnd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dist="35921" dir="2700000" algn="ctr" rotWithShape="0">
              <a:schemeClr val="bg2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4" name="Freeform 3"/>
          <p:cNvSpPr>
            <a:spLocks/>
          </p:cNvSpPr>
          <p:nvPr/>
        </p:nvSpPr>
        <p:spPr bwMode="auto">
          <a:xfrm>
            <a:off x="1417638" y="4281488"/>
            <a:ext cx="1096962" cy="365125"/>
          </a:xfrm>
          <a:custGeom>
            <a:avLst/>
            <a:gdLst>
              <a:gd name="T0" fmla="*/ 690 w 691"/>
              <a:gd name="T1" fmla="*/ 0 h 230"/>
              <a:gd name="T2" fmla="*/ 690 w 691"/>
              <a:gd name="T3" fmla="*/ 139 h 230"/>
              <a:gd name="T4" fmla="*/ 0 w 691"/>
              <a:gd name="T5" fmla="*/ 139 h 230"/>
              <a:gd name="T6" fmla="*/ 0 w 691"/>
              <a:gd name="T7" fmla="*/ 229 h 23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691" h="230">
                <a:moveTo>
                  <a:pt x="690" y="0"/>
                </a:moveTo>
                <a:lnTo>
                  <a:pt x="690" y="139"/>
                </a:lnTo>
                <a:lnTo>
                  <a:pt x="0" y="139"/>
                </a:lnTo>
                <a:lnTo>
                  <a:pt x="0" y="229"/>
                </a:lnTo>
              </a:path>
            </a:pathLst>
          </a:custGeom>
          <a:noFill/>
          <a:ln w="25400" cap="rnd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dist="35921" dir="2700000" algn="ctr" rotWithShape="0">
              <a:schemeClr val="bg2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5" name="Freeform 5"/>
          <p:cNvSpPr>
            <a:spLocks/>
          </p:cNvSpPr>
          <p:nvPr/>
        </p:nvSpPr>
        <p:spPr bwMode="auto">
          <a:xfrm>
            <a:off x="3486150" y="1974850"/>
            <a:ext cx="2008188" cy="800100"/>
          </a:xfrm>
          <a:custGeom>
            <a:avLst/>
            <a:gdLst>
              <a:gd name="T0" fmla="*/ 0 w 1265"/>
              <a:gd name="T1" fmla="*/ 503 h 504"/>
              <a:gd name="T2" fmla="*/ 1264 w 1265"/>
              <a:gd name="T3" fmla="*/ 503 h 504"/>
              <a:gd name="T4" fmla="*/ 1264 w 1265"/>
              <a:gd name="T5" fmla="*/ 0 h 504"/>
              <a:gd name="T6" fmla="*/ 0 w 1265"/>
              <a:gd name="T7" fmla="*/ 0 h 504"/>
              <a:gd name="T8" fmla="*/ 0 w 1265"/>
              <a:gd name="T9" fmla="*/ 503 h 5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265" h="504">
                <a:moveTo>
                  <a:pt x="0" y="503"/>
                </a:moveTo>
                <a:lnTo>
                  <a:pt x="1264" y="503"/>
                </a:lnTo>
                <a:lnTo>
                  <a:pt x="1264" y="0"/>
                </a:lnTo>
                <a:lnTo>
                  <a:pt x="0" y="0"/>
                </a:lnTo>
                <a:lnTo>
                  <a:pt x="0" y="503"/>
                </a:lnTo>
              </a:path>
            </a:pathLst>
          </a:custGeom>
          <a:solidFill>
            <a:srgbClr val="00DFCA"/>
          </a:solidFill>
          <a:ln w="25400" cap="rnd" cmpd="sng">
            <a:solidFill>
              <a:srgbClr val="1A1A1A"/>
            </a:solidFill>
            <a:prstDash val="solid"/>
            <a:round/>
            <a:headEnd type="none" w="med" len="med"/>
            <a:tailEnd type="none" w="med" len="med"/>
          </a:ln>
          <a:effectLst>
            <a:outerShdw dist="35921" dir="2700000" algn="ctr" rotWithShape="0">
              <a:schemeClr val="bg2"/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Rectangle 6"/>
          <p:cNvSpPr>
            <a:spLocks noChangeArrowheads="1"/>
          </p:cNvSpPr>
          <p:nvPr/>
        </p:nvSpPr>
        <p:spPr bwMode="auto">
          <a:xfrm>
            <a:off x="3567113" y="1966913"/>
            <a:ext cx="1777475" cy="459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altLang="ko-KR" sz="2400" b="1">
                <a:ea typeface="굴림" panose="020B0600000101010101" pitchFamily="50" charset="-127"/>
              </a:rPr>
              <a:t>Regression</a:t>
            </a:r>
          </a:p>
        </p:txBody>
      </p:sp>
      <p:sp>
        <p:nvSpPr>
          <p:cNvPr id="7" name="Rectangle 7"/>
          <p:cNvSpPr>
            <a:spLocks noChangeArrowheads="1"/>
          </p:cNvSpPr>
          <p:nvPr/>
        </p:nvSpPr>
        <p:spPr bwMode="auto">
          <a:xfrm>
            <a:off x="3875088" y="2330450"/>
            <a:ext cx="1259961" cy="459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altLang="ko-KR" sz="2400" b="1">
                <a:ea typeface="굴림" panose="020B0600000101010101" pitchFamily="50" charset="-127"/>
              </a:rPr>
              <a:t>Models</a:t>
            </a:r>
          </a:p>
        </p:txBody>
      </p:sp>
      <p:sp>
        <p:nvSpPr>
          <p:cNvPr id="8" name="Freeform 8"/>
          <p:cNvSpPr>
            <a:spLocks/>
          </p:cNvSpPr>
          <p:nvPr/>
        </p:nvSpPr>
        <p:spPr bwMode="auto">
          <a:xfrm>
            <a:off x="915988" y="4787900"/>
            <a:ext cx="1004887" cy="1003300"/>
          </a:xfrm>
          <a:custGeom>
            <a:avLst/>
            <a:gdLst>
              <a:gd name="T0" fmla="*/ 0 w 633"/>
              <a:gd name="T1" fmla="*/ 631 h 632"/>
              <a:gd name="T2" fmla="*/ 632 w 633"/>
              <a:gd name="T3" fmla="*/ 631 h 632"/>
              <a:gd name="T4" fmla="*/ 632 w 633"/>
              <a:gd name="T5" fmla="*/ 0 h 632"/>
              <a:gd name="T6" fmla="*/ 0 w 633"/>
              <a:gd name="T7" fmla="*/ 0 h 632"/>
              <a:gd name="T8" fmla="*/ 0 w 633"/>
              <a:gd name="T9" fmla="*/ 631 h 6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633" h="632">
                <a:moveTo>
                  <a:pt x="0" y="631"/>
                </a:moveTo>
                <a:lnTo>
                  <a:pt x="632" y="631"/>
                </a:lnTo>
                <a:lnTo>
                  <a:pt x="632" y="0"/>
                </a:lnTo>
                <a:lnTo>
                  <a:pt x="0" y="0"/>
                </a:lnTo>
                <a:lnTo>
                  <a:pt x="0" y="631"/>
                </a:lnTo>
              </a:path>
            </a:pathLst>
          </a:custGeom>
          <a:solidFill>
            <a:srgbClr val="00DFCA"/>
          </a:solidFill>
          <a:ln w="25400" cap="rnd" cmpd="sng">
            <a:solidFill>
              <a:srgbClr val="1A1A1A"/>
            </a:solidFill>
            <a:prstDash val="solid"/>
            <a:round/>
            <a:headEnd type="none" w="med" len="med"/>
            <a:tailEnd type="none" w="med" len="med"/>
          </a:ln>
          <a:effectLst>
            <a:outerShdw dist="35921" dir="2700000" algn="ctr" rotWithShape="0">
              <a:schemeClr val="bg2"/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9" name="Rectangle 9"/>
          <p:cNvSpPr>
            <a:spLocks noChangeArrowheads="1"/>
          </p:cNvSpPr>
          <p:nvPr/>
        </p:nvSpPr>
        <p:spPr bwMode="auto">
          <a:xfrm>
            <a:off x="869950" y="5060950"/>
            <a:ext cx="1070807" cy="459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altLang="ko-KR" sz="2400" b="1">
                <a:ea typeface="굴림" panose="020B0600000101010101" pitchFamily="50" charset="-127"/>
              </a:rPr>
              <a:t>Linear</a:t>
            </a:r>
          </a:p>
        </p:txBody>
      </p:sp>
      <p:sp>
        <p:nvSpPr>
          <p:cNvPr id="10" name="Freeform 10"/>
          <p:cNvSpPr>
            <a:spLocks/>
          </p:cNvSpPr>
          <p:nvPr/>
        </p:nvSpPr>
        <p:spPr bwMode="auto">
          <a:xfrm>
            <a:off x="3105150" y="4787900"/>
            <a:ext cx="1006475" cy="1003300"/>
          </a:xfrm>
          <a:custGeom>
            <a:avLst/>
            <a:gdLst>
              <a:gd name="T0" fmla="*/ 0 w 634"/>
              <a:gd name="T1" fmla="*/ 631 h 632"/>
              <a:gd name="T2" fmla="*/ 633 w 634"/>
              <a:gd name="T3" fmla="*/ 631 h 632"/>
              <a:gd name="T4" fmla="*/ 633 w 634"/>
              <a:gd name="T5" fmla="*/ 0 h 632"/>
              <a:gd name="T6" fmla="*/ 0 w 634"/>
              <a:gd name="T7" fmla="*/ 0 h 632"/>
              <a:gd name="T8" fmla="*/ 0 w 634"/>
              <a:gd name="T9" fmla="*/ 631 h 6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634" h="632">
                <a:moveTo>
                  <a:pt x="0" y="631"/>
                </a:moveTo>
                <a:lnTo>
                  <a:pt x="633" y="631"/>
                </a:lnTo>
                <a:lnTo>
                  <a:pt x="633" y="0"/>
                </a:lnTo>
                <a:lnTo>
                  <a:pt x="0" y="0"/>
                </a:lnTo>
                <a:lnTo>
                  <a:pt x="0" y="631"/>
                </a:lnTo>
              </a:path>
            </a:pathLst>
          </a:custGeom>
          <a:solidFill>
            <a:srgbClr val="00DFCA"/>
          </a:solidFill>
          <a:ln w="25400" cap="rnd" cmpd="sng">
            <a:solidFill>
              <a:srgbClr val="1A1A1A"/>
            </a:solidFill>
            <a:prstDash val="solid"/>
            <a:round/>
            <a:headEnd type="none" w="med" len="med"/>
            <a:tailEnd type="none" w="med" len="med"/>
          </a:ln>
          <a:effectLst>
            <a:outerShdw dist="35921" dir="2700000" algn="ctr" rotWithShape="0">
              <a:schemeClr val="bg2"/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1" name="Rectangle 11"/>
          <p:cNvSpPr>
            <a:spLocks noChangeArrowheads="1"/>
          </p:cNvSpPr>
          <p:nvPr/>
        </p:nvSpPr>
        <p:spPr bwMode="auto">
          <a:xfrm>
            <a:off x="3171825" y="4878388"/>
            <a:ext cx="932949" cy="459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altLang="ko-KR" sz="2400" b="1">
                <a:ea typeface="굴림" panose="020B0600000101010101" pitchFamily="50" charset="-127"/>
              </a:rPr>
              <a:t>Non-</a:t>
            </a:r>
          </a:p>
        </p:txBody>
      </p:sp>
      <p:sp>
        <p:nvSpPr>
          <p:cNvPr id="12" name="Rectangle 12"/>
          <p:cNvSpPr>
            <a:spLocks noChangeArrowheads="1"/>
          </p:cNvSpPr>
          <p:nvPr/>
        </p:nvSpPr>
        <p:spPr bwMode="auto">
          <a:xfrm>
            <a:off x="3059113" y="5243513"/>
            <a:ext cx="1070807" cy="459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altLang="ko-KR" sz="2400" b="1">
                <a:ea typeface="굴림" panose="020B0600000101010101" pitchFamily="50" charset="-127"/>
              </a:rPr>
              <a:t>Linear</a:t>
            </a:r>
          </a:p>
        </p:txBody>
      </p:sp>
      <p:sp>
        <p:nvSpPr>
          <p:cNvPr id="13" name="Freeform 13"/>
          <p:cNvSpPr>
            <a:spLocks/>
          </p:cNvSpPr>
          <p:nvPr/>
        </p:nvSpPr>
        <p:spPr bwMode="auto">
          <a:xfrm>
            <a:off x="2513013" y="4281488"/>
            <a:ext cx="1096962" cy="365125"/>
          </a:xfrm>
          <a:custGeom>
            <a:avLst/>
            <a:gdLst>
              <a:gd name="T0" fmla="*/ 690 w 691"/>
              <a:gd name="T1" fmla="*/ 229 h 230"/>
              <a:gd name="T2" fmla="*/ 690 w 691"/>
              <a:gd name="T3" fmla="*/ 139 h 230"/>
              <a:gd name="T4" fmla="*/ 0 w 691"/>
              <a:gd name="T5" fmla="*/ 139 h 230"/>
              <a:gd name="T6" fmla="*/ 0 w 691"/>
              <a:gd name="T7" fmla="*/ 0 h 23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691" h="230">
                <a:moveTo>
                  <a:pt x="690" y="229"/>
                </a:moveTo>
                <a:lnTo>
                  <a:pt x="690" y="139"/>
                </a:lnTo>
                <a:lnTo>
                  <a:pt x="0" y="139"/>
                </a:lnTo>
                <a:lnTo>
                  <a:pt x="0" y="0"/>
                </a:lnTo>
              </a:path>
            </a:pathLst>
          </a:custGeom>
          <a:noFill/>
          <a:ln w="25400" cap="rnd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dist="35921" dir="2700000" algn="ctr" rotWithShape="0">
              <a:schemeClr val="bg2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14" name="Freeform 14"/>
          <p:cNvSpPr>
            <a:spLocks/>
          </p:cNvSpPr>
          <p:nvPr/>
        </p:nvSpPr>
        <p:spPr bwMode="auto">
          <a:xfrm>
            <a:off x="3525838" y="4627563"/>
            <a:ext cx="152400" cy="152400"/>
          </a:xfrm>
          <a:custGeom>
            <a:avLst/>
            <a:gdLst>
              <a:gd name="T0" fmla="*/ 95 w 96"/>
              <a:gd name="T1" fmla="*/ 0 h 96"/>
              <a:gd name="T2" fmla="*/ 49 w 96"/>
              <a:gd name="T3" fmla="*/ 95 h 96"/>
              <a:gd name="T4" fmla="*/ 0 w 96"/>
              <a:gd name="T5" fmla="*/ 0 h 96"/>
              <a:gd name="T6" fmla="*/ 95 w 96"/>
              <a:gd name="T7" fmla="*/ 0 h 9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96" h="96">
                <a:moveTo>
                  <a:pt x="95" y="0"/>
                </a:moveTo>
                <a:lnTo>
                  <a:pt x="49" y="95"/>
                </a:lnTo>
                <a:lnTo>
                  <a:pt x="0" y="0"/>
                </a:lnTo>
                <a:lnTo>
                  <a:pt x="95" y="0"/>
                </a:lnTo>
              </a:path>
            </a:pathLst>
          </a:custGeom>
          <a:solidFill>
            <a:srgbClr val="FFFFFF"/>
          </a:solidFill>
          <a:ln w="12700" cap="rnd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dist="35921" dir="2700000" algn="ctr" rotWithShape="0">
              <a:schemeClr val="bg2"/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5" name="Freeform 15"/>
          <p:cNvSpPr>
            <a:spLocks/>
          </p:cNvSpPr>
          <p:nvPr/>
        </p:nvSpPr>
        <p:spPr bwMode="auto">
          <a:xfrm>
            <a:off x="1336675" y="4627563"/>
            <a:ext cx="152400" cy="152400"/>
          </a:xfrm>
          <a:custGeom>
            <a:avLst/>
            <a:gdLst>
              <a:gd name="T0" fmla="*/ 95 w 96"/>
              <a:gd name="T1" fmla="*/ 0 h 96"/>
              <a:gd name="T2" fmla="*/ 48 w 96"/>
              <a:gd name="T3" fmla="*/ 95 h 96"/>
              <a:gd name="T4" fmla="*/ 0 w 96"/>
              <a:gd name="T5" fmla="*/ 0 h 96"/>
              <a:gd name="T6" fmla="*/ 95 w 96"/>
              <a:gd name="T7" fmla="*/ 0 h 9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96" h="96">
                <a:moveTo>
                  <a:pt x="95" y="0"/>
                </a:moveTo>
                <a:lnTo>
                  <a:pt x="48" y="95"/>
                </a:lnTo>
                <a:lnTo>
                  <a:pt x="0" y="0"/>
                </a:lnTo>
                <a:lnTo>
                  <a:pt x="95" y="0"/>
                </a:lnTo>
              </a:path>
            </a:pathLst>
          </a:custGeom>
          <a:solidFill>
            <a:srgbClr val="FFFFFF"/>
          </a:solidFill>
          <a:ln w="12700" cap="rnd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dist="35921" dir="2700000" algn="ctr" rotWithShape="0">
              <a:schemeClr val="bg2"/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6" name="Freeform 16"/>
          <p:cNvSpPr>
            <a:spLocks/>
          </p:cNvSpPr>
          <p:nvPr/>
        </p:nvSpPr>
        <p:spPr bwMode="auto">
          <a:xfrm>
            <a:off x="4489450" y="2773363"/>
            <a:ext cx="2130425" cy="365125"/>
          </a:xfrm>
          <a:custGeom>
            <a:avLst/>
            <a:gdLst>
              <a:gd name="T0" fmla="*/ 1341 w 1342"/>
              <a:gd name="T1" fmla="*/ 229 h 230"/>
              <a:gd name="T2" fmla="*/ 1341 w 1342"/>
              <a:gd name="T3" fmla="*/ 141 h 230"/>
              <a:gd name="T4" fmla="*/ 0 w 1342"/>
              <a:gd name="T5" fmla="*/ 141 h 230"/>
              <a:gd name="T6" fmla="*/ 0 w 1342"/>
              <a:gd name="T7" fmla="*/ 0 h 23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342" h="230">
                <a:moveTo>
                  <a:pt x="1341" y="229"/>
                </a:moveTo>
                <a:lnTo>
                  <a:pt x="1341" y="141"/>
                </a:lnTo>
                <a:lnTo>
                  <a:pt x="0" y="141"/>
                </a:lnTo>
                <a:lnTo>
                  <a:pt x="0" y="0"/>
                </a:lnTo>
              </a:path>
            </a:pathLst>
          </a:custGeom>
          <a:noFill/>
          <a:ln w="25400" cap="rnd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dist="35921" dir="2700000" algn="ctr" rotWithShape="0">
              <a:schemeClr val="bg2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17" name="Freeform 17"/>
          <p:cNvSpPr>
            <a:spLocks/>
          </p:cNvSpPr>
          <p:nvPr/>
        </p:nvSpPr>
        <p:spPr bwMode="auto">
          <a:xfrm>
            <a:off x="6535738" y="3119438"/>
            <a:ext cx="153987" cy="152400"/>
          </a:xfrm>
          <a:custGeom>
            <a:avLst/>
            <a:gdLst>
              <a:gd name="T0" fmla="*/ 96 w 97"/>
              <a:gd name="T1" fmla="*/ 0 h 96"/>
              <a:gd name="T2" fmla="*/ 49 w 97"/>
              <a:gd name="T3" fmla="*/ 95 h 96"/>
              <a:gd name="T4" fmla="*/ 0 w 97"/>
              <a:gd name="T5" fmla="*/ 0 h 96"/>
              <a:gd name="T6" fmla="*/ 96 w 97"/>
              <a:gd name="T7" fmla="*/ 0 h 9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97" h="96">
                <a:moveTo>
                  <a:pt x="96" y="0"/>
                </a:moveTo>
                <a:lnTo>
                  <a:pt x="49" y="95"/>
                </a:lnTo>
                <a:lnTo>
                  <a:pt x="0" y="0"/>
                </a:lnTo>
                <a:lnTo>
                  <a:pt x="96" y="0"/>
                </a:lnTo>
              </a:path>
            </a:pathLst>
          </a:custGeom>
          <a:solidFill>
            <a:srgbClr val="FFFFFF"/>
          </a:solidFill>
          <a:ln w="12700" cap="rnd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dist="35921" dir="2700000" algn="ctr" rotWithShape="0">
              <a:schemeClr val="bg2"/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8" name="Freeform 18"/>
          <p:cNvSpPr>
            <a:spLocks/>
          </p:cNvSpPr>
          <p:nvPr/>
        </p:nvSpPr>
        <p:spPr bwMode="auto">
          <a:xfrm>
            <a:off x="2430463" y="3119438"/>
            <a:ext cx="153987" cy="152400"/>
          </a:xfrm>
          <a:custGeom>
            <a:avLst/>
            <a:gdLst>
              <a:gd name="T0" fmla="*/ 96 w 97"/>
              <a:gd name="T1" fmla="*/ 0 h 96"/>
              <a:gd name="T2" fmla="*/ 49 w 97"/>
              <a:gd name="T3" fmla="*/ 95 h 96"/>
              <a:gd name="T4" fmla="*/ 0 w 97"/>
              <a:gd name="T5" fmla="*/ 0 h 96"/>
              <a:gd name="T6" fmla="*/ 96 w 97"/>
              <a:gd name="T7" fmla="*/ 0 h 9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97" h="96">
                <a:moveTo>
                  <a:pt x="96" y="0"/>
                </a:moveTo>
                <a:lnTo>
                  <a:pt x="49" y="95"/>
                </a:lnTo>
                <a:lnTo>
                  <a:pt x="0" y="0"/>
                </a:lnTo>
                <a:lnTo>
                  <a:pt x="96" y="0"/>
                </a:lnTo>
              </a:path>
            </a:pathLst>
          </a:custGeom>
          <a:solidFill>
            <a:srgbClr val="FFFFFF"/>
          </a:solidFill>
          <a:ln w="12700" cap="rnd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dist="35921" dir="2700000" algn="ctr" rotWithShape="0">
              <a:schemeClr val="bg2"/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9" name="Freeform 19"/>
          <p:cNvSpPr>
            <a:spLocks/>
          </p:cNvSpPr>
          <p:nvPr/>
        </p:nvSpPr>
        <p:spPr bwMode="auto">
          <a:xfrm>
            <a:off x="5522913" y="4281488"/>
            <a:ext cx="1096962" cy="365125"/>
          </a:xfrm>
          <a:custGeom>
            <a:avLst/>
            <a:gdLst>
              <a:gd name="T0" fmla="*/ 0 w 691"/>
              <a:gd name="T1" fmla="*/ 229 h 230"/>
              <a:gd name="T2" fmla="*/ 0 w 691"/>
              <a:gd name="T3" fmla="*/ 139 h 230"/>
              <a:gd name="T4" fmla="*/ 690 w 691"/>
              <a:gd name="T5" fmla="*/ 139 h 230"/>
              <a:gd name="T6" fmla="*/ 690 w 691"/>
              <a:gd name="T7" fmla="*/ 0 h 23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691" h="230">
                <a:moveTo>
                  <a:pt x="0" y="229"/>
                </a:moveTo>
                <a:lnTo>
                  <a:pt x="0" y="139"/>
                </a:lnTo>
                <a:lnTo>
                  <a:pt x="690" y="139"/>
                </a:lnTo>
                <a:lnTo>
                  <a:pt x="690" y="0"/>
                </a:lnTo>
              </a:path>
            </a:pathLst>
          </a:custGeom>
          <a:noFill/>
          <a:ln w="25400" cap="rnd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dist="35921" dir="2700000" algn="ctr" rotWithShape="0">
              <a:schemeClr val="bg2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20" name="Freeform 20"/>
          <p:cNvSpPr>
            <a:spLocks/>
          </p:cNvSpPr>
          <p:nvPr/>
        </p:nvSpPr>
        <p:spPr bwMode="auto">
          <a:xfrm>
            <a:off x="5441950" y="4627563"/>
            <a:ext cx="152400" cy="152400"/>
          </a:xfrm>
          <a:custGeom>
            <a:avLst/>
            <a:gdLst>
              <a:gd name="T0" fmla="*/ 95 w 96"/>
              <a:gd name="T1" fmla="*/ 0 h 96"/>
              <a:gd name="T2" fmla="*/ 48 w 96"/>
              <a:gd name="T3" fmla="*/ 95 h 96"/>
              <a:gd name="T4" fmla="*/ 0 w 96"/>
              <a:gd name="T5" fmla="*/ 0 h 96"/>
              <a:gd name="T6" fmla="*/ 95 w 96"/>
              <a:gd name="T7" fmla="*/ 0 h 9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96" h="96">
                <a:moveTo>
                  <a:pt x="95" y="0"/>
                </a:moveTo>
                <a:lnTo>
                  <a:pt x="48" y="95"/>
                </a:lnTo>
                <a:lnTo>
                  <a:pt x="0" y="0"/>
                </a:lnTo>
                <a:lnTo>
                  <a:pt x="95" y="0"/>
                </a:lnTo>
              </a:path>
            </a:pathLst>
          </a:custGeom>
          <a:solidFill>
            <a:srgbClr val="FFFFFF"/>
          </a:solidFill>
          <a:ln w="12700" cap="rnd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dist="35921" dir="2700000" algn="ctr" rotWithShape="0">
              <a:schemeClr val="bg2"/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1" name="Rectangle 21"/>
          <p:cNvSpPr>
            <a:spLocks noChangeArrowheads="1"/>
          </p:cNvSpPr>
          <p:nvPr/>
        </p:nvSpPr>
        <p:spPr bwMode="auto">
          <a:xfrm>
            <a:off x="5743575" y="2054225"/>
            <a:ext cx="2427589" cy="459100"/>
          </a:xfrm>
          <a:prstGeom prst="rect">
            <a:avLst/>
          </a:prstGeom>
          <a:noFill/>
          <a:ln>
            <a:noFill/>
          </a:ln>
          <a:effectLst>
            <a:outerShdw dist="35921" dir="2700000" algn="ctr" rotWithShape="0">
              <a:schemeClr val="bg2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altLang="ko-KR" sz="2400" b="1">
                <a:ea typeface="굴림" panose="020B0600000101010101" pitchFamily="50" charset="-127"/>
              </a:rPr>
              <a:t>2+ Explanatory</a:t>
            </a:r>
          </a:p>
        </p:txBody>
      </p:sp>
      <p:sp>
        <p:nvSpPr>
          <p:cNvPr id="22" name="Rectangle 22"/>
          <p:cNvSpPr>
            <a:spLocks noChangeArrowheads="1"/>
          </p:cNvSpPr>
          <p:nvPr/>
        </p:nvSpPr>
        <p:spPr bwMode="auto">
          <a:xfrm>
            <a:off x="6148388" y="2389188"/>
            <a:ext cx="1495860" cy="459100"/>
          </a:xfrm>
          <a:prstGeom prst="rect">
            <a:avLst/>
          </a:prstGeom>
          <a:noFill/>
          <a:ln>
            <a:noFill/>
          </a:ln>
          <a:effectLst>
            <a:outerShdw dist="35921" dir="2700000" algn="ctr" rotWithShape="0">
              <a:schemeClr val="bg2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altLang="ko-KR" sz="2400" b="1">
                <a:ea typeface="굴림" panose="020B0600000101010101" pitchFamily="50" charset="-127"/>
              </a:rPr>
              <a:t>Variables</a:t>
            </a:r>
          </a:p>
        </p:txBody>
      </p:sp>
      <p:sp>
        <p:nvSpPr>
          <p:cNvPr id="23" name="Freeform 23"/>
          <p:cNvSpPr>
            <a:spLocks/>
          </p:cNvSpPr>
          <p:nvPr/>
        </p:nvSpPr>
        <p:spPr bwMode="auto">
          <a:xfrm>
            <a:off x="1828800" y="3279775"/>
            <a:ext cx="1370013" cy="1003300"/>
          </a:xfrm>
          <a:custGeom>
            <a:avLst/>
            <a:gdLst>
              <a:gd name="T0" fmla="*/ 0 w 863"/>
              <a:gd name="T1" fmla="*/ 631 h 632"/>
              <a:gd name="T2" fmla="*/ 862 w 863"/>
              <a:gd name="T3" fmla="*/ 631 h 632"/>
              <a:gd name="T4" fmla="*/ 862 w 863"/>
              <a:gd name="T5" fmla="*/ 0 h 632"/>
              <a:gd name="T6" fmla="*/ 0 w 863"/>
              <a:gd name="T7" fmla="*/ 0 h 632"/>
              <a:gd name="T8" fmla="*/ 0 w 863"/>
              <a:gd name="T9" fmla="*/ 631 h 6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863" h="632">
                <a:moveTo>
                  <a:pt x="0" y="631"/>
                </a:moveTo>
                <a:lnTo>
                  <a:pt x="862" y="631"/>
                </a:lnTo>
                <a:lnTo>
                  <a:pt x="862" y="0"/>
                </a:lnTo>
                <a:lnTo>
                  <a:pt x="0" y="0"/>
                </a:lnTo>
                <a:lnTo>
                  <a:pt x="0" y="631"/>
                </a:lnTo>
              </a:path>
            </a:pathLst>
          </a:custGeom>
          <a:solidFill>
            <a:srgbClr val="00DFCA"/>
          </a:solidFill>
          <a:ln w="25400" cap="rnd" cmpd="sng">
            <a:solidFill>
              <a:srgbClr val="1A1A1A"/>
            </a:solidFill>
            <a:prstDash val="solid"/>
            <a:round/>
            <a:headEnd type="none" w="med" len="med"/>
            <a:tailEnd type="none" w="med" len="med"/>
          </a:ln>
          <a:effectLst>
            <a:outerShdw dist="35921" dir="2700000" algn="ctr" rotWithShape="0">
              <a:schemeClr val="bg2"/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4" name="Rectangle 24"/>
          <p:cNvSpPr>
            <a:spLocks noChangeArrowheads="1"/>
          </p:cNvSpPr>
          <p:nvPr/>
        </p:nvSpPr>
        <p:spPr bwMode="auto">
          <a:xfrm>
            <a:off x="1922463" y="3552825"/>
            <a:ext cx="1173399" cy="459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altLang="ko-KR" sz="2400" b="1">
                <a:ea typeface="굴림" panose="020B0600000101010101" pitchFamily="50" charset="-127"/>
              </a:rPr>
              <a:t>Simple</a:t>
            </a:r>
          </a:p>
        </p:txBody>
      </p:sp>
      <p:sp>
        <p:nvSpPr>
          <p:cNvPr id="25" name="Freeform 25"/>
          <p:cNvSpPr>
            <a:spLocks/>
          </p:cNvSpPr>
          <p:nvPr/>
        </p:nvSpPr>
        <p:spPr bwMode="auto">
          <a:xfrm>
            <a:off x="5934075" y="3279775"/>
            <a:ext cx="1370013" cy="1003300"/>
          </a:xfrm>
          <a:custGeom>
            <a:avLst/>
            <a:gdLst>
              <a:gd name="T0" fmla="*/ 0 w 863"/>
              <a:gd name="T1" fmla="*/ 631 h 632"/>
              <a:gd name="T2" fmla="*/ 862 w 863"/>
              <a:gd name="T3" fmla="*/ 631 h 632"/>
              <a:gd name="T4" fmla="*/ 862 w 863"/>
              <a:gd name="T5" fmla="*/ 0 h 632"/>
              <a:gd name="T6" fmla="*/ 0 w 863"/>
              <a:gd name="T7" fmla="*/ 0 h 632"/>
              <a:gd name="T8" fmla="*/ 0 w 863"/>
              <a:gd name="T9" fmla="*/ 631 h 6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863" h="632">
                <a:moveTo>
                  <a:pt x="0" y="631"/>
                </a:moveTo>
                <a:lnTo>
                  <a:pt x="862" y="631"/>
                </a:lnTo>
                <a:lnTo>
                  <a:pt x="862" y="0"/>
                </a:lnTo>
                <a:lnTo>
                  <a:pt x="0" y="0"/>
                </a:lnTo>
                <a:lnTo>
                  <a:pt x="0" y="631"/>
                </a:lnTo>
              </a:path>
            </a:pathLst>
          </a:custGeom>
          <a:solidFill>
            <a:srgbClr val="00DFCA"/>
          </a:solidFill>
          <a:ln w="25400" cap="rnd" cmpd="sng">
            <a:solidFill>
              <a:srgbClr val="1A1A1A"/>
            </a:solidFill>
            <a:prstDash val="solid"/>
            <a:round/>
            <a:headEnd type="none" w="med" len="med"/>
            <a:tailEnd type="none" w="med" len="med"/>
          </a:ln>
          <a:effectLst>
            <a:outerShdw dist="35921" dir="2700000" algn="ctr" rotWithShape="0">
              <a:schemeClr val="bg2"/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6" name="Rectangle 26"/>
          <p:cNvSpPr>
            <a:spLocks noChangeArrowheads="1"/>
          </p:cNvSpPr>
          <p:nvPr/>
        </p:nvSpPr>
        <p:spPr bwMode="auto">
          <a:xfrm>
            <a:off x="5953125" y="3543300"/>
            <a:ext cx="1402629" cy="459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altLang="ko-KR" sz="2400" b="1">
                <a:ea typeface="굴림" panose="020B0600000101010101" pitchFamily="50" charset="-127"/>
              </a:rPr>
              <a:t>Multiple</a:t>
            </a:r>
          </a:p>
        </p:txBody>
      </p:sp>
      <p:sp>
        <p:nvSpPr>
          <p:cNvPr id="27" name="Freeform 27"/>
          <p:cNvSpPr>
            <a:spLocks/>
          </p:cNvSpPr>
          <p:nvPr/>
        </p:nvSpPr>
        <p:spPr bwMode="auto">
          <a:xfrm>
            <a:off x="5021263" y="4787900"/>
            <a:ext cx="1004887" cy="1003300"/>
          </a:xfrm>
          <a:custGeom>
            <a:avLst/>
            <a:gdLst>
              <a:gd name="T0" fmla="*/ 0 w 633"/>
              <a:gd name="T1" fmla="*/ 631 h 632"/>
              <a:gd name="T2" fmla="*/ 632 w 633"/>
              <a:gd name="T3" fmla="*/ 631 h 632"/>
              <a:gd name="T4" fmla="*/ 632 w 633"/>
              <a:gd name="T5" fmla="*/ 0 h 632"/>
              <a:gd name="T6" fmla="*/ 0 w 633"/>
              <a:gd name="T7" fmla="*/ 0 h 632"/>
              <a:gd name="T8" fmla="*/ 0 w 633"/>
              <a:gd name="T9" fmla="*/ 631 h 6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633" h="632">
                <a:moveTo>
                  <a:pt x="0" y="631"/>
                </a:moveTo>
                <a:lnTo>
                  <a:pt x="632" y="631"/>
                </a:lnTo>
                <a:lnTo>
                  <a:pt x="632" y="0"/>
                </a:lnTo>
                <a:lnTo>
                  <a:pt x="0" y="0"/>
                </a:lnTo>
                <a:lnTo>
                  <a:pt x="0" y="631"/>
                </a:lnTo>
              </a:path>
            </a:pathLst>
          </a:custGeom>
          <a:solidFill>
            <a:srgbClr val="00DFCA"/>
          </a:solidFill>
          <a:ln w="25400" cap="rnd" cmpd="sng">
            <a:solidFill>
              <a:srgbClr val="1A1A1A"/>
            </a:solidFill>
            <a:prstDash val="solid"/>
            <a:round/>
            <a:headEnd type="none" w="med" len="med"/>
            <a:tailEnd type="none" w="med" len="med"/>
          </a:ln>
          <a:effectLst>
            <a:outerShdw dist="35921" dir="2700000" algn="ctr" rotWithShape="0">
              <a:schemeClr val="bg2"/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8" name="Rectangle 28"/>
          <p:cNvSpPr>
            <a:spLocks noChangeArrowheads="1"/>
          </p:cNvSpPr>
          <p:nvPr/>
        </p:nvSpPr>
        <p:spPr bwMode="auto">
          <a:xfrm>
            <a:off x="4973638" y="5060950"/>
            <a:ext cx="1070807" cy="459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altLang="ko-KR" sz="2400" b="1">
                <a:ea typeface="굴림" panose="020B0600000101010101" pitchFamily="50" charset="-127"/>
              </a:rPr>
              <a:t>Linear</a:t>
            </a:r>
          </a:p>
        </p:txBody>
      </p:sp>
      <p:sp>
        <p:nvSpPr>
          <p:cNvPr id="29" name="Rectangle 29"/>
          <p:cNvSpPr>
            <a:spLocks noChangeArrowheads="1"/>
          </p:cNvSpPr>
          <p:nvPr/>
        </p:nvSpPr>
        <p:spPr bwMode="auto">
          <a:xfrm>
            <a:off x="969963" y="2054225"/>
            <a:ext cx="2206374" cy="459100"/>
          </a:xfrm>
          <a:prstGeom prst="rect">
            <a:avLst/>
          </a:prstGeom>
          <a:noFill/>
          <a:ln>
            <a:noFill/>
          </a:ln>
          <a:effectLst>
            <a:outerShdw dist="35921" dir="2700000" algn="ctr" rotWithShape="0">
              <a:schemeClr val="bg2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altLang="ko-KR" sz="2400" b="1">
                <a:ea typeface="굴림" panose="020B0600000101010101" pitchFamily="50" charset="-127"/>
              </a:rPr>
              <a:t>1 Explanatory</a:t>
            </a:r>
          </a:p>
        </p:txBody>
      </p:sp>
      <p:sp>
        <p:nvSpPr>
          <p:cNvPr id="30" name="Rectangle 30"/>
          <p:cNvSpPr>
            <a:spLocks noChangeArrowheads="1"/>
          </p:cNvSpPr>
          <p:nvPr/>
        </p:nvSpPr>
        <p:spPr bwMode="auto">
          <a:xfrm>
            <a:off x="1371600" y="2389188"/>
            <a:ext cx="1353192" cy="459100"/>
          </a:xfrm>
          <a:prstGeom prst="rect">
            <a:avLst/>
          </a:prstGeom>
          <a:noFill/>
          <a:ln>
            <a:noFill/>
          </a:ln>
          <a:effectLst>
            <a:outerShdw dist="35921" dir="2700000" algn="ctr" rotWithShape="0">
              <a:schemeClr val="bg2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altLang="ko-KR" sz="2400" b="1">
                <a:ea typeface="굴림" panose="020B0600000101010101" pitchFamily="50" charset="-127"/>
              </a:rPr>
              <a:t>Variable</a:t>
            </a:r>
          </a:p>
        </p:txBody>
      </p:sp>
      <p:sp>
        <p:nvSpPr>
          <p:cNvPr id="31" name="Freeform 31"/>
          <p:cNvSpPr>
            <a:spLocks/>
          </p:cNvSpPr>
          <p:nvPr/>
        </p:nvSpPr>
        <p:spPr bwMode="auto">
          <a:xfrm>
            <a:off x="7200900" y="4786313"/>
            <a:ext cx="1006475" cy="1003300"/>
          </a:xfrm>
          <a:custGeom>
            <a:avLst/>
            <a:gdLst>
              <a:gd name="T0" fmla="*/ 0 w 634"/>
              <a:gd name="T1" fmla="*/ 631 h 632"/>
              <a:gd name="T2" fmla="*/ 633 w 634"/>
              <a:gd name="T3" fmla="*/ 631 h 632"/>
              <a:gd name="T4" fmla="*/ 633 w 634"/>
              <a:gd name="T5" fmla="*/ 0 h 632"/>
              <a:gd name="T6" fmla="*/ 0 w 634"/>
              <a:gd name="T7" fmla="*/ 0 h 632"/>
              <a:gd name="T8" fmla="*/ 0 w 634"/>
              <a:gd name="T9" fmla="*/ 631 h 6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634" h="632">
                <a:moveTo>
                  <a:pt x="0" y="631"/>
                </a:moveTo>
                <a:lnTo>
                  <a:pt x="633" y="631"/>
                </a:lnTo>
                <a:lnTo>
                  <a:pt x="633" y="0"/>
                </a:lnTo>
                <a:lnTo>
                  <a:pt x="0" y="0"/>
                </a:lnTo>
                <a:lnTo>
                  <a:pt x="0" y="631"/>
                </a:lnTo>
              </a:path>
            </a:pathLst>
          </a:custGeom>
          <a:solidFill>
            <a:srgbClr val="00DFCA"/>
          </a:solidFill>
          <a:ln w="25400" cap="rnd" cmpd="sng">
            <a:solidFill>
              <a:srgbClr val="1A1A1A"/>
            </a:solidFill>
            <a:prstDash val="solid"/>
            <a:round/>
            <a:headEnd type="none" w="med" len="med"/>
            <a:tailEnd type="none" w="med" len="med"/>
          </a:ln>
          <a:effectLst>
            <a:outerShdw dist="35921" dir="2700000" algn="ctr" rotWithShape="0">
              <a:schemeClr val="bg2"/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2" name="Rectangle 32"/>
          <p:cNvSpPr>
            <a:spLocks noChangeArrowheads="1"/>
          </p:cNvSpPr>
          <p:nvPr/>
        </p:nvSpPr>
        <p:spPr bwMode="auto">
          <a:xfrm>
            <a:off x="7267575" y="4876800"/>
            <a:ext cx="932949" cy="459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altLang="ko-KR" sz="2400" b="1">
                <a:ea typeface="굴림" panose="020B0600000101010101" pitchFamily="50" charset="-127"/>
              </a:rPr>
              <a:t>Non-</a:t>
            </a:r>
          </a:p>
        </p:txBody>
      </p:sp>
      <p:sp>
        <p:nvSpPr>
          <p:cNvPr id="33" name="Rectangle 33"/>
          <p:cNvSpPr>
            <a:spLocks noChangeArrowheads="1"/>
          </p:cNvSpPr>
          <p:nvPr/>
        </p:nvSpPr>
        <p:spPr bwMode="auto">
          <a:xfrm>
            <a:off x="7154863" y="5241925"/>
            <a:ext cx="1070807" cy="459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altLang="ko-KR" sz="2400" b="1">
                <a:ea typeface="굴림" panose="020B0600000101010101" pitchFamily="50" charset="-127"/>
              </a:rPr>
              <a:t>Linear</a:t>
            </a:r>
          </a:p>
        </p:txBody>
      </p:sp>
      <p:sp>
        <p:nvSpPr>
          <p:cNvPr id="34" name="Freeform 34"/>
          <p:cNvSpPr>
            <a:spLocks/>
          </p:cNvSpPr>
          <p:nvPr/>
        </p:nvSpPr>
        <p:spPr bwMode="auto">
          <a:xfrm>
            <a:off x="6608763" y="4279900"/>
            <a:ext cx="1096962" cy="365125"/>
          </a:xfrm>
          <a:custGeom>
            <a:avLst/>
            <a:gdLst>
              <a:gd name="T0" fmla="*/ 690 w 691"/>
              <a:gd name="T1" fmla="*/ 229 h 230"/>
              <a:gd name="T2" fmla="*/ 690 w 691"/>
              <a:gd name="T3" fmla="*/ 139 h 230"/>
              <a:gd name="T4" fmla="*/ 0 w 691"/>
              <a:gd name="T5" fmla="*/ 139 h 230"/>
              <a:gd name="T6" fmla="*/ 0 w 691"/>
              <a:gd name="T7" fmla="*/ 0 h 23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691" h="230">
                <a:moveTo>
                  <a:pt x="690" y="229"/>
                </a:moveTo>
                <a:lnTo>
                  <a:pt x="690" y="139"/>
                </a:lnTo>
                <a:lnTo>
                  <a:pt x="0" y="139"/>
                </a:lnTo>
                <a:lnTo>
                  <a:pt x="0" y="0"/>
                </a:lnTo>
              </a:path>
            </a:pathLst>
          </a:custGeom>
          <a:noFill/>
          <a:ln w="25400" cap="rnd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dist="35921" dir="2700000" algn="ctr" rotWithShape="0">
              <a:schemeClr val="bg2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35" name="Freeform 35"/>
          <p:cNvSpPr>
            <a:spLocks/>
          </p:cNvSpPr>
          <p:nvPr/>
        </p:nvSpPr>
        <p:spPr bwMode="auto">
          <a:xfrm>
            <a:off x="7621588" y="4625975"/>
            <a:ext cx="152400" cy="152400"/>
          </a:xfrm>
          <a:custGeom>
            <a:avLst/>
            <a:gdLst>
              <a:gd name="T0" fmla="*/ 95 w 96"/>
              <a:gd name="T1" fmla="*/ 0 h 96"/>
              <a:gd name="T2" fmla="*/ 49 w 96"/>
              <a:gd name="T3" fmla="*/ 95 h 96"/>
              <a:gd name="T4" fmla="*/ 0 w 96"/>
              <a:gd name="T5" fmla="*/ 0 h 96"/>
              <a:gd name="T6" fmla="*/ 95 w 96"/>
              <a:gd name="T7" fmla="*/ 0 h 9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96" h="96">
                <a:moveTo>
                  <a:pt x="95" y="0"/>
                </a:moveTo>
                <a:lnTo>
                  <a:pt x="49" y="95"/>
                </a:lnTo>
                <a:lnTo>
                  <a:pt x="0" y="0"/>
                </a:lnTo>
                <a:lnTo>
                  <a:pt x="95" y="0"/>
                </a:lnTo>
              </a:path>
            </a:pathLst>
          </a:custGeom>
          <a:solidFill>
            <a:srgbClr val="FFFFFF"/>
          </a:solidFill>
          <a:ln w="12700" cap="rnd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dist="35921" dir="2700000" algn="ctr" rotWithShape="0">
              <a:schemeClr val="bg2"/>
            </a:outerShdw>
          </a:effectLst>
        </p:spPr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29067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선형 회귀 분석</a:t>
            </a:r>
          </a:p>
        </p:txBody>
      </p:sp>
      <p:grpSp>
        <p:nvGrpSpPr>
          <p:cNvPr id="17" name="그룹 16"/>
          <p:cNvGrpSpPr/>
          <p:nvPr/>
        </p:nvGrpSpPr>
        <p:grpSpPr>
          <a:xfrm>
            <a:off x="2169952" y="2070988"/>
            <a:ext cx="4616742" cy="3415411"/>
            <a:chOff x="1968616" y="2314270"/>
            <a:chExt cx="3352800" cy="2438400"/>
          </a:xfrm>
        </p:grpSpPr>
        <p:sp>
          <p:nvSpPr>
            <p:cNvPr id="4" name="Line 155"/>
            <p:cNvSpPr>
              <a:spLocks noChangeShapeType="1"/>
            </p:cNvSpPr>
            <p:nvPr/>
          </p:nvSpPr>
          <p:spPr bwMode="auto">
            <a:xfrm>
              <a:off x="1968616" y="2314270"/>
              <a:ext cx="0" cy="243840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5" name="Line 156"/>
            <p:cNvSpPr>
              <a:spLocks noChangeShapeType="1"/>
            </p:cNvSpPr>
            <p:nvPr/>
          </p:nvSpPr>
          <p:spPr bwMode="auto">
            <a:xfrm>
              <a:off x="1968616" y="4752670"/>
              <a:ext cx="335280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6" name="Oval 157"/>
            <p:cNvSpPr>
              <a:spLocks noChangeArrowheads="1"/>
            </p:cNvSpPr>
            <p:nvPr/>
          </p:nvSpPr>
          <p:spPr bwMode="auto">
            <a:xfrm>
              <a:off x="2806816" y="3685870"/>
              <a:ext cx="76200" cy="76200"/>
            </a:xfrm>
            <a:prstGeom prst="ellipse">
              <a:avLst/>
            </a:prstGeom>
            <a:solidFill>
              <a:schemeClr val="tx1"/>
            </a:solidFill>
            <a:ln w="635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7" name="Oval 158"/>
            <p:cNvSpPr>
              <a:spLocks noChangeArrowheads="1"/>
            </p:cNvSpPr>
            <p:nvPr/>
          </p:nvSpPr>
          <p:spPr bwMode="auto">
            <a:xfrm>
              <a:off x="2425816" y="3838270"/>
              <a:ext cx="76200" cy="76200"/>
            </a:xfrm>
            <a:prstGeom prst="ellipse">
              <a:avLst/>
            </a:prstGeom>
            <a:solidFill>
              <a:schemeClr val="tx1"/>
            </a:solidFill>
            <a:ln w="635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8" name="Oval 159"/>
            <p:cNvSpPr>
              <a:spLocks noChangeArrowheads="1"/>
            </p:cNvSpPr>
            <p:nvPr/>
          </p:nvSpPr>
          <p:spPr bwMode="auto">
            <a:xfrm>
              <a:off x="2959216" y="3304870"/>
              <a:ext cx="76200" cy="76200"/>
            </a:xfrm>
            <a:prstGeom prst="ellipse">
              <a:avLst/>
            </a:prstGeom>
            <a:solidFill>
              <a:schemeClr val="tx1"/>
            </a:solidFill>
            <a:ln w="635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9" name="Oval 160"/>
            <p:cNvSpPr>
              <a:spLocks noChangeArrowheads="1"/>
            </p:cNvSpPr>
            <p:nvPr/>
          </p:nvSpPr>
          <p:spPr bwMode="auto">
            <a:xfrm>
              <a:off x="3340216" y="3381070"/>
              <a:ext cx="76200" cy="76200"/>
            </a:xfrm>
            <a:prstGeom prst="ellipse">
              <a:avLst/>
            </a:prstGeom>
            <a:solidFill>
              <a:schemeClr val="tx1"/>
            </a:solidFill>
            <a:ln w="635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10" name="Oval 162"/>
            <p:cNvSpPr>
              <a:spLocks noChangeArrowheads="1"/>
            </p:cNvSpPr>
            <p:nvPr/>
          </p:nvSpPr>
          <p:spPr bwMode="auto">
            <a:xfrm>
              <a:off x="3035416" y="3152470"/>
              <a:ext cx="76200" cy="76200"/>
            </a:xfrm>
            <a:prstGeom prst="ellipse">
              <a:avLst/>
            </a:prstGeom>
            <a:solidFill>
              <a:schemeClr val="tx1"/>
            </a:solidFill>
            <a:ln w="635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11" name="Oval 163"/>
            <p:cNvSpPr>
              <a:spLocks noChangeArrowheads="1"/>
            </p:cNvSpPr>
            <p:nvPr/>
          </p:nvSpPr>
          <p:spPr bwMode="auto">
            <a:xfrm>
              <a:off x="3416416" y="3228670"/>
              <a:ext cx="76200" cy="76200"/>
            </a:xfrm>
            <a:prstGeom prst="ellipse">
              <a:avLst/>
            </a:prstGeom>
            <a:solidFill>
              <a:schemeClr val="tx1"/>
            </a:solidFill>
            <a:ln w="635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12" name="Oval 167"/>
            <p:cNvSpPr>
              <a:spLocks noChangeArrowheads="1"/>
            </p:cNvSpPr>
            <p:nvPr/>
          </p:nvSpPr>
          <p:spPr bwMode="auto">
            <a:xfrm>
              <a:off x="3721216" y="3214382"/>
              <a:ext cx="76200" cy="76200"/>
            </a:xfrm>
            <a:prstGeom prst="ellipse">
              <a:avLst/>
            </a:prstGeom>
            <a:solidFill>
              <a:schemeClr val="tx1"/>
            </a:solidFill>
            <a:ln w="635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13" name="Oval 168"/>
            <p:cNvSpPr>
              <a:spLocks noChangeArrowheads="1"/>
            </p:cNvSpPr>
            <p:nvPr/>
          </p:nvSpPr>
          <p:spPr bwMode="auto">
            <a:xfrm>
              <a:off x="3645016" y="2985782"/>
              <a:ext cx="76200" cy="76200"/>
            </a:xfrm>
            <a:prstGeom prst="ellipse">
              <a:avLst/>
            </a:prstGeom>
            <a:solidFill>
              <a:schemeClr val="tx1"/>
            </a:solidFill>
            <a:ln w="635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14" name="Oval 170"/>
            <p:cNvSpPr>
              <a:spLocks noChangeArrowheads="1"/>
            </p:cNvSpPr>
            <p:nvPr/>
          </p:nvSpPr>
          <p:spPr bwMode="auto">
            <a:xfrm>
              <a:off x="2806816" y="3442982"/>
              <a:ext cx="76200" cy="76200"/>
            </a:xfrm>
            <a:prstGeom prst="ellipse">
              <a:avLst/>
            </a:prstGeom>
            <a:solidFill>
              <a:schemeClr val="tx1"/>
            </a:solidFill>
            <a:ln w="635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15" name="Oval 171"/>
            <p:cNvSpPr>
              <a:spLocks noChangeArrowheads="1"/>
            </p:cNvSpPr>
            <p:nvPr/>
          </p:nvSpPr>
          <p:spPr bwMode="auto">
            <a:xfrm>
              <a:off x="2197216" y="3900182"/>
              <a:ext cx="76200" cy="76200"/>
            </a:xfrm>
            <a:prstGeom prst="ellipse">
              <a:avLst/>
            </a:prstGeom>
            <a:solidFill>
              <a:schemeClr val="tx1"/>
            </a:solidFill>
            <a:ln w="635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16" name="Oval 172"/>
            <p:cNvSpPr>
              <a:spLocks noChangeArrowheads="1"/>
            </p:cNvSpPr>
            <p:nvPr/>
          </p:nvSpPr>
          <p:spPr bwMode="auto">
            <a:xfrm>
              <a:off x="3873616" y="2680982"/>
              <a:ext cx="76200" cy="76200"/>
            </a:xfrm>
            <a:prstGeom prst="ellipse">
              <a:avLst/>
            </a:prstGeom>
            <a:solidFill>
              <a:schemeClr val="tx1"/>
            </a:solidFill>
            <a:ln w="635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ko-KR" altLang="en-US"/>
            </a:p>
          </p:txBody>
        </p:sp>
      </p:grpSp>
      <p:sp>
        <p:nvSpPr>
          <p:cNvPr id="18" name="TextBox 17"/>
          <p:cNvSpPr txBox="1"/>
          <p:nvPr/>
        </p:nvSpPr>
        <p:spPr>
          <a:xfrm>
            <a:off x="5989739" y="5679347"/>
            <a:ext cx="25256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mtClean="0"/>
              <a:t>공부에 투자한 시간</a:t>
            </a:r>
            <a:endParaRPr lang="ko-KR" altLang="en-US"/>
          </a:p>
        </p:txBody>
      </p:sp>
      <p:sp>
        <p:nvSpPr>
          <p:cNvPr id="20" name="TextBox 19"/>
          <p:cNvSpPr txBox="1"/>
          <p:nvPr/>
        </p:nvSpPr>
        <p:spPr>
          <a:xfrm>
            <a:off x="1705349" y="1872818"/>
            <a:ext cx="461665" cy="1955048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ko-KR" altLang="en-US" smtClean="0"/>
              <a:t>성적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577837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선형 회귀 분석</a:t>
            </a:r>
          </a:p>
        </p:txBody>
      </p:sp>
      <p:grpSp>
        <p:nvGrpSpPr>
          <p:cNvPr id="24" name="그룹 23"/>
          <p:cNvGrpSpPr/>
          <p:nvPr/>
        </p:nvGrpSpPr>
        <p:grpSpPr>
          <a:xfrm>
            <a:off x="1859560" y="2104545"/>
            <a:ext cx="6940492" cy="3541246"/>
            <a:chOff x="2438400" y="1081088"/>
            <a:chExt cx="5495925" cy="2438400"/>
          </a:xfrm>
        </p:grpSpPr>
        <p:sp>
          <p:nvSpPr>
            <p:cNvPr id="3" name="Line 4"/>
            <p:cNvSpPr>
              <a:spLocks noChangeShapeType="1"/>
            </p:cNvSpPr>
            <p:nvPr/>
          </p:nvSpPr>
          <p:spPr bwMode="auto">
            <a:xfrm>
              <a:off x="2438400" y="1081088"/>
              <a:ext cx="0" cy="243840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" name="Line 5"/>
            <p:cNvSpPr>
              <a:spLocks noChangeShapeType="1"/>
            </p:cNvSpPr>
            <p:nvPr/>
          </p:nvSpPr>
          <p:spPr bwMode="auto">
            <a:xfrm>
              <a:off x="2438400" y="3519488"/>
              <a:ext cx="335280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5" name="Oval 6"/>
            <p:cNvSpPr>
              <a:spLocks noChangeArrowheads="1"/>
            </p:cNvSpPr>
            <p:nvPr/>
          </p:nvSpPr>
          <p:spPr bwMode="auto">
            <a:xfrm>
              <a:off x="3276600" y="2452688"/>
              <a:ext cx="76200" cy="76200"/>
            </a:xfrm>
            <a:prstGeom prst="ellipse">
              <a:avLst/>
            </a:prstGeom>
            <a:solidFill>
              <a:schemeClr val="tx1"/>
            </a:solidFill>
            <a:ln w="635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6" name="Oval 7"/>
            <p:cNvSpPr>
              <a:spLocks noChangeArrowheads="1"/>
            </p:cNvSpPr>
            <p:nvPr/>
          </p:nvSpPr>
          <p:spPr bwMode="auto">
            <a:xfrm>
              <a:off x="2895600" y="2605088"/>
              <a:ext cx="76200" cy="76200"/>
            </a:xfrm>
            <a:prstGeom prst="ellipse">
              <a:avLst/>
            </a:prstGeom>
            <a:solidFill>
              <a:schemeClr val="tx1"/>
            </a:solidFill>
            <a:ln w="635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7" name="Oval 8"/>
            <p:cNvSpPr>
              <a:spLocks noChangeArrowheads="1"/>
            </p:cNvSpPr>
            <p:nvPr/>
          </p:nvSpPr>
          <p:spPr bwMode="auto">
            <a:xfrm>
              <a:off x="3429000" y="2071688"/>
              <a:ext cx="76200" cy="76200"/>
            </a:xfrm>
            <a:prstGeom prst="ellipse">
              <a:avLst/>
            </a:prstGeom>
            <a:solidFill>
              <a:schemeClr val="tx1"/>
            </a:solidFill>
            <a:ln w="635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8" name="Oval 9"/>
            <p:cNvSpPr>
              <a:spLocks noChangeArrowheads="1"/>
            </p:cNvSpPr>
            <p:nvPr/>
          </p:nvSpPr>
          <p:spPr bwMode="auto">
            <a:xfrm>
              <a:off x="3810000" y="2147888"/>
              <a:ext cx="76200" cy="76200"/>
            </a:xfrm>
            <a:prstGeom prst="ellipse">
              <a:avLst/>
            </a:prstGeom>
            <a:solidFill>
              <a:schemeClr val="tx1"/>
            </a:solidFill>
            <a:ln w="635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9" name="Oval 10"/>
            <p:cNvSpPr>
              <a:spLocks noChangeArrowheads="1"/>
            </p:cNvSpPr>
            <p:nvPr/>
          </p:nvSpPr>
          <p:spPr bwMode="auto">
            <a:xfrm>
              <a:off x="3505200" y="1770063"/>
              <a:ext cx="76200" cy="76200"/>
            </a:xfrm>
            <a:prstGeom prst="ellipse">
              <a:avLst/>
            </a:prstGeom>
            <a:solidFill>
              <a:schemeClr val="tx1"/>
            </a:solidFill>
            <a:ln w="635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10" name="Oval 11"/>
            <p:cNvSpPr>
              <a:spLocks noChangeArrowheads="1"/>
            </p:cNvSpPr>
            <p:nvPr/>
          </p:nvSpPr>
          <p:spPr bwMode="auto">
            <a:xfrm>
              <a:off x="3886200" y="1995488"/>
              <a:ext cx="76200" cy="76200"/>
            </a:xfrm>
            <a:prstGeom prst="ellipse">
              <a:avLst/>
            </a:prstGeom>
            <a:solidFill>
              <a:schemeClr val="tx1"/>
            </a:solidFill>
            <a:ln w="635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11" name="Oval 14"/>
            <p:cNvSpPr>
              <a:spLocks noChangeArrowheads="1"/>
            </p:cNvSpPr>
            <p:nvPr/>
          </p:nvSpPr>
          <p:spPr bwMode="auto">
            <a:xfrm>
              <a:off x="4191000" y="1981200"/>
              <a:ext cx="76200" cy="76200"/>
            </a:xfrm>
            <a:prstGeom prst="ellipse">
              <a:avLst/>
            </a:prstGeom>
            <a:solidFill>
              <a:schemeClr val="tx1"/>
            </a:solidFill>
            <a:ln w="635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12" name="Oval 15"/>
            <p:cNvSpPr>
              <a:spLocks noChangeArrowheads="1"/>
            </p:cNvSpPr>
            <p:nvPr/>
          </p:nvSpPr>
          <p:spPr bwMode="auto">
            <a:xfrm>
              <a:off x="4114800" y="1752600"/>
              <a:ext cx="76200" cy="76200"/>
            </a:xfrm>
            <a:prstGeom prst="ellipse">
              <a:avLst/>
            </a:prstGeom>
            <a:solidFill>
              <a:schemeClr val="tx1"/>
            </a:solidFill>
            <a:ln w="635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13" name="Oval 17"/>
            <p:cNvSpPr>
              <a:spLocks noChangeArrowheads="1"/>
            </p:cNvSpPr>
            <p:nvPr/>
          </p:nvSpPr>
          <p:spPr bwMode="auto">
            <a:xfrm>
              <a:off x="3276600" y="2209800"/>
              <a:ext cx="76200" cy="76200"/>
            </a:xfrm>
            <a:prstGeom prst="ellipse">
              <a:avLst/>
            </a:prstGeom>
            <a:solidFill>
              <a:schemeClr val="tx1"/>
            </a:solidFill>
            <a:ln w="635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14" name="Oval 18"/>
            <p:cNvSpPr>
              <a:spLocks noChangeArrowheads="1"/>
            </p:cNvSpPr>
            <p:nvPr/>
          </p:nvSpPr>
          <p:spPr bwMode="auto">
            <a:xfrm>
              <a:off x="2667000" y="2667000"/>
              <a:ext cx="76200" cy="76200"/>
            </a:xfrm>
            <a:prstGeom prst="ellipse">
              <a:avLst/>
            </a:prstGeom>
            <a:solidFill>
              <a:schemeClr val="tx1"/>
            </a:solidFill>
            <a:ln w="635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15" name="Oval 19"/>
            <p:cNvSpPr>
              <a:spLocks noChangeArrowheads="1"/>
            </p:cNvSpPr>
            <p:nvPr/>
          </p:nvSpPr>
          <p:spPr bwMode="auto">
            <a:xfrm>
              <a:off x="4343400" y="1447800"/>
              <a:ext cx="76200" cy="76200"/>
            </a:xfrm>
            <a:prstGeom prst="ellipse">
              <a:avLst/>
            </a:prstGeom>
            <a:solidFill>
              <a:schemeClr val="tx1"/>
            </a:solidFill>
            <a:ln w="635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16" name="Line 21"/>
            <p:cNvSpPr>
              <a:spLocks noChangeShapeType="1"/>
            </p:cNvSpPr>
            <p:nvPr/>
          </p:nvSpPr>
          <p:spPr bwMode="auto">
            <a:xfrm flipV="1">
              <a:off x="2438400" y="1371600"/>
              <a:ext cx="2286000" cy="1676400"/>
            </a:xfrm>
            <a:prstGeom prst="line">
              <a:avLst/>
            </a:prstGeom>
            <a:noFill/>
            <a:ln w="1270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7" name="Rectangle 22"/>
            <p:cNvSpPr>
              <a:spLocks noChangeArrowheads="1"/>
            </p:cNvSpPr>
            <p:nvPr/>
          </p:nvSpPr>
          <p:spPr bwMode="auto">
            <a:xfrm>
              <a:off x="4989513" y="1546225"/>
              <a:ext cx="2084387" cy="56515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ko-KR">
                  <a:ea typeface="굴림" panose="020B0600000101010101" pitchFamily="50" charset="-127"/>
                </a:rPr>
                <a:t>y’ = b0 + b1X ± </a:t>
              </a:r>
              <a:r>
                <a:rPr lang="ru-RU" altLang="ko-KR">
                  <a:cs typeface="Arial" panose="020B0604020202020204" pitchFamily="34" charset="0"/>
                </a:rPr>
                <a:t>є</a:t>
              </a:r>
              <a:r>
                <a:rPr lang="en-US" altLang="ko-KR">
                  <a:ea typeface="굴림" panose="020B0600000101010101" pitchFamily="50" charset="-127"/>
                </a:rPr>
                <a:t> </a:t>
              </a:r>
            </a:p>
          </p:txBody>
        </p:sp>
        <p:sp>
          <p:nvSpPr>
            <p:cNvPr id="18" name="Line 23"/>
            <p:cNvSpPr>
              <a:spLocks noChangeShapeType="1"/>
            </p:cNvSpPr>
            <p:nvPr/>
          </p:nvSpPr>
          <p:spPr bwMode="auto">
            <a:xfrm flipH="1" flipV="1">
              <a:off x="4437063" y="1627188"/>
              <a:ext cx="538162" cy="14763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9" name="Rectangle 24"/>
            <p:cNvSpPr>
              <a:spLocks noChangeArrowheads="1"/>
            </p:cNvSpPr>
            <p:nvPr/>
          </p:nvSpPr>
          <p:spPr bwMode="auto">
            <a:xfrm>
              <a:off x="3509963" y="2851150"/>
              <a:ext cx="2339975" cy="442913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ko-KR">
                  <a:ea typeface="굴림" panose="020B0600000101010101" pitchFamily="50" charset="-127"/>
                </a:rPr>
                <a:t>b0 (y intercept)</a:t>
              </a:r>
            </a:p>
          </p:txBody>
        </p:sp>
        <p:sp>
          <p:nvSpPr>
            <p:cNvPr id="20" name="Line 25"/>
            <p:cNvSpPr>
              <a:spLocks noChangeShapeType="1"/>
            </p:cNvSpPr>
            <p:nvPr/>
          </p:nvSpPr>
          <p:spPr bwMode="auto">
            <a:xfrm flipH="1">
              <a:off x="2474913" y="3052763"/>
              <a:ext cx="1047750" cy="127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1" name="Rectangle 26"/>
            <p:cNvSpPr>
              <a:spLocks noChangeArrowheads="1"/>
            </p:cNvSpPr>
            <p:nvPr/>
          </p:nvSpPr>
          <p:spPr bwMode="auto">
            <a:xfrm>
              <a:off x="6172200" y="2420938"/>
              <a:ext cx="1762125" cy="792162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en-US" altLang="ko-KR">
                <a:ea typeface="굴림" panose="020B0600000101010101" pitchFamily="50" charset="-127"/>
              </a:endParaRPr>
            </a:p>
            <a:p>
              <a:pPr algn="ctr"/>
              <a:r>
                <a:rPr lang="en-US" altLang="ko-KR">
                  <a:ea typeface="굴림" panose="020B0600000101010101" pitchFamily="50" charset="-127"/>
                </a:rPr>
                <a:t>B1 = slope</a:t>
              </a:r>
            </a:p>
            <a:p>
              <a:pPr algn="ctr"/>
              <a:r>
                <a:rPr lang="en-US" altLang="ko-KR">
                  <a:ea typeface="굴림" panose="020B0600000101010101" pitchFamily="50" charset="-127"/>
                </a:rPr>
                <a:t>= </a:t>
              </a:r>
              <a:r>
                <a:rPr lang="en-US" altLang="ko-KR">
                  <a:ea typeface="굴림" panose="020B0600000101010101" pitchFamily="50" charset="-127"/>
                  <a:cs typeface="Arial" panose="020B0604020202020204" pitchFamily="34" charset="0"/>
                </a:rPr>
                <a:t>∆y/ </a:t>
              </a:r>
              <a:r>
                <a:rPr lang="en-US" altLang="ko-KR">
                  <a:ea typeface="굴림" panose="020B0600000101010101" pitchFamily="50" charset="-127"/>
                </a:rPr>
                <a:t>∆x</a:t>
              </a:r>
              <a:endParaRPr lang="en-US" altLang="ko-KR">
                <a:ea typeface="굴림" panose="020B0600000101010101" pitchFamily="50" charset="-127"/>
                <a:cs typeface="Arial" panose="020B0604020202020204" pitchFamily="34" charset="0"/>
              </a:endParaRPr>
            </a:p>
            <a:p>
              <a:pPr algn="ctr"/>
              <a:endParaRPr lang="en-US" altLang="ko-KR">
                <a:ea typeface="굴림" panose="020B0600000101010101" pitchFamily="50" charset="-127"/>
              </a:endParaRPr>
            </a:p>
          </p:txBody>
        </p:sp>
        <p:sp>
          <p:nvSpPr>
            <p:cNvPr id="22" name="Line 27"/>
            <p:cNvSpPr>
              <a:spLocks noChangeShapeType="1"/>
            </p:cNvSpPr>
            <p:nvPr/>
          </p:nvSpPr>
          <p:spPr bwMode="auto">
            <a:xfrm>
              <a:off x="3536950" y="1868488"/>
              <a:ext cx="0" cy="35083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3" name="Rectangle 28"/>
            <p:cNvSpPr>
              <a:spLocks noChangeArrowheads="1"/>
            </p:cNvSpPr>
            <p:nvPr/>
          </p:nvSpPr>
          <p:spPr bwMode="auto">
            <a:xfrm>
              <a:off x="3481388" y="1793875"/>
              <a:ext cx="300037" cy="3667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ru-RU" altLang="ko-KR"/>
                <a:t>є</a:t>
              </a:r>
              <a:endParaRPr lang="en-US" altLang="ko-KR">
                <a:ea typeface="굴림" panose="020B0600000101010101" pitchFamily="50" charset="-127"/>
              </a:endParaRPr>
            </a:p>
          </p:txBody>
        </p:sp>
      </p:grpSp>
      <p:sp>
        <p:nvSpPr>
          <p:cNvPr id="25" name="TextBox 24"/>
          <p:cNvSpPr txBox="1"/>
          <p:nvPr/>
        </p:nvSpPr>
        <p:spPr>
          <a:xfrm>
            <a:off x="5595457" y="5645791"/>
            <a:ext cx="25256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mtClean="0"/>
              <a:t>공부에 투자한 시간</a:t>
            </a:r>
            <a:endParaRPr lang="ko-KR" altLang="en-US"/>
          </a:p>
        </p:txBody>
      </p:sp>
      <p:sp>
        <p:nvSpPr>
          <p:cNvPr id="26" name="TextBox 25"/>
          <p:cNvSpPr txBox="1"/>
          <p:nvPr/>
        </p:nvSpPr>
        <p:spPr>
          <a:xfrm>
            <a:off x="1311067" y="1839262"/>
            <a:ext cx="461665" cy="1955048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ko-KR" altLang="en-US" smtClean="0"/>
              <a:t>성적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115029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선형 회귀 분석</a:t>
            </a:r>
          </a:p>
        </p:txBody>
      </p:sp>
      <p:sp>
        <p:nvSpPr>
          <p:cNvPr id="3" name="Freeform 2"/>
          <p:cNvSpPr>
            <a:spLocks/>
          </p:cNvSpPr>
          <p:nvPr/>
        </p:nvSpPr>
        <p:spPr bwMode="auto">
          <a:xfrm>
            <a:off x="684213" y="2608976"/>
            <a:ext cx="3810000" cy="3417888"/>
          </a:xfrm>
          <a:custGeom>
            <a:avLst/>
            <a:gdLst>
              <a:gd name="T0" fmla="*/ 597 w 2400"/>
              <a:gd name="T1" fmla="*/ 117 h 2153"/>
              <a:gd name="T2" fmla="*/ 440 w 2400"/>
              <a:gd name="T3" fmla="*/ 184 h 2153"/>
              <a:gd name="T4" fmla="*/ 299 w 2400"/>
              <a:gd name="T5" fmla="*/ 269 h 2153"/>
              <a:gd name="T6" fmla="*/ 183 w 2400"/>
              <a:gd name="T7" fmla="*/ 372 h 2153"/>
              <a:gd name="T8" fmla="*/ 91 w 2400"/>
              <a:gd name="T9" fmla="*/ 490 h 2153"/>
              <a:gd name="T10" fmla="*/ 29 w 2400"/>
              <a:gd name="T11" fmla="*/ 619 h 2153"/>
              <a:gd name="T12" fmla="*/ 0 w 2400"/>
              <a:gd name="T13" fmla="*/ 752 h 2153"/>
              <a:gd name="T14" fmla="*/ 4 w 2400"/>
              <a:gd name="T15" fmla="*/ 885 h 2153"/>
              <a:gd name="T16" fmla="*/ 44 w 2400"/>
              <a:gd name="T17" fmla="*/ 1018 h 2153"/>
              <a:gd name="T18" fmla="*/ 103 w 2400"/>
              <a:gd name="T19" fmla="*/ 1168 h 2153"/>
              <a:gd name="T20" fmla="*/ 163 w 2400"/>
              <a:gd name="T21" fmla="*/ 1311 h 2153"/>
              <a:gd name="T22" fmla="*/ 217 w 2400"/>
              <a:gd name="T23" fmla="*/ 1444 h 2153"/>
              <a:gd name="T24" fmla="*/ 260 w 2400"/>
              <a:gd name="T25" fmla="*/ 1564 h 2153"/>
              <a:gd name="T26" fmla="*/ 295 w 2400"/>
              <a:gd name="T27" fmla="*/ 1659 h 2153"/>
              <a:gd name="T28" fmla="*/ 317 w 2400"/>
              <a:gd name="T29" fmla="*/ 1732 h 2153"/>
              <a:gd name="T30" fmla="*/ 329 w 2400"/>
              <a:gd name="T31" fmla="*/ 1778 h 2153"/>
              <a:gd name="T32" fmla="*/ 328 w 2400"/>
              <a:gd name="T33" fmla="*/ 1796 h 2153"/>
              <a:gd name="T34" fmla="*/ 383 w 2400"/>
              <a:gd name="T35" fmla="*/ 1890 h 2153"/>
              <a:gd name="T36" fmla="*/ 467 w 2400"/>
              <a:gd name="T37" fmla="*/ 1971 h 2153"/>
              <a:gd name="T38" fmla="*/ 581 w 2400"/>
              <a:gd name="T39" fmla="*/ 2045 h 2153"/>
              <a:gd name="T40" fmla="*/ 710 w 2400"/>
              <a:gd name="T41" fmla="*/ 2096 h 2153"/>
              <a:gd name="T42" fmla="*/ 860 w 2400"/>
              <a:gd name="T43" fmla="*/ 2135 h 2153"/>
              <a:gd name="T44" fmla="*/ 1022 w 2400"/>
              <a:gd name="T45" fmla="*/ 2152 h 2153"/>
              <a:gd name="T46" fmla="*/ 1191 w 2400"/>
              <a:gd name="T47" fmla="*/ 2149 h 2153"/>
              <a:gd name="T48" fmla="*/ 1358 w 2400"/>
              <a:gd name="T49" fmla="*/ 2127 h 2153"/>
              <a:gd name="T50" fmla="*/ 1527 w 2400"/>
              <a:gd name="T51" fmla="*/ 2084 h 2153"/>
              <a:gd name="T52" fmla="*/ 1693 w 2400"/>
              <a:gd name="T53" fmla="*/ 2026 h 2153"/>
              <a:gd name="T54" fmla="*/ 1848 w 2400"/>
              <a:gd name="T55" fmla="*/ 1960 h 2153"/>
              <a:gd name="T56" fmla="*/ 1984 w 2400"/>
              <a:gd name="T57" fmla="*/ 1880 h 2153"/>
              <a:gd name="T58" fmla="*/ 2099 w 2400"/>
              <a:gd name="T59" fmla="*/ 1794 h 2153"/>
              <a:gd name="T60" fmla="*/ 2185 w 2400"/>
              <a:gd name="T61" fmla="*/ 1705 h 2153"/>
              <a:gd name="T62" fmla="*/ 2241 w 2400"/>
              <a:gd name="T63" fmla="*/ 1613 h 2153"/>
              <a:gd name="T64" fmla="*/ 2268 w 2400"/>
              <a:gd name="T65" fmla="*/ 1522 h 2153"/>
              <a:gd name="T66" fmla="*/ 2267 w 2400"/>
              <a:gd name="T67" fmla="*/ 1437 h 2153"/>
              <a:gd name="T68" fmla="*/ 2229 w 2400"/>
              <a:gd name="T69" fmla="*/ 1329 h 2153"/>
              <a:gd name="T70" fmla="*/ 2193 w 2400"/>
              <a:gd name="T71" fmla="*/ 1199 h 2153"/>
              <a:gd name="T72" fmla="*/ 2180 w 2400"/>
              <a:gd name="T73" fmla="*/ 1076 h 2153"/>
              <a:gd name="T74" fmla="*/ 2188 w 2400"/>
              <a:gd name="T75" fmla="*/ 968 h 2153"/>
              <a:gd name="T76" fmla="*/ 2221 w 2400"/>
              <a:gd name="T77" fmla="*/ 879 h 2153"/>
              <a:gd name="T78" fmla="*/ 2270 w 2400"/>
              <a:gd name="T79" fmla="*/ 813 h 2153"/>
              <a:gd name="T80" fmla="*/ 2337 w 2400"/>
              <a:gd name="T81" fmla="*/ 780 h 2153"/>
              <a:gd name="T82" fmla="*/ 2375 w 2400"/>
              <a:gd name="T83" fmla="*/ 754 h 2153"/>
              <a:gd name="T84" fmla="*/ 2395 w 2400"/>
              <a:gd name="T85" fmla="*/ 699 h 2153"/>
              <a:gd name="T86" fmla="*/ 2399 w 2400"/>
              <a:gd name="T87" fmla="*/ 618 h 2153"/>
              <a:gd name="T88" fmla="*/ 2384 w 2400"/>
              <a:gd name="T89" fmla="*/ 521 h 2153"/>
              <a:gd name="T90" fmla="*/ 2351 w 2400"/>
              <a:gd name="T91" fmla="*/ 413 h 2153"/>
              <a:gd name="T92" fmla="*/ 2307 w 2400"/>
              <a:gd name="T93" fmla="*/ 313 h 2153"/>
              <a:gd name="T94" fmla="*/ 2236 w 2400"/>
              <a:gd name="T95" fmla="*/ 229 h 2153"/>
              <a:gd name="T96" fmla="*/ 2140 w 2400"/>
              <a:gd name="T97" fmla="*/ 156 h 2153"/>
              <a:gd name="T98" fmla="*/ 2016 w 2400"/>
              <a:gd name="T99" fmla="*/ 97 h 2153"/>
              <a:gd name="T100" fmla="*/ 1865 w 2400"/>
              <a:gd name="T101" fmla="*/ 50 h 2153"/>
              <a:gd name="T102" fmla="*/ 1696 w 2400"/>
              <a:gd name="T103" fmla="*/ 20 h 2153"/>
              <a:gd name="T104" fmla="*/ 1507 w 2400"/>
              <a:gd name="T105" fmla="*/ 2 h 2153"/>
              <a:gd name="T106" fmla="*/ 1310 w 2400"/>
              <a:gd name="T107" fmla="*/ 4 h 2153"/>
              <a:gd name="T108" fmla="*/ 1104 w 2400"/>
              <a:gd name="T109" fmla="*/ 17 h 2153"/>
              <a:gd name="T110" fmla="*/ 890 w 2400"/>
              <a:gd name="T111" fmla="*/ 48 h 2153"/>
              <a:gd name="T112" fmla="*/ 681 w 2400"/>
              <a:gd name="T113" fmla="*/ 93 h 215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</a:cxnLst>
            <a:rect l="0" t="0" r="r" b="b"/>
            <a:pathLst>
              <a:path w="2400" h="2153">
                <a:moveTo>
                  <a:pt x="681" y="93"/>
                </a:moveTo>
                <a:lnTo>
                  <a:pt x="597" y="117"/>
                </a:lnTo>
                <a:lnTo>
                  <a:pt x="516" y="147"/>
                </a:lnTo>
                <a:lnTo>
                  <a:pt x="440" y="184"/>
                </a:lnTo>
                <a:lnTo>
                  <a:pt x="365" y="224"/>
                </a:lnTo>
                <a:lnTo>
                  <a:pt x="299" y="269"/>
                </a:lnTo>
                <a:lnTo>
                  <a:pt x="237" y="319"/>
                </a:lnTo>
                <a:lnTo>
                  <a:pt x="183" y="372"/>
                </a:lnTo>
                <a:lnTo>
                  <a:pt x="132" y="431"/>
                </a:lnTo>
                <a:lnTo>
                  <a:pt x="91" y="490"/>
                </a:lnTo>
                <a:lnTo>
                  <a:pt x="55" y="553"/>
                </a:lnTo>
                <a:lnTo>
                  <a:pt x="29" y="619"/>
                </a:lnTo>
                <a:lnTo>
                  <a:pt x="10" y="685"/>
                </a:lnTo>
                <a:lnTo>
                  <a:pt x="0" y="752"/>
                </a:lnTo>
                <a:lnTo>
                  <a:pt x="0" y="820"/>
                </a:lnTo>
                <a:lnTo>
                  <a:pt x="4" y="885"/>
                </a:lnTo>
                <a:lnTo>
                  <a:pt x="19" y="951"/>
                </a:lnTo>
                <a:lnTo>
                  <a:pt x="44" y="1018"/>
                </a:lnTo>
                <a:lnTo>
                  <a:pt x="76" y="1091"/>
                </a:lnTo>
                <a:lnTo>
                  <a:pt x="103" y="1168"/>
                </a:lnTo>
                <a:lnTo>
                  <a:pt x="135" y="1240"/>
                </a:lnTo>
                <a:lnTo>
                  <a:pt x="163" y="1311"/>
                </a:lnTo>
                <a:lnTo>
                  <a:pt x="190" y="1379"/>
                </a:lnTo>
                <a:lnTo>
                  <a:pt x="217" y="1444"/>
                </a:lnTo>
                <a:lnTo>
                  <a:pt x="237" y="1506"/>
                </a:lnTo>
                <a:lnTo>
                  <a:pt x="260" y="1564"/>
                </a:lnTo>
                <a:lnTo>
                  <a:pt x="277" y="1613"/>
                </a:lnTo>
                <a:lnTo>
                  <a:pt x="295" y="1659"/>
                </a:lnTo>
                <a:lnTo>
                  <a:pt x="308" y="1697"/>
                </a:lnTo>
                <a:lnTo>
                  <a:pt x="317" y="1732"/>
                </a:lnTo>
                <a:lnTo>
                  <a:pt x="324" y="1757"/>
                </a:lnTo>
                <a:lnTo>
                  <a:pt x="329" y="1778"/>
                </a:lnTo>
                <a:lnTo>
                  <a:pt x="330" y="1788"/>
                </a:lnTo>
                <a:lnTo>
                  <a:pt x="328" y="1796"/>
                </a:lnTo>
                <a:lnTo>
                  <a:pt x="352" y="1843"/>
                </a:lnTo>
                <a:lnTo>
                  <a:pt x="383" y="1890"/>
                </a:lnTo>
                <a:lnTo>
                  <a:pt x="420" y="1932"/>
                </a:lnTo>
                <a:lnTo>
                  <a:pt x="467" y="1971"/>
                </a:lnTo>
                <a:lnTo>
                  <a:pt x="521" y="2011"/>
                </a:lnTo>
                <a:lnTo>
                  <a:pt x="581" y="2045"/>
                </a:lnTo>
                <a:lnTo>
                  <a:pt x="645" y="2072"/>
                </a:lnTo>
                <a:lnTo>
                  <a:pt x="710" y="2096"/>
                </a:lnTo>
                <a:lnTo>
                  <a:pt x="785" y="2119"/>
                </a:lnTo>
                <a:lnTo>
                  <a:pt x="860" y="2135"/>
                </a:lnTo>
                <a:lnTo>
                  <a:pt x="941" y="2145"/>
                </a:lnTo>
                <a:lnTo>
                  <a:pt x="1022" y="2152"/>
                </a:lnTo>
                <a:lnTo>
                  <a:pt x="1105" y="2150"/>
                </a:lnTo>
                <a:lnTo>
                  <a:pt x="1191" y="2149"/>
                </a:lnTo>
                <a:lnTo>
                  <a:pt x="1275" y="2139"/>
                </a:lnTo>
                <a:lnTo>
                  <a:pt x="1358" y="2127"/>
                </a:lnTo>
                <a:lnTo>
                  <a:pt x="1442" y="2109"/>
                </a:lnTo>
                <a:lnTo>
                  <a:pt x="1527" y="2084"/>
                </a:lnTo>
                <a:lnTo>
                  <a:pt x="1614" y="2056"/>
                </a:lnTo>
                <a:lnTo>
                  <a:pt x="1693" y="2026"/>
                </a:lnTo>
                <a:lnTo>
                  <a:pt x="1773" y="1992"/>
                </a:lnTo>
                <a:lnTo>
                  <a:pt x="1848" y="1960"/>
                </a:lnTo>
                <a:lnTo>
                  <a:pt x="1920" y="1919"/>
                </a:lnTo>
                <a:lnTo>
                  <a:pt x="1984" y="1880"/>
                </a:lnTo>
                <a:lnTo>
                  <a:pt x="2045" y="1837"/>
                </a:lnTo>
                <a:lnTo>
                  <a:pt x="2099" y="1794"/>
                </a:lnTo>
                <a:lnTo>
                  <a:pt x="2144" y="1751"/>
                </a:lnTo>
                <a:lnTo>
                  <a:pt x="2185" y="1705"/>
                </a:lnTo>
                <a:lnTo>
                  <a:pt x="2216" y="1659"/>
                </a:lnTo>
                <a:lnTo>
                  <a:pt x="2241" y="1613"/>
                </a:lnTo>
                <a:lnTo>
                  <a:pt x="2260" y="1567"/>
                </a:lnTo>
                <a:lnTo>
                  <a:pt x="2268" y="1522"/>
                </a:lnTo>
                <a:lnTo>
                  <a:pt x="2269" y="1479"/>
                </a:lnTo>
                <a:lnTo>
                  <a:pt x="2267" y="1437"/>
                </a:lnTo>
                <a:lnTo>
                  <a:pt x="2255" y="1396"/>
                </a:lnTo>
                <a:lnTo>
                  <a:pt x="2229" y="1329"/>
                </a:lnTo>
                <a:lnTo>
                  <a:pt x="2210" y="1264"/>
                </a:lnTo>
                <a:lnTo>
                  <a:pt x="2193" y="1199"/>
                </a:lnTo>
                <a:lnTo>
                  <a:pt x="2183" y="1136"/>
                </a:lnTo>
                <a:lnTo>
                  <a:pt x="2180" y="1076"/>
                </a:lnTo>
                <a:lnTo>
                  <a:pt x="2182" y="1019"/>
                </a:lnTo>
                <a:lnTo>
                  <a:pt x="2188" y="968"/>
                </a:lnTo>
                <a:lnTo>
                  <a:pt x="2201" y="920"/>
                </a:lnTo>
                <a:lnTo>
                  <a:pt x="2221" y="879"/>
                </a:lnTo>
                <a:lnTo>
                  <a:pt x="2243" y="842"/>
                </a:lnTo>
                <a:lnTo>
                  <a:pt x="2270" y="813"/>
                </a:lnTo>
                <a:lnTo>
                  <a:pt x="2301" y="791"/>
                </a:lnTo>
                <a:lnTo>
                  <a:pt x="2337" y="780"/>
                </a:lnTo>
                <a:lnTo>
                  <a:pt x="2356" y="770"/>
                </a:lnTo>
                <a:lnTo>
                  <a:pt x="2375" y="754"/>
                </a:lnTo>
                <a:lnTo>
                  <a:pt x="2388" y="730"/>
                </a:lnTo>
                <a:lnTo>
                  <a:pt x="2395" y="699"/>
                </a:lnTo>
                <a:lnTo>
                  <a:pt x="2398" y="664"/>
                </a:lnTo>
                <a:lnTo>
                  <a:pt x="2399" y="618"/>
                </a:lnTo>
                <a:lnTo>
                  <a:pt x="2393" y="570"/>
                </a:lnTo>
                <a:lnTo>
                  <a:pt x="2384" y="521"/>
                </a:lnTo>
                <a:lnTo>
                  <a:pt x="2371" y="467"/>
                </a:lnTo>
                <a:lnTo>
                  <a:pt x="2351" y="413"/>
                </a:lnTo>
                <a:lnTo>
                  <a:pt x="2331" y="355"/>
                </a:lnTo>
                <a:lnTo>
                  <a:pt x="2307" y="313"/>
                </a:lnTo>
                <a:lnTo>
                  <a:pt x="2278" y="269"/>
                </a:lnTo>
                <a:lnTo>
                  <a:pt x="2236" y="229"/>
                </a:lnTo>
                <a:lnTo>
                  <a:pt x="2193" y="192"/>
                </a:lnTo>
                <a:lnTo>
                  <a:pt x="2140" y="156"/>
                </a:lnTo>
                <a:lnTo>
                  <a:pt x="2081" y="125"/>
                </a:lnTo>
                <a:lnTo>
                  <a:pt x="2016" y="97"/>
                </a:lnTo>
                <a:lnTo>
                  <a:pt x="1942" y="74"/>
                </a:lnTo>
                <a:lnTo>
                  <a:pt x="1865" y="50"/>
                </a:lnTo>
                <a:lnTo>
                  <a:pt x="1785" y="33"/>
                </a:lnTo>
                <a:lnTo>
                  <a:pt x="1696" y="20"/>
                </a:lnTo>
                <a:lnTo>
                  <a:pt x="1604" y="8"/>
                </a:lnTo>
                <a:lnTo>
                  <a:pt x="1507" y="2"/>
                </a:lnTo>
                <a:lnTo>
                  <a:pt x="1411" y="0"/>
                </a:lnTo>
                <a:lnTo>
                  <a:pt x="1310" y="4"/>
                </a:lnTo>
                <a:lnTo>
                  <a:pt x="1206" y="8"/>
                </a:lnTo>
                <a:lnTo>
                  <a:pt x="1104" y="17"/>
                </a:lnTo>
                <a:lnTo>
                  <a:pt x="998" y="33"/>
                </a:lnTo>
                <a:lnTo>
                  <a:pt x="890" y="48"/>
                </a:lnTo>
                <a:lnTo>
                  <a:pt x="786" y="69"/>
                </a:lnTo>
                <a:lnTo>
                  <a:pt x="681" y="93"/>
                </a:lnTo>
              </a:path>
            </a:pathLst>
          </a:custGeom>
          <a:solidFill>
            <a:schemeClr val="folHlink"/>
          </a:solidFill>
          <a:ln w="12700" cap="rnd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>
            <a:outerShdw dist="107763" dir="2700000" algn="ctr" rotWithShape="0">
              <a:srgbClr val="000000"/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" name="Rectangle 4"/>
          <p:cNvSpPr>
            <a:spLocks noChangeArrowheads="1"/>
          </p:cNvSpPr>
          <p:nvPr/>
        </p:nvSpPr>
        <p:spPr bwMode="auto">
          <a:xfrm>
            <a:off x="1484313" y="2782014"/>
            <a:ext cx="2054225" cy="8284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ko-KR" sz="2400" b="1">
                <a:ea typeface="굴림" panose="020B0600000101010101" pitchFamily="50" charset="-127"/>
              </a:rPr>
              <a:t>Unknown Relationship</a:t>
            </a:r>
          </a:p>
        </p:txBody>
      </p:sp>
      <p:sp>
        <p:nvSpPr>
          <p:cNvPr id="5" name="Rectangle 5"/>
          <p:cNvSpPr>
            <a:spLocks noChangeArrowheads="1"/>
          </p:cNvSpPr>
          <p:nvPr/>
        </p:nvSpPr>
        <p:spPr bwMode="auto">
          <a:xfrm>
            <a:off x="1485900" y="1843801"/>
            <a:ext cx="2054225" cy="5159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ko-KR" sz="2800" b="1">
                <a:ea typeface="굴림" panose="020B0600000101010101" pitchFamily="50" charset="-127"/>
              </a:rPr>
              <a:t>Population</a:t>
            </a:r>
          </a:p>
        </p:txBody>
      </p:sp>
      <p:sp>
        <p:nvSpPr>
          <p:cNvPr id="6" name="Rectangle 6"/>
          <p:cNvSpPr>
            <a:spLocks noChangeArrowheads="1"/>
          </p:cNvSpPr>
          <p:nvPr/>
        </p:nvSpPr>
        <p:spPr bwMode="auto">
          <a:xfrm>
            <a:off x="5207000" y="1842214"/>
            <a:ext cx="3121025" cy="5159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ko-KR" sz="2800" b="1">
                <a:ea typeface="굴림" panose="020B0600000101010101" pitchFamily="50" charset="-127"/>
              </a:rPr>
              <a:t>Random Sample</a:t>
            </a:r>
          </a:p>
        </p:txBody>
      </p:sp>
      <p:sp>
        <p:nvSpPr>
          <p:cNvPr id="7" name="Oval 7"/>
          <p:cNvSpPr>
            <a:spLocks noChangeArrowheads="1"/>
          </p:cNvSpPr>
          <p:nvPr/>
        </p:nvSpPr>
        <p:spPr bwMode="auto">
          <a:xfrm>
            <a:off x="5973763" y="3453526"/>
            <a:ext cx="1587500" cy="977900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000000"/>
            </a:solidFill>
            <a:round/>
            <a:headEnd/>
            <a:tailEnd/>
          </a:ln>
          <a:effectLst>
            <a:outerShdw dist="107763" dir="2700000" algn="ctr" rotWithShape="0">
              <a:srgbClr val="000000"/>
            </a:outerShdw>
          </a:effectLst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8" name="Oval 8"/>
          <p:cNvSpPr>
            <a:spLocks noChangeArrowheads="1"/>
          </p:cNvSpPr>
          <p:nvPr/>
        </p:nvSpPr>
        <p:spPr bwMode="auto">
          <a:xfrm>
            <a:off x="1984375" y="4367926"/>
            <a:ext cx="1587500" cy="977900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o-KR" altLang="en-US"/>
          </a:p>
        </p:txBody>
      </p:sp>
      <p:graphicFrame>
        <p:nvGraphicFramePr>
          <p:cNvPr id="9" name="Object 9">
            <a:hlinkClick r:id="" action="ppaction://ole?verb=0"/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140194733"/>
              </p:ext>
            </p:extLst>
          </p:nvPr>
        </p:nvGraphicFramePr>
        <p:xfrm>
          <a:off x="804863" y="3709114"/>
          <a:ext cx="3252787" cy="4587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0" name="MathType Equation" r:id="rId3" imgW="3260520" imgH="466560" progId="Equation">
                  <p:embed/>
                </p:oleObj>
              </mc:Choice>
              <mc:Fallback>
                <p:oleObj name="MathType Equation" r:id="rId3" imgW="3260520" imgH="466560" progId="Equation">
                  <p:embed/>
                  <p:pic>
                    <p:nvPicPr>
                      <p:cNvPr id="0" name=""/>
                      <p:cNvPicPr>
                        <a:picLocks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04863" y="3709114"/>
                        <a:ext cx="3252787" cy="4587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Rectangle 11"/>
          <p:cNvSpPr>
            <a:spLocks noChangeArrowheads="1"/>
          </p:cNvSpPr>
          <p:nvPr/>
        </p:nvSpPr>
        <p:spPr bwMode="auto">
          <a:xfrm>
            <a:off x="1110376" y="4345701"/>
            <a:ext cx="673262" cy="5822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ko-KR" sz="3200" b="1">
                <a:latin typeface="Wingdings" panose="05000000000000000000" pitchFamily="2" charset="2"/>
                <a:ea typeface="굴림" panose="020B0600000101010101" pitchFamily="50" charset="-127"/>
              </a:rPr>
              <a:t></a:t>
            </a:r>
            <a:r>
              <a:rPr lang="en-US" altLang="ko-KR" sz="3200" b="1">
                <a:ea typeface="굴림" panose="020B0600000101010101" pitchFamily="50" charset="-127"/>
              </a:rPr>
              <a:t> </a:t>
            </a:r>
          </a:p>
        </p:txBody>
      </p:sp>
      <p:sp>
        <p:nvSpPr>
          <p:cNvPr id="12" name="Rectangle 12"/>
          <p:cNvSpPr>
            <a:spLocks noChangeArrowheads="1"/>
          </p:cNvSpPr>
          <p:nvPr/>
        </p:nvSpPr>
        <p:spPr bwMode="auto">
          <a:xfrm>
            <a:off x="2512138" y="4361576"/>
            <a:ext cx="673262" cy="5822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ko-KR" sz="3200" b="1">
                <a:latin typeface="Wingdings" panose="05000000000000000000" pitchFamily="2" charset="2"/>
                <a:ea typeface="굴림" panose="020B0600000101010101" pitchFamily="50" charset="-127"/>
              </a:rPr>
              <a:t></a:t>
            </a:r>
            <a:r>
              <a:rPr lang="en-US" altLang="ko-KR" sz="3200" b="1">
                <a:ea typeface="굴림" panose="020B0600000101010101" pitchFamily="50" charset="-127"/>
              </a:rPr>
              <a:t> </a:t>
            </a:r>
          </a:p>
        </p:txBody>
      </p:sp>
      <p:sp>
        <p:nvSpPr>
          <p:cNvPr id="13" name="Rectangle 13"/>
          <p:cNvSpPr>
            <a:spLocks noChangeArrowheads="1"/>
          </p:cNvSpPr>
          <p:nvPr/>
        </p:nvSpPr>
        <p:spPr bwMode="auto">
          <a:xfrm>
            <a:off x="3632913" y="3147139"/>
            <a:ext cx="673262" cy="5822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ko-KR" sz="3200" b="1">
                <a:latin typeface="Wingdings" panose="05000000000000000000" pitchFamily="2" charset="2"/>
                <a:ea typeface="굴림" panose="020B0600000101010101" pitchFamily="50" charset="-127"/>
              </a:rPr>
              <a:t></a:t>
            </a:r>
            <a:r>
              <a:rPr lang="en-US" altLang="ko-KR" sz="3200" b="1">
                <a:ea typeface="굴림" panose="020B0600000101010101" pitchFamily="50" charset="-127"/>
              </a:rPr>
              <a:t> </a:t>
            </a:r>
          </a:p>
        </p:txBody>
      </p:sp>
      <p:sp>
        <p:nvSpPr>
          <p:cNvPr id="14" name="Rectangle 14"/>
          <p:cNvSpPr>
            <a:spLocks noChangeArrowheads="1"/>
          </p:cNvSpPr>
          <p:nvPr/>
        </p:nvSpPr>
        <p:spPr bwMode="auto">
          <a:xfrm>
            <a:off x="1858088" y="5382339"/>
            <a:ext cx="673262" cy="5822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ko-KR" sz="3200" b="1">
                <a:latin typeface="Wingdings" panose="05000000000000000000" pitchFamily="2" charset="2"/>
                <a:ea typeface="굴림" panose="020B0600000101010101" pitchFamily="50" charset="-127"/>
              </a:rPr>
              <a:t></a:t>
            </a:r>
            <a:r>
              <a:rPr lang="en-US" altLang="ko-KR" sz="3200" b="1">
                <a:ea typeface="굴림" panose="020B0600000101010101" pitchFamily="50" charset="-127"/>
              </a:rPr>
              <a:t> </a:t>
            </a:r>
          </a:p>
        </p:txBody>
      </p:sp>
      <p:sp>
        <p:nvSpPr>
          <p:cNvPr id="15" name="Rectangle 15"/>
          <p:cNvSpPr>
            <a:spLocks noChangeArrowheads="1"/>
          </p:cNvSpPr>
          <p:nvPr/>
        </p:nvSpPr>
        <p:spPr bwMode="auto">
          <a:xfrm>
            <a:off x="2331163" y="4802901"/>
            <a:ext cx="673262" cy="5822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ko-KR" sz="3200" b="1">
                <a:latin typeface="Wingdings" panose="05000000000000000000" pitchFamily="2" charset="2"/>
                <a:ea typeface="굴림" panose="020B0600000101010101" pitchFamily="50" charset="-127"/>
              </a:rPr>
              <a:t></a:t>
            </a:r>
            <a:r>
              <a:rPr lang="en-US" altLang="ko-KR" sz="3200" b="1">
                <a:ea typeface="굴림" panose="020B0600000101010101" pitchFamily="50" charset="-127"/>
              </a:rPr>
              <a:t> </a:t>
            </a:r>
          </a:p>
        </p:txBody>
      </p:sp>
      <p:sp>
        <p:nvSpPr>
          <p:cNvPr id="16" name="Rectangle 16"/>
          <p:cNvSpPr>
            <a:spLocks noChangeArrowheads="1"/>
          </p:cNvSpPr>
          <p:nvPr/>
        </p:nvSpPr>
        <p:spPr bwMode="auto">
          <a:xfrm>
            <a:off x="6584076" y="3494801"/>
            <a:ext cx="673262" cy="5822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ko-KR" sz="3200" b="1">
                <a:latin typeface="Wingdings" panose="05000000000000000000" pitchFamily="2" charset="2"/>
                <a:ea typeface="굴림" panose="020B0600000101010101" pitchFamily="50" charset="-127"/>
              </a:rPr>
              <a:t></a:t>
            </a:r>
            <a:r>
              <a:rPr lang="en-US" altLang="ko-KR" sz="3200" b="1">
                <a:ea typeface="굴림" panose="020B0600000101010101" pitchFamily="50" charset="-127"/>
              </a:rPr>
              <a:t> </a:t>
            </a:r>
          </a:p>
        </p:txBody>
      </p:sp>
      <p:sp>
        <p:nvSpPr>
          <p:cNvPr id="17" name="Rectangle 17"/>
          <p:cNvSpPr>
            <a:spLocks noChangeArrowheads="1"/>
          </p:cNvSpPr>
          <p:nvPr/>
        </p:nvSpPr>
        <p:spPr bwMode="auto">
          <a:xfrm>
            <a:off x="6403101" y="3936126"/>
            <a:ext cx="673262" cy="5822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ko-KR" sz="3200" b="1">
                <a:latin typeface="Wingdings" panose="05000000000000000000" pitchFamily="2" charset="2"/>
                <a:ea typeface="굴림" panose="020B0600000101010101" pitchFamily="50" charset="-127"/>
              </a:rPr>
              <a:t></a:t>
            </a:r>
            <a:r>
              <a:rPr lang="en-US" altLang="ko-KR" sz="3200" b="1">
                <a:ea typeface="굴림" panose="020B0600000101010101" pitchFamily="50" charset="-127"/>
              </a:rPr>
              <a:t> </a:t>
            </a:r>
          </a:p>
        </p:txBody>
      </p:sp>
      <p:grpSp>
        <p:nvGrpSpPr>
          <p:cNvPr id="18" name="Group 20"/>
          <p:cNvGrpSpPr>
            <a:grpSpLocks/>
          </p:cNvGrpSpPr>
          <p:nvPr/>
        </p:nvGrpSpPr>
        <p:grpSpPr bwMode="auto">
          <a:xfrm>
            <a:off x="3233738" y="4533026"/>
            <a:ext cx="3108325" cy="1100138"/>
            <a:chOff x="2087" y="2940"/>
            <a:chExt cx="1958" cy="693"/>
          </a:xfrm>
        </p:grpSpPr>
        <p:sp>
          <p:nvSpPr>
            <p:cNvPr id="19" name="Freeform 18"/>
            <p:cNvSpPr>
              <a:spLocks/>
            </p:cNvSpPr>
            <p:nvPr/>
          </p:nvSpPr>
          <p:spPr bwMode="auto">
            <a:xfrm>
              <a:off x="2087" y="2940"/>
              <a:ext cx="1958" cy="655"/>
            </a:xfrm>
            <a:custGeom>
              <a:avLst/>
              <a:gdLst>
                <a:gd name="T0" fmla="*/ 38 w 1958"/>
                <a:gd name="T1" fmla="*/ 357 h 655"/>
                <a:gd name="T2" fmla="*/ 139 w 1958"/>
                <a:gd name="T3" fmla="*/ 422 h 655"/>
                <a:gd name="T4" fmla="*/ 270 w 1958"/>
                <a:gd name="T5" fmla="*/ 486 h 655"/>
                <a:gd name="T6" fmla="*/ 408 w 1958"/>
                <a:gd name="T7" fmla="*/ 533 h 655"/>
                <a:gd name="T8" fmla="*/ 565 w 1958"/>
                <a:gd name="T9" fmla="*/ 581 h 655"/>
                <a:gd name="T10" fmla="*/ 733 w 1958"/>
                <a:gd name="T11" fmla="*/ 614 h 655"/>
                <a:gd name="T12" fmla="*/ 937 w 1958"/>
                <a:gd name="T13" fmla="*/ 636 h 655"/>
                <a:gd name="T14" fmla="*/ 1118 w 1958"/>
                <a:gd name="T15" fmla="*/ 643 h 655"/>
                <a:gd name="T16" fmla="*/ 1302 w 1958"/>
                <a:gd name="T17" fmla="*/ 615 h 655"/>
                <a:gd name="T18" fmla="*/ 1471 w 1958"/>
                <a:gd name="T19" fmla="*/ 563 h 655"/>
                <a:gd name="T20" fmla="*/ 1571 w 1958"/>
                <a:gd name="T21" fmla="*/ 505 h 655"/>
                <a:gd name="T22" fmla="*/ 1647 w 1958"/>
                <a:gd name="T23" fmla="*/ 449 h 655"/>
                <a:gd name="T24" fmla="*/ 1807 w 1958"/>
                <a:gd name="T25" fmla="*/ 654 h 655"/>
                <a:gd name="T26" fmla="*/ 1825 w 1958"/>
                <a:gd name="T27" fmla="*/ 473 h 655"/>
                <a:gd name="T28" fmla="*/ 1866 w 1958"/>
                <a:gd name="T29" fmla="*/ 277 h 655"/>
                <a:gd name="T30" fmla="*/ 1957 w 1958"/>
                <a:gd name="T31" fmla="*/ 127 h 655"/>
                <a:gd name="T32" fmla="*/ 1839 w 1958"/>
                <a:gd name="T33" fmla="*/ 83 h 655"/>
                <a:gd name="T34" fmla="*/ 1640 w 1958"/>
                <a:gd name="T35" fmla="*/ 71 h 655"/>
                <a:gd name="T36" fmla="*/ 1496 w 1958"/>
                <a:gd name="T37" fmla="*/ 36 h 655"/>
                <a:gd name="T38" fmla="*/ 1541 w 1958"/>
                <a:gd name="T39" fmla="*/ 197 h 655"/>
                <a:gd name="T40" fmla="*/ 1419 w 1958"/>
                <a:gd name="T41" fmla="*/ 291 h 655"/>
                <a:gd name="T42" fmla="*/ 1265 w 1958"/>
                <a:gd name="T43" fmla="*/ 360 h 655"/>
                <a:gd name="T44" fmla="*/ 1086 w 1958"/>
                <a:gd name="T45" fmla="*/ 411 h 655"/>
                <a:gd name="T46" fmla="*/ 855 w 1958"/>
                <a:gd name="T47" fmla="*/ 445 h 655"/>
                <a:gd name="T48" fmla="*/ 649 w 1958"/>
                <a:gd name="T49" fmla="*/ 447 h 655"/>
                <a:gd name="T50" fmla="*/ 551 w 1958"/>
                <a:gd name="T51" fmla="*/ 444 h 655"/>
                <a:gd name="T52" fmla="*/ 468 w 1958"/>
                <a:gd name="T53" fmla="*/ 434 h 655"/>
                <a:gd name="T54" fmla="*/ 335 w 1958"/>
                <a:gd name="T55" fmla="*/ 412 h 655"/>
                <a:gd name="T56" fmla="*/ 252 w 1958"/>
                <a:gd name="T57" fmla="*/ 392 h 655"/>
                <a:gd name="T58" fmla="*/ 173 w 1958"/>
                <a:gd name="T59" fmla="*/ 368 h 655"/>
                <a:gd name="T60" fmla="*/ 86 w 1958"/>
                <a:gd name="T61" fmla="*/ 331 h 655"/>
                <a:gd name="T62" fmla="*/ 0 w 1958"/>
                <a:gd name="T63" fmla="*/ 291 h 6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1958" h="655">
                  <a:moveTo>
                    <a:pt x="0" y="291"/>
                  </a:moveTo>
                  <a:lnTo>
                    <a:pt x="38" y="357"/>
                  </a:lnTo>
                  <a:lnTo>
                    <a:pt x="95" y="393"/>
                  </a:lnTo>
                  <a:lnTo>
                    <a:pt x="139" y="422"/>
                  </a:lnTo>
                  <a:lnTo>
                    <a:pt x="200" y="455"/>
                  </a:lnTo>
                  <a:lnTo>
                    <a:pt x="270" y="486"/>
                  </a:lnTo>
                  <a:lnTo>
                    <a:pt x="329" y="503"/>
                  </a:lnTo>
                  <a:lnTo>
                    <a:pt x="408" y="533"/>
                  </a:lnTo>
                  <a:lnTo>
                    <a:pt x="488" y="557"/>
                  </a:lnTo>
                  <a:lnTo>
                    <a:pt x="565" y="581"/>
                  </a:lnTo>
                  <a:lnTo>
                    <a:pt x="664" y="604"/>
                  </a:lnTo>
                  <a:lnTo>
                    <a:pt x="733" y="614"/>
                  </a:lnTo>
                  <a:lnTo>
                    <a:pt x="830" y="625"/>
                  </a:lnTo>
                  <a:lnTo>
                    <a:pt x="937" y="636"/>
                  </a:lnTo>
                  <a:lnTo>
                    <a:pt x="1040" y="642"/>
                  </a:lnTo>
                  <a:lnTo>
                    <a:pt x="1118" y="643"/>
                  </a:lnTo>
                  <a:lnTo>
                    <a:pt x="1219" y="630"/>
                  </a:lnTo>
                  <a:lnTo>
                    <a:pt x="1302" y="615"/>
                  </a:lnTo>
                  <a:lnTo>
                    <a:pt x="1387" y="593"/>
                  </a:lnTo>
                  <a:lnTo>
                    <a:pt x="1471" y="563"/>
                  </a:lnTo>
                  <a:lnTo>
                    <a:pt x="1518" y="538"/>
                  </a:lnTo>
                  <a:lnTo>
                    <a:pt x="1571" y="505"/>
                  </a:lnTo>
                  <a:lnTo>
                    <a:pt x="1610" y="476"/>
                  </a:lnTo>
                  <a:lnTo>
                    <a:pt x="1647" y="449"/>
                  </a:lnTo>
                  <a:lnTo>
                    <a:pt x="1671" y="421"/>
                  </a:lnTo>
                  <a:lnTo>
                    <a:pt x="1807" y="654"/>
                  </a:lnTo>
                  <a:lnTo>
                    <a:pt x="1813" y="571"/>
                  </a:lnTo>
                  <a:lnTo>
                    <a:pt x="1825" y="473"/>
                  </a:lnTo>
                  <a:lnTo>
                    <a:pt x="1839" y="375"/>
                  </a:lnTo>
                  <a:lnTo>
                    <a:pt x="1866" y="277"/>
                  </a:lnTo>
                  <a:lnTo>
                    <a:pt x="1894" y="213"/>
                  </a:lnTo>
                  <a:lnTo>
                    <a:pt x="1957" y="127"/>
                  </a:lnTo>
                  <a:lnTo>
                    <a:pt x="1926" y="77"/>
                  </a:lnTo>
                  <a:lnTo>
                    <a:pt x="1839" y="83"/>
                  </a:lnTo>
                  <a:lnTo>
                    <a:pt x="1744" y="86"/>
                  </a:lnTo>
                  <a:lnTo>
                    <a:pt x="1640" y="71"/>
                  </a:lnTo>
                  <a:lnTo>
                    <a:pt x="1550" y="52"/>
                  </a:lnTo>
                  <a:lnTo>
                    <a:pt x="1496" y="36"/>
                  </a:lnTo>
                  <a:lnTo>
                    <a:pt x="1427" y="0"/>
                  </a:lnTo>
                  <a:lnTo>
                    <a:pt x="1541" y="197"/>
                  </a:lnTo>
                  <a:lnTo>
                    <a:pt x="1478" y="251"/>
                  </a:lnTo>
                  <a:lnTo>
                    <a:pt x="1419" y="291"/>
                  </a:lnTo>
                  <a:lnTo>
                    <a:pt x="1343" y="330"/>
                  </a:lnTo>
                  <a:lnTo>
                    <a:pt x="1265" y="360"/>
                  </a:lnTo>
                  <a:lnTo>
                    <a:pt x="1170" y="389"/>
                  </a:lnTo>
                  <a:lnTo>
                    <a:pt x="1086" y="411"/>
                  </a:lnTo>
                  <a:lnTo>
                    <a:pt x="961" y="435"/>
                  </a:lnTo>
                  <a:lnTo>
                    <a:pt x="855" y="445"/>
                  </a:lnTo>
                  <a:lnTo>
                    <a:pt x="758" y="449"/>
                  </a:lnTo>
                  <a:lnTo>
                    <a:pt x="649" y="447"/>
                  </a:lnTo>
                  <a:lnTo>
                    <a:pt x="598" y="445"/>
                  </a:lnTo>
                  <a:lnTo>
                    <a:pt x="551" y="444"/>
                  </a:lnTo>
                  <a:lnTo>
                    <a:pt x="509" y="438"/>
                  </a:lnTo>
                  <a:lnTo>
                    <a:pt x="468" y="434"/>
                  </a:lnTo>
                  <a:lnTo>
                    <a:pt x="391" y="425"/>
                  </a:lnTo>
                  <a:lnTo>
                    <a:pt x="335" y="412"/>
                  </a:lnTo>
                  <a:lnTo>
                    <a:pt x="294" y="402"/>
                  </a:lnTo>
                  <a:lnTo>
                    <a:pt x="252" y="392"/>
                  </a:lnTo>
                  <a:lnTo>
                    <a:pt x="210" y="378"/>
                  </a:lnTo>
                  <a:lnTo>
                    <a:pt x="173" y="368"/>
                  </a:lnTo>
                  <a:lnTo>
                    <a:pt x="131" y="352"/>
                  </a:lnTo>
                  <a:lnTo>
                    <a:pt x="86" y="331"/>
                  </a:lnTo>
                  <a:lnTo>
                    <a:pt x="39" y="312"/>
                  </a:lnTo>
                  <a:lnTo>
                    <a:pt x="0" y="291"/>
                  </a:lnTo>
                </a:path>
              </a:pathLst>
            </a:custGeom>
            <a:solidFill>
              <a:srgbClr val="008000"/>
            </a:solidFill>
            <a:ln w="12700" cap="rnd" cmpd="sng">
              <a:solidFill>
                <a:schemeClr val="bg2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0" name="Freeform 19"/>
            <p:cNvSpPr>
              <a:spLocks/>
            </p:cNvSpPr>
            <p:nvPr/>
          </p:nvSpPr>
          <p:spPr bwMode="auto">
            <a:xfrm>
              <a:off x="2127" y="2997"/>
              <a:ext cx="1918" cy="636"/>
            </a:xfrm>
            <a:custGeom>
              <a:avLst/>
              <a:gdLst>
                <a:gd name="T0" fmla="*/ 0 w 1918"/>
                <a:gd name="T1" fmla="*/ 297 h 636"/>
                <a:gd name="T2" fmla="*/ 52 w 1918"/>
                <a:gd name="T3" fmla="*/ 342 h 636"/>
                <a:gd name="T4" fmla="*/ 97 w 1918"/>
                <a:gd name="T5" fmla="*/ 377 h 636"/>
                <a:gd name="T6" fmla="*/ 139 w 1918"/>
                <a:gd name="T7" fmla="*/ 403 h 636"/>
                <a:gd name="T8" fmla="*/ 187 w 1918"/>
                <a:gd name="T9" fmla="*/ 432 h 636"/>
                <a:gd name="T10" fmla="*/ 256 w 1918"/>
                <a:gd name="T11" fmla="*/ 472 h 636"/>
                <a:gd name="T12" fmla="*/ 325 w 1918"/>
                <a:gd name="T13" fmla="*/ 504 h 636"/>
                <a:gd name="T14" fmla="*/ 405 w 1918"/>
                <a:gd name="T15" fmla="*/ 534 h 636"/>
                <a:gd name="T16" fmla="*/ 485 w 1918"/>
                <a:gd name="T17" fmla="*/ 558 h 636"/>
                <a:gd name="T18" fmla="*/ 560 w 1918"/>
                <a:gd name="T19" fmla="*/ 578 h 636"/>
                <a:gd name="T20" fmla="*/ 657 w 1918"/>
                <a:gd name="T21" fmla="*/ 600 h 636"/>
                <a:gd name="T22" fmla="*/ 727 w 1918"/>
                <a:gd name="T23" fmla="*/ 611 h 636"/>
                <a:gd name="T24" fmla="*/ 823 w 1918"/>
                <a:gd name="T25" fmla="*/ 620 h 636"/>
                <a:gd name="T26" fmla="*/ 928 w 1918"/>
                <a:gd name="T27" fmla="*/ 630 h 636"/>
                <a:gd name="T28" fmla="*/ 1032 w 1918"/>
                <a:gd name="T29" fmla="*/ 634 h 636"/>
                <a:gd name="T30" fmla="*/ 1109 w 1918"/>
                <a:gd name="T31" fmla="*/ 635 h 636"/>
                <a:gd name="T32" fmla="*/ 1211 w 1918"/>
                <a:gd name="T33" fmla="*/ 622 h 636"/>
                <a:gd name="T34" fmla="*/ 1291 w 1918"/>
                <a:gd name="T35" fmla="*/ 606 h 636"/>
                <a:gd name="T36" fmla="*/ 1376 w 1918"/>
                <a:gd name="T37" fmla="*/ 584 h 636"/>
                <a:gd name="T38" fmla="*/ 1461 w 1918"/>
                <a:gd name="T39" fmla="*/ 554 h 636"/>
                <a:gd name="T40" fmla="*/ 1508 w 1918"/>
                <a:gd name="T41" fmla="*/ 532 h 636"/>
                <a:gd name="T42" fmla="*/ 1561 w 1918"/>
                <a:gd name="T43" fmla="*/ 498 h 636"/>
                <a:gd name="T44" fmla="*/ 1599 w 1918"/>
                <a:gd name="T45" fmla="*/ 468 h 636"/>
                <a:gd name="T46" fmla="*/ 1636 w 1918"/>
                <a:gd name="T47" fmla="*/ 439 h 636"/>
                <a:gd name="T48" fmla="*/ 1663 w 1918"/>
                <a:gd name="T49" fmla="*/ 413 h 636"/>
                <a:gd name="T50" fmla="*/ 1774 w 1918"/>
                <a:gd name="T51" fmla="*/ 606 h 636"/>
                <a:gd name="T52" fmla="*/ 1782 w 1918"/>
                <a:gd name="T53" fmla="*/ 519 h 636"/>
                <a:gd name="T54" fmla="*/ 1795 w 1918"/>
                <a:gd name="T55" fmla="*/ 439 h 636"/>
                <a:gd name="T56" fmla="*/ 1812 w 1918"/>
                <a:gd name="T57" fmla="*/ 332 h 636"/>
                <a:gd name="T58" fmla="*/ 1840 w 1918"/>
                <a:gd name="T59" fmla="*/ 239 h 636"/>
                <a:gd name="T60" fmla="*/ 1872 w 1918"/>
                <a:gd name="T61" fmla="*/ 158 h 636"/>
                <a:gd name="T62" fmla="*/ 1917 w 1918"/>
                <a:gd name="T63" fmla="*/ 71 h 636"/>
                <a:gd name="T64" fmla="*/ 1831 w 1918"/>
                <a:gd name="T65" fmla="*/ 77 h 636"/>
                <a:gd name="T66" fmla="*/ 1737 w 1918"/>
                <a:gd name="T67" fmla="*/ 80 h 636"/>
                <a:gd name="T68" fmla="*/ 1633 w 1918"/>
                <a:gd name="T69" fmla="*/ 68 h 636"/>
                <a:gd name="T70" fmla="*/ 1544 w 1918"/>
                <a:gd name="T71" fmla="*/ 48 h 636"/>
                <a:gd name="T72" fmla="*/ 1491 w 1918"/>
                <a:gd name="T73" fmla="*/ 34 h 636"/>
                <a:gd name="T74" fmla="*/ 1422 w 1918"/>
                <a:gd name="T75" fmla="*/ 0 h 636"/>
                <a:gd name="T76" fmla="*/ 1534 w 1918"/>
                <a:gd name="T77" fmla="*/ 195 h 636"/>
                <a:gd name="T78" fmla="*/ 1472 w 1918"/>
                <a:gd name="T79" fmla="*/ 245 h 636"/>
                <a:gd name="T80" fmla="*/ 1413 w 1918"/>
                <a:gd name="T81" fmla="*/ 287 h 636"/>
                <a:gd name="T82" fmla="*/ 1335 w 1918"/>
                <a:gd name="T83" fmla="*/ 325 h 636"/>
                <a:gd name="T84" fmla="*/ 1258 w 1918"/>
                <a:gd name="T85" fmla="*/ 357 h 636"/>
                <a:gd name="T86" fmla="*/ 1164 w 1918"/>
                <a:gd name="T87" fmla="*/ 384 h 636"/>
                <a:gd name="T88" fmla="*/ 1080 w 1918"/>
                <a:gd name="T89" fmla="*/ 405 h 636"/>
                <a:gd name="T90" fmla="*/ 954 w 1918"/>
                <a:gd name="T91" fmla="*/ 431 h 636"/>
                <a:gd name="T92" fmla="*/ 851 w 1918"/>
                <a:gd name="T93" fmla="*/ 442 h 636"/>
                <a:gd name="T94" fmla="*/ 753 w 1918"/>
                <a:gd name="T95" fmla="*/ 449 h 636"/>
                <a:gd name="T96" fmla="*/ 645 w 1918"/>
                <a:gd name="T97" fmla="*/ 446 h 636"/>
                <a:gd name="T98" fmla="*/ 595 w 1918"/>
                <a:gd name="T99" fmla="*/ 445 h 636"/>
                <a:gd name="T100" fmla="*/ 548 w 1918"/>
                <a:gd name="T101" fmla="*/ 444 h 636"/>
                <a:gd name="T102" fmla="*/ 505 w 1918"/>
                <a:gd name="T103" fmla="*/ 438 h 636"/>
                <a:gd name="T104" fmla="*/ 463 w 1918"/>
                <a:gd name="T105" fmla="*/ 433 h 636"/>
                <a:gd name="T106" fmla="*/ 390 w 1918"/>
                <a:gd name="T107" fmla="*/ 427 h 636"/>
                <a:gd name="T108" fmla="*/ 334 w 1918"/>
                <a:gd name="T109" fmla="*/ 414 h 636"/>
                <a:gd name="T110" fmla="*/ 293 w 1918"/>
                <a:gd name="T111" fmla="*/ 404 h 636"/>
                <a:gd name="T112" fmla="*/ 250 w 1918"/>
                <a:gd name="T113" fmla="*/ 394 h 636"/>
                <a:gd name="T114" fmla="*/ 208 w 1918"/>
                <a:gd name="T115" fmla="*/ 382 h 636"/>
                <a:gd name="T116" fmla="*/ 173 w 1918"/>
                <a:gd name="T117" fmla="*/ 371 h 636"/>
                <a:gd name="T118" fmla="*/ 130 w 1918"/>
                <a:gd name="T119" fmla="*/ 357 h 636"/>
                <a:gd name="T120" fmla="*/ 84 w 1918"/>
                <a:gd name="T121" fmla="*/ 337 h 636"/>
                <a:gd name="T122" fmla="*/ 41 w 1918"/>
                <a:gd name="T123" fmla="*/ 320 h 636"/>
                <a:gd name="T124" fmla="*/ 0 w 1918"/>
                <a:gd name="T125" fmla="*/ 297 h 6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1918" h="636">
                  <a:moveTo>
                    <a:pt x="0" y="297"/>
                  </a:moveTo>
                  <a:lnTo>
                    <a:pt x="52" y="342"/>
                  </a:lnTo>
                  <a:lnTo>
                    <a:pt x="97" y="377"/>
                  </a:lnTo>
                  <a:lnTo>
                    <a:pt x="139" y="403"/>
                  </a:lnTo>
                  <a:lnTo>
                    <a:pt x="187" y="432"/>
                  </a:lnTo>
                  <a:lnTo>
                    <a:pt x="256" y="472"/>
                  </a:lnTo>
                  <a:lnTo>
                    <a:pt x="325" y="504"/>
                  </a:lnTo>
                  <a:lnTo>
                    <a:pt x="405" y="534"/>
                  </a:lnTo>
                  <a:lnTo>
                    <a:pt x="485" y="558"/>
                  </a:lnTo>
                  <a:lnTo>
                    <a:pt x="560" y="578"/>
                  </a:lnTo>
                  <a:lnTo>
                    <a:pt x="657" y="600"/>
                  </a:lnTo>
                  <a:lnTo>
                    <a:pt x="727" y="611"/>
                  </a:lnTo>
                  <a:lnTo>
                    <a:pt x="823" y="620"/>
                  </a:lnTo>
                  <a:lnTo>
                    <a:pt x="928" y="630"/>
                  </a:lnTo>
                  <a:lnTo>
                    <a:pt x="1032" y="634"/>
                  </a:lnTo>
                  <a:lnTo>
                    <a:pt x="1109" y="635"/>
                  </a:lnTo>
                  <a:lnTo>
                    <a:pt x="1211" y="622"/>
                  </a:lnTo>
                  <a:lnTo>
                    <a:pt x="1291" y="606"/>
                  </a:lnTo>
                  <a:lnTo>
                    <a:pt x="1376" y="584"/>
                  </a:lnTo>
                  <a:lnTo>
                    <a:pt x="1461" y="554"/>
                  </a:lnTo>
                  <a:lnTo>
                    <a:pt x="1508" y="532"/>
                  </a:lnTo>
                  <a:lnTo>
                    <a:pt x="1561" y="498"/>
                  </a:lnTo>
                  <a:lnTo>
                    <a:pt x="1599" y="468"/>
                  </a:lnTo>
                  <a:lnTo>
                    <a:pt x="1636" y="439"/>
                  </a:lnTo>
                  <a:lnTo>
                    <a:pt x="1663" y="413"/>
                  </a:lnTo>
                  <a:lnTo>
                    <a:pt x="1774" y="606"/>
                  </a:lnTo>
                  <a:lnTo>
                    <a:pt x="1782" y="519"/>
                  </a:lnTo>
                  <a:lnTo>
                    <a:pt x="1795" y="439"/>
                  </a:lnTo>
                  <a:lnTo>
                    <a:pt x="1812" y="332"/>
                  </a:lnTo>
                  <a:lnTo>
                    <a:pt x="1840" y="239"/>
                  </a:lnTo>
                  <a:lnTo>
                    <a:pt x="1872" y="158"/>
                  </a:lnTo>
                  <a:lnTo>
                    <a:pt x="1917" y="71"/>
                  </a:lnTo>
                  <a:lnTo>
                    <a:pt x="1831" y="77"/>
                  </a:lnTo>
                  <a:lnTo>
                    <a:pt x="1737" y="80"/>
                  </a:lnTo>
                  <a:lnTo>
                    <a:pt x="1633" y="68"/>
                  </a:lnTo>
                  <a:lnTo>
                    <a:pt x="1544" y="48"/>
                  </a:lnTo>
                  <a:lnTo>
                    <a:pt x="1491" y="34"/>
                  </a:lnTo>
                  <a:lnTo>
                    <a:pt x="1422" y="0"/>
                  </a:lnTo>
                  <a:lnTo>
                    <a:pt x="1534" y="195"/>
                  </a:lnTo>
                  <a:lnTo>
                    <a:pt x="1472" y="245"/>
                  </a:lnTo>
                  <a:lnTo>
                    <a:pt x="1413" y="287"/>
                  </a:lnTo>
                  <a:lnTo>
                    <a:pt x="1335" y="325"/>
                  </a:lnTo>
                  <a:lnTo>
                    <a:pt x="1258" y="357"/>
                  </a:lnTo>
                  <a:lnTo>
                    <a:pt x="1164" y="384"/>
                  </a:lnTo>
                  <a:lnTo>
                    <a:pt x="1080" y="405"/>
                  </a:lnTo>
                  <a:lnTo>
                    <a:pt x="954" y="431"/>
                  </a:lnTo>
                  <a:lnTo>
                    <a:pt x="851" y="442"/>
                  </a:lnTo>
                  <a:lnTo>
                    <a:pt x="753" y="449"/>
                  </a:lnTo>
                  <a:lnTo>
                    <a:pt x="645" y="446"/>
                  </a:lnTo>
                  <a:lnTo>
                    <a:pt x="595" y="445"/>
                  </a:lnTo>
                  <a:lnTo>
                    <a:pt x="548" y="444"/>
                  </a:lnTo>
                  <a:lnTo>
                    <a:pt x="505" y="438"/>
                  </a:lnTo>
                  <a:lnTo>
                    <a:pt x="463" y="433"/>
                  </a:lnTo>
                  <a:lnTo>
                    <a:pt x="390" y="427"/>
                  </a:lnTo>
                  <a:lnTo>
                    <a:pt x="334" y="414"/>
                  </a:lnTo>
                  <a:lnTo>
                    <a:pt x="293" y="404"/>
                  </a:lnTo>
                  <a:lnTo>
                    <a:pt x="250" y="394"/>
                  </a:lnTo>
                  <a:lnTo>
                    <a:pt x="208" y="382"/>
                  </a:lnTo>
                  <a:lnTo>
                    <a:pt x="173" y="371"/>
                  </a:lnTo>
                  <a:lnTo>
                    <a:pt x="130" y="357"/>
                  </a:lnTo>
                  <a:lnTo>
                    <a:pt x="84" y="337"/>
                  </a:lnTo>
                  <a:lnTo>
                    <a:pt x="41" y="320"/>
                  </a:lnTo>
                  <a:lnTo>
                    <a:pt x="0" y="297"/>
                  </a:lnTo>
                </a:path>
              </a:pathLst>
            </a:custGeom>
            <a:solidFill>
              <a:srgbClr val="00FF00"/>
            </a:solidFill>
            <a:ln w="12700" cap="rnd" cmpd="sng">
              <a:solidFill>
                <a:schemeClr val="bg2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21" name="Group 23"/>
          <p:cNvGrpSpPr>
            <a:grpSpLocks/>
          </p:cNvGrpSpPr>
          <p:nvPr/>
        </p:nvGrpSpPr>
        <p:grpSpPr bwMode="auto">
          <a:xfrm>
            <a:off x="3270250" y="2178764"/>
            <a:ext cx="2487613" cy="881062"/>
            <a:chOff x="2110" y="1457"/>
            <a:chExt cx="1567" cy="555"/>
          </a:xfrm>
        </p:grpSpPr>
        <p:sp>
          <p:nvSpPr>
            <p:cNvPr id="22" name="Freeform 21"/>
            <p:cNvSpPr>
              <a:spLocks/>
            </p:cNvSpPr>
            <p:nvPr/>
          </p:nvSpPr>
          <p:spPr bwMode="auto">
            <a:xfrm>
              <a:off x="2110" y="1487"/>
              <a:ext cx="1567" cy="525"/>
            </a:xfrm>
            <a:custGeom>
              <a:avLst/>
              <a:gdLst>
                <a:gd name="T0" fmla="*/ 1536 w 1567"/>
                <a:gd name="T1" fmla="*/ 238 h 525"/>
                <a:gd name="T2" fmla="*/ 1455 w 1567"/>
                <a:gd name="T3" fmla="*/ 186 h 525"/>
                <a:gd name="T4" fmla="*/ 1350 w 1567"/>
                <a:gd name="T5" fmla="*/ 135 h 525"/>
                <a:gd name="T6" fmla="*/ 1240 w 1567"/>
                <a:gd name="T7" fmla="*/ 97 h 525"/>
                <a:gd name="T8" fmla="*/ 1114 w 1567"/>
                <a:gd name="T9" fmla="*/ 58 h 525"/>
                <a:gd name="T10" fmla="*/ 979 w 1567"/>
                <a:gd name="T11" fmla="*/ 32 h 525"/>
                <a:gd name="T12" fmla="*/ 816 w 1567"/>
                <a:gd name="T13" fmla="*/ 14 h 525"/>
                <a:gd name="T14" fmla="*/ 671 w 1567"/>
                <a:gd name="T15" fmla="*/ 9 h 525"/>
                <a:gd name="T16" fmla="*/ 524 w 1567"/>
                <a:gd name="T17" fmla="*/ 31 h 525"/>
                <a:gd name="T18" fmla="*/ 389 w 1567"/>
                <a:gd name="T19" fmla="*/ 73 h 525"/>
                <a:gd name="T20" fmla="*/ 309 w 1567"/>
                <a:gd name="T21" fmla="*/ 119 h 525"/>
                <a:gd name="T22" fmla="*/ 248 w 1567"/>
                <a:gd name="T23" fmla="*/ 164 h 525"/>
                <a:gd name="T24" fmla="*/ 120 w 1567"/>
                <a:gd name="T25" fmla="*/ 0 h 525"/>
                <a:gd name="T26" fmla="*/ 106 w 1567"/>
                <a:gd name="T27" fmla="*/ 145 h 525"/>
                <a:gd name="T28" fmla="*/ 73 w 1567"/>
                <a:gd name="T29" fmla="*/ 302 h 525"/>
                <a:gd name="T30" fmla="*/ 0 w 1567"/>
                <a:gd name="T31" fmla="*/ 422 h 525"/>
                <a:gd name="T32" fmla="*/ 94 w 1567"/>
                <a:gd name="T33" fmla="*/ 457 h 525"/>
                <a:gd name="T34" fmla="*/ 254 w 1567"/>
                <a:gd name="T35" fmla="*/ 467 h 525"/>
                <a:gd name="T36" fmla="*/ 369 w 1567"/>
                <a:gd name="T37" fmla="*/ 495 h 525"/>
                <a:gd name="T38" fmla="*/ 333 w 1567"/>
                <a:gd name="T39" fmla="*/ 366 h 525"/>
                <a:gd name="T40" fmla="*/ 431 w 1567"/>
                <a:gd name="T41" fmla="*/ 291 h 525"/>
                <a:gd name="T42" fmla="*/ 554 w 1567"/>
                <a:gd name="T43" fmla="*/ 236 h 525"/>
                <a:gd name="T44" fmla="*/ 697 w 1567"/>
                <a:gd name="T45" fmla="*/ 195 h 525"/>
                <a:gd name="T46" fmla="*/ 882 w 1567"/>
                <a:gd name="T47" fmla="*/ 167 h 525"/>
                <a:gd name="T48" fmla="*/ 1047 w 1567"/>
                <a:gd name="T49" fmla="*/ 166 h 525"/>
                <a:gd name="T50" fmla="*/ 1125 w 1567"/>
                <a:gd name="T51" fmla="*/ 168 h 525"/>
                <a:gd name="T52" fmla="*/ 1192 w 1567"/>
                <a:gd name="T53" fmla="*/ 176 h 525"/>
                <a:gd name="T54" fmla="*/ 1298 w 1567"/>
                <a:gd name="T55" fmla="*/ 194 h 525"/>
                <a:gd name="T56" fmla="*/ 1364 w 1567"/>
                <a:gd name="T57" fmla="*/ 210 h 525"/>
                <a:gd name="T58" fmla="*/ 1428 w 1567"/>
                <a:gd name="T59" fmla="*/ 229 h 525"/>
                <a:gd name="T60" fmla="*/ 1497 w 1567"/>
                <a:gd name="T61" fmla="*/ 259 h 525"/>
                <a:gd name="T62" fmla="*/ 1566 w 1567"/>
                <a:gd name="T63" fmla="*/ 291 h 5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1567" h="525">
                  <a:moveTo>
                    <a:pt x="1566" y="291"/>
                  </a:moveTo>
                  <a:lnTo>
                    <a:pt x="1536" y="238"/>
                  </a:lnTo>
                  <a:lnTo>
                    <a:pt x="1490" y="209"/>
                  </a:lnTo>
                  <a:lnTo>
                    <a:pt x="1455" y="186"/>
                  </a:lnTo>
                  <a:lnTo>
                    <a:pt x="1406" y="159"/>
                  </a:lnTo>
                  <a:lnTo>
                    <a:pt x="1350" y="135"/>
                  </a:lnTo>
                  <a:lnTo>
                    <a:pt x="1303" y="121"/>
                  </a:lnTo>
                  <a:lnTo>
                    <a:pt x="1240" y="97"/>
                  </a:lnTo>
                  <a:lnTo>
                    <a:pt x="1176" y="78"/>
                  </a:lnTo>
                  <a:lnTo>
                    <a:pt x="1114" y="58"/>
                  </a:lnTo>
                  <a:lnTo>
                    <a:pt x="1035" y="40"/>
                  </a:lnTo>
                  <a:lnTo>
                    <a:pt x="979" y="32"/>
                  </a:lnTo>
                  <a:lnTo>
                    <a:pt x="902" y="23"/>
                  </a:lnTo>
                  <a:lnTo>
                    <a:pt x="816" y="14"/>
                  </a:lnTo>
                  <a:lnTo>
                    <a:pt x="734" y="10"/>
                  </a:lnTo>
                  <a:lnTo>
                    <a:pt x="671" y="9"/>
                  </a:lnTo>
                  <a:lnTo>
                    <a:pt x="591" y="19"/>
                  </a:lnTo>
                  <a:lnTo>
                    <a:pt x="524" y="31"/>
                  </a:lnTo>
                  <a:lnTo>
                    <a:pt x="456" y="49"/>
                  </a:lnTo>
                  <a:lnTo>
                    <a:pt x="389" y="73"/>
                  </a:lnTo>
                  <a:lnTo>
                    <a:pt x="351" y="93"/>
                  </a:lnTo>
                  <a:lnTo>
                    <a:pt x="309" y="119"/>
                  </a:lnTo>
                  <a:lnTo>
                    <a:pt x="278" y="143"/>
                  </a:lnTo>
                  <a:lnTo>
                    <a:pt x="248" y="164"/>
                  </a:lnTo>
                  <a:lnTo>
                    <a:pt x="229" y="187"/>
                  </a:lnTo>
                  <a:lnTo>
                    <a:pt x="120" y="0"/>
                  </a:lnTo>
                  <a:lnTo>
                    <a:pt x="115" y="67"/>
                  </a:lnTo>
                  <a:lnTo>
                    <a:pt x="106" y="145"/>
                  </a:lnTo>
                  <a:lnTo>
                    <a:pt x="94" y="224"/>
                  </a:lnTo>
                  <a:lnTo>
                    <a:pt x="73" y="302"/>
                  </a:lnTo>
                  <a:lnTo>
                    <a:pt x="50" y="353"/>
                  </a:lnTo>
                  <a:lnTo>
                    <a:pt x="0" y="422"/>
                  </a:lnTo>
                  <a:lnTo>
                    <a:pt x="25" y="462"/>
                  </a:lnTo>
                  <a:lnTo>
                    <a:pt x="94" y="457"/>
                  </a:lnTo>
                  <a:lnTo>
                    <a:pt x="170" y="455"/>
                  </a:lnTo>
                  <a:lnTo>
                    <a:pt x="254" y="467"/>
                  </a:lnTo>
                  <a:lnTo>
                    <a:pt x="326" y="482"/>
                  </a:lnTo>
                  <a:lnTo>
                    <a:pt x="369" y="495"/>
                  </a:lnTo>
                  <a:lnTo>
                    <a:pt x="424" y="524"/>
                  </a:lnTo>
                  <a:lnTo>
                    <a:pt x="333" y="366"/>
                  </a:lnTo>
                  <a:lnTo>
                    <a:pt x="383" y="323"/>
                  </a:lnTo>
                  <a:lnTo>
                    <a:pt x="431" y="291"/>
                  </a:lnTo>
                  <a:lnTo>
                    <a:pt x="491" y="260"/>
                  </a:lnTo>
                  <a:lnTo>
                    <a:pt x="554" y="236"/>
                  </a:lnTo>
                  <a:lnTo>
                    <a:pt x="630" y="212"/>
                  </a:lnTo>
                  <a:lnTo>
                    <a:pt x="697" y="195"/>
                  </a:lnTo>
                  <a:lnTo>
                    <a:pt x="797" y="175"/>
                  </a:lnTo>
                  <a:lnTo>
                    <a:pt x="882" y="167"/>
                  </a:lnTo>
                  <a:lnTo>
                    <a:pt x="959" y="164"/>
                  </a:lnTo>
                  <a:lnTo>
                    <a:pt x="1047" y="166"/>
                  </a:lnTo>
                  <a:lnTo>
                    <a:pt x="1087" y="167"/>
                  </a:lnTo>
                  <a:lnTo>
                    <a:pt x="1125" y="168"/>
                  </a:lnTo>
                  <a:lnTo>
                    <a:pt x="1159" y="173"/>
                  </a:lnTo>
                  <a:lnTo>
                    <a:pt x="1192" y="176"/>
                  </a:lnTo>
                  <a:lnTo>
                    <a:pt x="1253" y="183"/>
                  </a:lnTo>
                  <a:lnTo>
                    <a:pt x="1298" y="194"/>
                  </a:lnTo>
                  <a:lnTo>
                    <a:pt x="1331" y="202"/>
                  </a:lnTo>
                  <a:lnTo>
                    <a:pt x="1364" y="210"/>
                  </a:lnTo>
                  <a:lnTo>
                    <a:pt x="1398" y="221"/>
                  </a:lnTo>
                  <a:lnTo>
                    <a:pt x="1428" y="229"/>
                  </a:lnTo>
                  <a:lnTo>
                    <a:pt x="1461" y="242"/>
                  </a:lnTo>
                  <a:lnTo>
                    <a:pt x="1497" y="259"/>
                  </a:lnTo>
                  <a:lnTo>
                    <a:pt x="1535" y="274"/>
                  </a:lnTo>
                  <a:lnTo>
                    <a:pt x="1566" y="291"/>
                  </a:lnTo>
                </a:path>
              </a:pathLst>
            </a:custGeom>
            <a:solidFill>
              <a:srgbClr val="008000"/>
            </a:solidFill>
            <a:ln w="12700" cap="rnd" cmpd="sng">
              <a:solidFill>
                <a:schemeClr val="bg2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3" name="Freeform 22"/>
            <p:cNvSpPr>
              <a:spLocks/>
            </p:cNvSpPr>
            <p:nvPr/>
          </p:nvSpPr>
          <p:spPr bwMode="auto">
            <a:xfrm>
              <a:off x="2110" y="1457"/>
              <a:ext cx="1535" cy="509"/>
            </a:xfrm>
            <a:custGeom>
              <a:avLst/>
              <a:gdLst>
                <a:gd name="T0" fmla="*/ 1534 w 1535"/>
                <a:gd name="T1" fmla="*/ 270 h 509"/>
                <a:gd name="T2" fmla="*/ 1492 w 1535"/>
                <a:gd name="T3" fmla="*/ 234 h 509"/>
                <a:gd name="T4" fmla="*/ 1456 w 1535"/>
                <a:gd name="T5" fmla="*/ 206 h 509"/>
                <a:gd name="T6" fmla="*/ 1423 w 1535"/>
                <a:gd name="T7" fmla="*/ 186 h 509"/>
                <a:gd name="T8" fmla="*/ 1384 w 1535"/>
                <a:gd name="T9" fmla="*/ 162 h 509"/>
                <a:gd name="T10" fmla="*/ 1329 w 1535"/>
                <a:gd name="T11" fmla="*/ 130 h 509"/>
                <a:gd name="T12" fmla="*/ 1274 w 1535"/>
                <a:gd name="T13" fmla="*/ 105 h 509"/>
                <a:gd name="T14" fmla="*/ 1210 w 1535"/>
                <a:gd name="T15" fmla="*/ 81 h 509"/>
                <a:gd name="T16" fmla="*/ 1146 w 1535"/>
                <a:gd name="T17" fmla="*/ 62 h 509"/>
                <a:gd name="T18" fmla="*/ 1086 w 1535"/>
                <a:gd name="T19" fmla="*/ 46 h 509"/>
                <a:gd name="T20" fmla="*/ 1008 w 1535"/>
                <a:gd name="T21" fmla="*/ 28 h 509"/>
                <a:gd name="T22" fmla="*/ 952 w 1535"/>
                <a:gd name="T23" fmla="*/ 19 h 509"/>
                <a:gd name="T24" fmla="*/ 875 w 1535"/>
                <a:gd name="T25" fmla="*/ 12 h 509"/>
                <a:gd name="T26" fmla="*/ 791 w 1535"/>
                <a:gd name="T27" fmla="*/ 4 h 509"/>
                <a:gd name="T28" fmla="*/ 708 w 1535"/>
                <a:gd name="T29" fmla="*/ 1 h 509"/>
                <a:gd name="T30" fmla="*/ 647 w 1535"/>
                <a:gd name="T31" fmla="*/ 0 h 509"/>
                <a:gd name="T32" fmla="*/ 565 w 1535"/>
                <a:gd name="T33" fmla="*/ 10 h 509"/>
                <a:gd name="T34" fmla="*/ 501 w 1535"/>
                <a:gd name="T35" fmla="*/ 23 h 509"/>
                <a:gd name="T36" fmla="*/ 433 w 1535"/>
                <a:gd name="T37" fmla="*/ 41 h 509"/>
                <a:gd name="T38" fmla="*/ 365 w 1535"/>
                <a:gd name="T39" fmla="*/ 65 h 509"/>
                <a:gd name="T40" fmla="*/ 327 w 1535"/>
                <a:gd name="T41" fmla="*/ 82 h 509"/>
                <a:gd name="T42" fmla="*/ 285 w 1535"/>
                <a:gd name="T43" fmla="*/ 110 h 509"/>
                <a:gd name="T44" fmla="*/ 254 w 1535"/>
                <a:gd name="T45" fmla="*/ 134 h 509"/>
                <a:gd name="T46" fmla="*/ 225 w 1535"/>
                <a:gd name="T47" fmla="*/ 157 h 509"/>
                <a:gd name="T48" fmla="*/ 203 w 1535"/>
                <a:gd name="T49" fmla="*/ 178 h 509"/>
                <a:gd name="T50" fmla="*/ 114 w 1535"/>
                <a:gd name="T51" fmla="*/ 23 h 509"/>
                <a:gd name="T52" fmla="*/ 108 w 1535"/>
                <a:gd name="T53" fmla="*/ 93 h 509"/>
                <a:gd name="T54" fmla="*/ 98 w 1535"/>
                <a:gd name="T55" fmla="*/ 157 h 509"/>
                <a:gd name="T56" fmla="*/ 84 w 1535"/>
                <a:gd name="T57" fmla="*/ 242 h 509"/>
                <a:gd name="T58" fmla="*/ 62 w 1535"/>
                <a:gd name="T59" fmla="*/ 317 h 509"/>
                <a:gd name="T60" fmla="*/ 36 w 1535"/>
                <a:gd name="T61" fmla="*/ 382 h 509"/>
                <a:gd name="T62" fmla="*/ 0 w 1535"/>
                <a:gd name="T63" fmla="*/ 451 h 509"/>
                <a:gd name="T64" fmla="*/ 69 w 1535"/>
                <a:gd name="T65" fmla="*/ 446 h 509"/>
                <a:gd name="T66" fmla="*/ 144 w 1535"/>
                <a:gd name="T67" fmla="*/ 444 h 509"/>
                <a:gd name="T68" fmla="*/ 227 w 1535"/>
                <a:gd name="T69" fmla="*/ 454 h 509"/>
                <a:gd name="T70" fmla="*/ 298 w 1535"/>
                <a:gd name="T71" fmla="*/ 470 h 509"/>
                <a:gd name="T72" fmla="*/ 341 w 1535"/>
                <a:gd name="T73" fmla="*/ 481 h 509"/>
                <a:gd name="T74" fmla="*/ 396 w 1535"/>
                <a:gd name="T75" fmla="*/ 508 h 509"/>
                <a:gd name="T76" fmla="*/ 306 w 1535"/>
                <a:gd name="T77" fmla="*/ 352 h 509"/>
                <a:gd name="T78" fmla="*/ 356 w 1535"/>
                <a:gd name="T79" fmla="*/ 312 h 509"/>
                <a:gd name="T80" fmla="*/ 403 w 1535"/>
                <a:gd name="T81" fmla="*/ 278 h 509"/>
                <a:gd name="T82" fmla="*/ 466 w 1535"/>
                <a:gd name="T83" fmla="*/ 248 h 509"/>
                <a:gd name="T84" fmla="*/ 527 w 1535"/>
                <a:gd name="T85" fmla="*/ 222 h 509"/>
                <a:gd name="T86" fmla="*/ 603 w 1535"/>
                <a:gd name="T87" fmla="*/ 201 h 509"/>
                <a:gd name="T88" fmla="*/ 670 w 1535"/>
                <a:gd name="T89" fmla="*/ 184 h 509"/>
                <a:gd name="T90" fmla="*/ 771 w 1535"/>
                <a:gd name="T91" fmla="*/ 163 h 509"/>
                <a:gd name="T92" fmla="*/ 853 w 1535"/>
                <a:gd name="T93" fmla="*/ 154 h 509"/>
                <a:gd name="T94" fmla="*/ 931 w 1535"/>
                <a:gd name="T95" fmla="*/ 149 h 509"/>
                <a:gd name="T96" fmla="*/ 1018 w 1535"/>
                <a:gd name="T97" fmla="*/ 151 h 509"/>
                <a:gd name="T98" fmla="*/ 1058 w 1535"/>
                <a:gd name="T99" fmla="*/ 152 h 509"/>
                <a:gd name="T100" fmla="*/ 1095 w 1535"/>
                <a:gd name="T101" fmla="*/ 153 h 509"/>
                <a:gd name="T102" fmla="*/ 1130 w 1535"/>
                <a:gd name="T103" fmla="*/ 158 h 509"/>
                <a:gd name="T104" fmla="*/ 1164 w 1535"/>
                <a:gd name="T105" fmla="*/ 162 h 509"/>
                <a:gd name="T106" fmla="*/ 1222 w 1535"/>
                <a:gd name="T107" fmla="*/ 166 h 509"/>
                <a:gd name="T108" fmla="*/ 1267 w 1535"/>
                <a:gd name="T109" fmla="*/ 177 h 509"/>
                <a:gd name="T110" fmla="*/ 1300 w 1535"/>
                <a:gd name="T111" fmla="*/ 185 h 509"/>
                <a:gd name="T112" fmla="*/ 1334 w 1535"/>
                <a:gd name="T113" fmla="*/ 193 h 509"/>
                <a:gd name="T114" fmla="*/ 1368 w 1535"/>
                <a:gd name="T115" fmla="*/ 202 h 509"/>
                <a:gd name="T116" fmla="*/ 1396 w 1535"/>
                <a:gd name="T117" fmla="*/ 211 h 509"/>
                <a:gd name="T118" fmla="*/ 1430 w 1535"/>
                <a:gd name="T119" fmla="*/ 222 h 509"/>
                <a:gd name="T120" fmla="*/ 1467 w 1535"/>
                <a:gd name="T121" fmla="*/ 238 h 509"/>
                <a:gd name="T122" fmla="*/ 1501 w 1535"/>
                <a:gd name="T123" fmla="*/ 252 h 509"/>
                <a:gd name="T124" fmla="*/ 1534 w 1535"/>
                <a:gd name="T125" fmla="*/ 270 h 5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1535" h="509">
                  <a:moveTo>
                    <a:pt x="1534" y="270"/>
                  </a:moveTo>
                  <a:lnTo>
                    <a:pt x="1492" y="234"/>
                  </a:lnTo>
                  <a:lnTo>
                    <a:pt x="1456" y="206"/>
                  </a:lnTo>
                  <a:lnTo>
                    <a:pt x="1423" y="186"/>
                  </a:lnTo>
                  <a:lnTo>
                    <a:pt x="1384" y="162"/>
                  </a:lnTo>
                  <a:lnTo>
                    <a:pt x="1329" y="130"/>
                  </a:lnTo>
                  <a:lnTo>
                    <a:pt x="1274" y="105"/>
                  </a:lnTo>
                  <a:lnTo>
                    <a:pt x="1210" y="81"/>
                  </a:lnTo>
                  <a:lnTo>
                    <a:pt x="1146" y="62"/>
                  </a:lnTo>
                  <a:lnTo>
                    <a:pt x="1086" y="46"/>
                  </a:lnTo>
                  <a:lnTo>
                    <a:pt x="1008" y="28"/>
                  </a:lnTo>
                  <a:lnTo>
                    <a:pt x="952" y="19"/>
                  </a:lnTo>
                  <a:lnTo>
                    <a:pt x="875" y="12"/>
                  </a:lnTo>
                  <a:lnTo>
                    <a:pt x="791" y="4"/>
                  </a:lnTo>
                  <a:lnTo>
                    <a:pt x="708" y="1"/>
                  </a:lnTo>
                  <a:lnTo>
                    <a:pt x="647" y="0"/>
                  </a:lnTo>
                  <a:lnTo>
                    <a:pt x="565" y="10"/>
                  </a:lnTo>
                  <a:lnTo>
                    <a:pt x="501" y="23"/>
                  </a:lnTo>
                  <a:lnTo>
                    <a:pt x="433" y="41"/>
                  </a:lnTo>
                  <a:lnTo>
                    <a:pt x="365" y="65"/>
                  </a:lnTo>
                  <a:lnTo>
                    <a:pt x="327" y="82"/>
                  </a:lnTo>
                  <a:lnTo>
                    <a:pt x="285" y="110"/>
                  </a:lnTo>
                  <a:lnTo>
                    <a:pt x="254" y="134"/>
                  </a:lnTo>
                  <a:lnTo>
                    <a:pt x="225" y="157"/>
                  </a:lnTo>
                  <a:lnTo>
                    <a:pt x="203" y="178"/>
                  </a:lnTo>
                  <a:lnTo>
                    <a:pt x="114" y="23"/>
                  </a:lnTo>
                  <a:lnTo>
                    <a:pt x="108" y="93"/>
                  </a:lnTo>
                  <a:lnTo>
                    <a:pt x="98" y="157"/>
                  </a:lnTo>
                  <a:lnTo>
                    <a:pt x="84" y="242"/>
                  </a:lnTo>
                  <a:lnTo>
                    <a:pt x="62" y="317"/>
                  </a:lnTo>
                  <a:lnTo>
                    <a:pt x="36" y="382"/>
                  </a:lnTo>
                  <a:lnTo>
                    <a:pt x="0" y="451"/>
                  </a:lnTo>
                  <a:lnTo>
                    <a:pt x="69" y="446"/>
                  </a:lnTo>
                  <a:lnTo>
                    <a:pt x="144" y="444"/>
                  </a:lnTo>
                  <a:lnTo>
                    <a:pt x="227" y="454"/>
                  </a:lnTo>
                  <a:lnTo>
                    <a:pt x="298" y="470"/>
                  </a:lnTo>
                  <a:lnTo>
                    <a:pt x="341" y="481"/>
                  </a:lnTo>
                  <a:lnTo>
                    <a:pt x="396" y="508"/>
                  </a:lnTo>
                  <a:lnTo>
                    <a:pt x="306" y="352"/>
                  </a:lnTo>
                  <a:lnTo>
                    <a:pt x="356" y="312"/>
                  </a:lnTo>
                  <a:lnTo>
                    <a:pt x="403" y="278"/>
                  </a:lnTo>
                  <a:lnTo>
                    <a:pt x="466" y="248"/>
                  </a:lnTo>
                  <a:lnTo>
                    <a:pt x="527" y="222"/>
                  </a:lnTo>
                  <a:lnTo>
                    <a:pt x="603" y="201"/>
                  </a:lnTo>
                  <a:lnTo>
                    <a:pt x="670" y="184"/>
                  </a:lnTo>
                  <a:lnTo>
                    <a:pt x="771" y="163"/>
                  </a:lnTo>
                  <a:lnTo>
                    <a:pt x="853" y="154"/>
                  </a:lnTo>
                  <a:lnTo>
                    <a:pt x="931" y="149"/>
                  </a:lnTo>
                  <a:lnTo>
                    <a:pt x="1018" y="151"/>
                  </a:lnTo>
                  <a:lnTo>
                    <a:pt x="1058" y="152"/>
                  </a:lnTo>
                  <a:lnTo>
                    <a:pt x="1095" y="153"/>
                  </a:lnTo>
                  <a:lnTo>
                    <a:pt x="1130" y="158"/>
                  </a:lnTo>
                  <a:lnTo>
                    <a:pt x="1164" y="162"/>
                  </a:lnTo>
                  <a:lnTo>
                    <a:pt x="1222" y="166"/>
                  </a:lnTo>
                  <a:lnTo>
                    <a:pt x="1267" y="177"/>
                  </a:lnTo>
                  <a:lnTo>
                    <a:pt x="1300" y="185"/>
                  </a:lnTo>
                  <a:lnTo>
                    <a:pt x="1334" y="193"/>
                  </a:lnTo>
                  <a:lnTo>
                    <a:pt x="1368" y="202"/>
                  </a:lnTo>
                  <a:lnTo>
                    <a:pt x="1396" y="211"/>
                  </a:lnTo>
                  <a:lnTo>
                    <a:pt x="1430" y="222"/>
                  </a:lnTo>
                  <a:lnTo>
                    <a:pt x="1467" y="238"/>
                  </a:lnTo>
                  <a:lnTo>
                    <a:pt x="1501" y="252"/>
                  </a:lnTo>
                  <a:lnTo>
                    <a:pt x="1534" y="270"/>
                  </a:lnTo>
                </a:path>
              </a:pathLst>
            </a:custGeom>
            <a:solidFill>
              <a:srgbClr val="00FF00"/>
            </a:solidFill>
            <a:ln w="12700" cap="rnd" cmpd="sng">
              <a:solidFill>
                <a:schemeClr val="bg2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42" name="그룹 41"/>
          <p:cNvGrpSpPr/>
          <p:nvPr/>
        </p:nvGrpSpPr>
        <p:grpSpPr>
          <a:xfrm>
            <a:off x="5255904" y="2723276"/>
            <a:ext cx="3288637" cy="644222"/>
            <a:chOff x="5255904" y="2723276"/>
            <a:chExt cx="3288637" cy="644222"/>
          </a:xfrm>
        </p:grpSpPr>
        <p:sp>
          <p:nvSpPr>
            <p:cNvPr id="24" name="Rectangle 2"/>
            <p:cNvSpPr>
              <a:spLocks noChangeArrowheads="1"/>
            </p:cNvSpPr>
            <p:nvPr/>
          </p:nvSpPr>
          <p:spPr bwMode="auto">
            <a:xfrm>
              <a:off x="5255904" y="2723276"/>
              <a:ext cx="431209" cy="582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 altLang="ko-KR" sz="3200" b="1" i="1">
                  <a:ea typeface="굴림" panose="020B0600000101010101" pitchFamily="50" charset="-127"/>
                </a:rPr>
                <a:t>Y</a:t>
              </a:r>
            </a:p>
          </p:txBody>
        </p:sp>
        <p:sp>
          <p:nvSpPr>
            <p:cNvPr id="25" name="Rectangle 3"/>
            <p:cNvSpPr>
              <a:spLocks noChangeArrowheads="1"/>
            </p:cNvSpPr>
            <p:nvPr/>
          </p:nvSpPr>
          <p:spPr bwMode="auto">
            <a:xfrm>
              <a:off x="7248217" y="2723276"/>
              <a:ext cx="450445" cy="582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 altLang="ko-KR" sz="3200" b="1" i="1">
                  <a:ea typeface="굴림" panose="020B0600000101010101" pitchFamily="50" charset="-127"/>
                </a:rPr>
                <a:t>X</a:t>
              </a:r>
            </a:p>
          </p:txBody>
        </p:sp>
        <p:sp>
          <p:nvSpPr>
            <p:cNvPr id="26" name="Rectangle 4"/>
            <p:cNvSpPr>
              <a:spLocks noChangeArrowheads="1"/>
            </p:cNvSpPr>
            <p:nvPr/>
          </p:nvSpPr>
          <p:spPr bwMode="auto">
            <a:xfrm>
              <a:off x="5494029" y="2939176"/>
              <a:ext cx="259687" cy="42832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 altLang="ko-KR" sz="2200" b="1" i="1" dirty="0" err="1">
                  <a:ea typeface="굴림" panose="020B0600000101010101" pitchFamily="50" charset="-127"/>
                </a:rPr>
                <a:t>i</a:t>
              </a:r>
              <a:endParaRPr lang="en-US" altLang="ko-KR" sz="2200" b="1" i="1" dirty="0">
                <a:ea typeface="굴림" panose="020B0600000101010101" pitchFamily="50" charset="-127"/>
              </a:endParaRPr>
            </a:p>
          </p:txBody>
        </p:sp>
        <p:sp>
          <p:nvSpPr>
            <p:cNvPr id="27" name="Rectangle 5"/>
            <p:cNvSpPr>
              <a:spLocks noChangeArrowheads="1"/>
            </p:cNvSpPr>
            <p:nvPr/>
          </p:nvSpPr>
          <p:spPr bwMode="auto">
            <a:xfrm>
              <a:off x="7551429" y="2939176"/>
              <a:ext cx="259687" cy="42832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 altLang="ko-KR" sz="2200" b="1" i="1">
                  <a:ea typeface="굴림" panose="020B0600000101010101" pitchFamily="50" charset="-127"/>
                </a:rPr>
                <a:t>i</a:t>
              </a:r>
            </a:p>
          </p:txBody>
        </p:sp>
        <p:sp>
          <p:nvSpPr>
            <p:cNvPr id="28" name="Rectangle 6"/>
            <p:cNvSpPr>
              <a:spLocks noChangeArrowheads="1"/>
            </p:cNvSpPr>
            <p:nvPr/>
          </p:nvSpPr>
          <p:spPr bwMode="auto">
            <a:xfrm>
              <a:off x="8284854" y="2939176"/>
              <a:ext cx="259687" cy="42832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 altLang="ko-KR" sz="2200" b="1" i="1">
                  <a:ea typeface="굴림" panose="020B0600000101010101" pitchFamily="50" charset="-127"/>
                </a:rPr>
                <a:t>i</a:t>
              </a:r>
            </a:p>
          </p:txBody>
        </p:sp>
        <p:sp>
          <p:nvSpPr>
            <p:cNvPr id="29" name="Rectangle 7"/>
            <p:cNvSpPr>
              <a:spLocks noChangeArrowheads="1"/>
            </p:cNvSpPr>
            <p:nvPr/>
          </p:nvSpPr>
          <p:spPr bwMode="auto">
            <a:xfrm>
              <a:off x="5730567" y="2723276"/>
              <a:ext cx="408767" cy="582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 altLang="ko-KR" sz="3200" b="1">
                  <a:latin typeface="Symbol" panose="05050102010706020507" pitchFamily="18" charset="2"/>
                  <a:ea typeface="굴림" panose="020B0600000101010101" pitchFamily="50" charset="-127"/>
                </a:rPr>
                <a:t></a:t>
              </a:r>
            </a:p>
          </p:txBody>
        </p:sp>
        <p:sp>
          <p:nvSpPr>
            <p:cNvPr id="30" name="Rectangle 8"/>
            <p:cNvSpPr>
              <a:spLocks noChangeArrowheads="1"/>
            </p:cNvSpPr>
            <p:nvPr/>
          </p:nvSpPr>
          <p:spPr bwMode="auto">
            <a:xfrm>
              <a:off x="6573529" y="2723276"/>
              <a:ext cx="408767" cy="582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 altLang="ko-KR" sz="3200" b="1">
                  <a:latin typeface="Symbol" panose="05050102010706020507" pitchFamily="18" charset="2"/>
                  <a:ea typeface="굴림" panose="020B0600000101010101" pitchFamily="50" charset="-127"/>
                </a:rPr>
                <a:t></a:t>
              </a:r>
            </a:p>
          </p:txBody>
        </p:sp>
        <p:sp>
          <p:nvSpPr>
            <p:cNvPr id="31" name="Rectangle 9"/>
            <p:cNvSpPr>
              <a:spLocks noChangeArrowheads="1"/>
            </p:cNvSpPr>
            <p:nvPr/>
          </p:nvSpPr>
          <p:spPr bwMode="auto">
            <a:xfrm>
              <a:off x="7767329" y="2723276"/>
              <a:ext cx="408767" cy="582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 altLang="ko-KR" sz="3200" b="1">
                  <a:latin typeface="Symbol" panose="05050102010706020507" pitchFamily="18" charset="2"/>
                  <a:ea typeface="굴림" panose="020B0600000101010101" pitchFamily="50" charset="-127"/>
                </a:rPr>
                <a:t></a:t>
              </a:r>
            </a:p>
          </p:txBody>
        </p:sp>
        <p:sp>
          <p:nvSpPr>
            <p:cNvPr id="32" name="Rectangle 10"/>
            <p:cNvSpPr>
              <a:spLocks noChangeArrowheads="1"/>
            </p:cNvSpPr>
            <p:nvPr/>
          </p:nvSpPr>
          <p:spPr bwMode="auto">
            <a:xfrm>
              <a:off x="6048067" y="2723276"/>
              <a:ext cx="408767" cy="582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 altLang="ko-KR" sz="3200" b="1" dirty="0">
                  <a:latin typeface="Symbol" panose="05050102010706020507" pitchFamily="18" charset="2"/>
                  <a:ea typeface="굴림" panose="020B0600000101010101" pitchFamily="50" charset="-127"/>
                </a:rPr>
                <a:t></a:t>
              </a:r>
            </a:p>
          </p:txBody>
        </p:sp>
        <p:sp>
          <p:nvSpPr>
            <p:cNvPr id="33" name="Rectangle 11"/>
            <p:cNvSpPr>
              <a:spLocks noChangeArrowheads="1"/>
            </p:cNvSpPr>
            <p:nvPr/>
          </p:nvSpPr>
          <p:spPr bwMode="auto">
            <a:xfrm>
              <a:off x="6871979" y="2723276"/>
              <a:ext cx="408767" cy="582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 altLang="ko-KR" sz="3200" b="1">
                  <a:latin typeface="Symbol" panose="05050102010706020507" pitchFamily="18" charset="2"/>
                  <a:ea typeface="굴림" panose="020B0600000101010101" pitchFamily="50" charset="-127"/>
                </a:rPr>
                <a:t></a:t>
              </a:r>
            </a:p>
          </p:txBody>
        </p:sp>
        <p:sp>
          <p:nvSpPr>
            <p:cNvPr id="34" name="Rectangle 12"/>
            <p:cNvSpPr>
              <a:spLocks noChangeArrowheads="1"/>
            </p:cNvSpPr>
            <p:nvPr/>
          </p:nvSpPr>
          <p:spPr bwMode="auto">
            <a:xfrm>
              <a:off x="8083242" y="2723276"/>
              <a:ext cx="363883" cy="582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 altLang="ko-KR" sz="3200" b="1">
                  <a:latin typeface="Symbol" panose="05050102010706020507" pitchFamily="18" charset="2"/>
                  <a:ea typeface="굴림" panose="020B0600000101010101" pitchFamily="50" charset="-127"/>
                </a:rPr>
                <a:t></a:t>
              </a:r>
            </a:p>
          </p:txBody>
        </p:sp>
        <p:sp>
          <p:nvSpPr>
            <p:cNvPr id="35" name="Rectangle 13"/>
            <p:cNvSpPr>
              <a:spLocks noChangeArrowheads="1"/>
            </p:cNvSpPr>
            <p:nvPr/>
          </p:nvSpPr>
          <p:spPr bwMode="auto">
            <a:xfrm>
              <a:off x="6286192" y="2939176"/>
              <a:ext cx="346250" cy="42832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 altLang="ko-KR" sz="2200" b="1">
                  <a:ea typeface="굴림" panose="020B0600000101010101" pitchFamily="50" charset="-127"/>
                </a:rPr>
                <a:t>0</a:t>
              </a:r>
            </a:p>
          </p:txBody>
        </p:sp>
        <p:sp>
          <p:nvSpPr>
            <p:cNvPr id="36" name="Rectangle 14"/>
            <p:cNvSpPr>
              <a:spLocks noChangeArrowheads="1"/>
            </p:cNvSpPr>
            <p:nvPr/>
          </p:nvSpPr>
          <p:spPr bwMode="auto">
            <a:xfrm>
              <a:off x="7092642" y="2939176"/>
              <a:ext cx="346250" cy="42832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 altLang="ko-KR" sz="2200" b="1">
                  <a:ea typeface="굴림" panose="020B0600000101010101" pitchFamily="50" charset="-127"/>
                </a:rPr>
                <a:t>1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5435388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선형 회귀 분석</a:t>
            </a:r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2759337" y="3263230"/>
            <a:ext cx="431209" cy="5822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altLang="ko-KR" sz="3200" b="1" i="1">
                <a:ea typeface="굴림" panose="020B0600000101010101" pitchFamily="50" charset="-127"/>
              </a:rPr>
              <a:t>Y</a:t>
            </a:r>
          </a:p>
        </p:txBody>
      </p:sp>
      <p:sp>
        <p:nvSpPr>
          <p:cNvPr id="4" name="Rectangle 3"/>
          <p:cNvSpPr>
            <a:spLocks noChangeArrowheads="1"/>
          </p:cNvSpPr>
          <p:nvPr/>
        </p:nvSpPr>
        <p:spPr bwMode="auto">
          <a:xfrm>
            <a:off x="4751650" y="3263230"/>
            <a:ext cx="450445" cy="5822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altLang="ko-KR" sz="3200" b="1" i="1">
                <a:ea typeface="굴림" panose="020B0600000101010101" pitchFamily="50" charset="-127"/>
              </a:rPr>
              <a:t>X</a:t>
            </a:r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2997462" y="3479130"/>
            <a:ext cx="259687" cy="428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altLang="ko-KR" sz="2200" b="1" i="1">
                <a:ea typeface="굴림" panose="020B0600000101010101" pitchFamily="50" charset="-127"/>
              </a:rPr>
              <a:t>i</a:t>
            </a:r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5054862" y="3479130"/>
            <a:ext cx="259687" cy="428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altLang="ko-KR" sz="2200" b="1" i="1">
                <a:ea typeface="굴림" panose="020B0600000101010101" pitchFamily="50" charset="-127"/>
              </a:rPr>
              <a:t>i</a:t>
            </a:r>
          </a:p>
        </p:txBody>
      </p:sp>
      <p:sp>
        <p:nvSpPr>
          <p:cNvPr id="7" name="Rectangle 6"/>
          <p:cNvSpPr>
            <a:spLocks noChangeArrowheads="1"/>
          </p:cNvSpPr>
          <p:nvPr/>
        </p:nvSpPr>
        <p:spPr bwMode="auto">
          <a:xfrm>
            <a:off x="5788287" y="3479130"/>
            <a:ext cx="259687" cy="428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altLang="ko-KR" sz="2200" b="1" i="1">
                <a:ea typeface="굴림" panose="020B0600000101010101" pitchFamily="50" charset="-127"/>
              </a:rPr>
              <a:t>i</a:t>
            </a:r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3234000" y="3263230"/>
            <a:ext cx="408767" cy="5822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altLang="ko-KR" sz="3200" b="1">
                <a:latin typeface="Symbol" panose="05050102010706020507" pitchFamily="18" charset="2"/>
                <a:ea typeface="굴림" panose="020B0600000101010101" pitchFamily="50" charset="-127"/>
              </a:rPr>
              <a:t></a:t>
            </a:r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4076962" y="3263230"/>
            <a:ext cx="408767" cy="5822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altLang="ko-KR" sz="3200" b="1">
                <a:latin typeface="Symbol" panose="05050102010706020507" pitchFamily="18" charset="2"/>
                <a:ea typeface="굴림" panose="020B0600000101010101" pitchFamily="50" charset="-127"/>
              </a:rPr>
              <a:t></a:t>
            </a:r>
          </a:p>
        </p:txBody>
      </p:sp>
      <p:sp>
        <p:nvSpPr>
          <p:cNvPr id="10" name="Rectangle 9"/>
          <p:cNvSpPr>
            <a:spLocks noChangeArrowheads="1"/>
          </p:cNvSpPr>
          <p:nvPr/>
        </p:nvSpPr>
        <p:spPr bwMode="auto">
          <a:xfrm>
            <a:off x="5270762" y="3263230"/>
            <a:ext cx="408767" cy="5822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altLang="ko-KR" sz="3200" b="1">
                <a:latin typeface="Symbol" panose="05050102010706020507" pitchFamily="18" charset="2"/>
                <a:ea typeface="굴림" panose="020B0600000101010101" pitchFamily="50" charset="-127"/>
              </a:rPr>
              <a:t></a:t>
            </a:r>
          </a:p>
        </p:txBody>
      </p:sp>
      <p:sp>
        <p:nvSpPr>
          <p:cNvPr id="11" name="Rectangle 10"/>
          <p:cNvSpPr>
            <a:spLocks noChangeArrowheads="1"/>
          </p:cNvSpPr>
          <p:nvPr/>
        </p:nvSpPr>
        <p:spPr bwMode="auto">
          <a:xfrm>
            <a:off x="3551500" y="3263230"/>
            <a:ext cx="408767" cy="5822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altLang="ko-KR" sz="3200" b="1">
                <a:latin typeface="Symbol" panose="05050102010706020507" pitchFamily="18" charset="2"/>
                <a:ea typeface="굴림" panose="020B0600000101010101" pitchFamily="50" charset="-127"/>
              </a:rPr>
              <a:t></a:t>
            </a:r>
          </a:p>
        </p:txBody>
      </p:sp>
      <p:sp>
        <p:nvSpPr>
          <p:cNvPr id="12" name="Rectangle 11"/>
          <p:cNvSpPr>
            <a:spLocks noChangeArrowheads="1"/>
          </p:cNvSpPr>
          <p:nvPr/>
        </p:nvSpPr>
        <p:spPr bwMode="auto">
          <a:xfrm>
            <a:off x="4375412" y="3263230"/>
            <a:ext cx="408767" cy="5822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altLang="ko-KR" sz="3200" b="1">
                <a:latin typeface="Symbol" panose="05050102010706020507" pitchFamily="18" charset="2"/>
                <a:ea typeface="굴림" panose="020B0600000101010101" pitchFamily="50" charset="-127"/>
              </a:rPr>
              <a:t></a:t>
            </a:r>
          </a:p>
        </p:txBody>
      </p:sp>
      <p:sp>
        <p:nvSpPr>
          <p:cNvPr id="13" name="Rectangle 12"/>
          <p:cNvSpPr>
            <a:spLocks noChangeArrowheads="1"/>
          </p:cNvSpPr>
          <p:nvPr/>
        </p:nvSpPr>
        <p:spPr bwMode="auto">
          <a:xfrm>
            <a:off x="5586675" y="3263230"/>
            <a:ext cx="363883" cy="5822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altLang="ko-KR" sz="3200" b="1">
                <a:latin typeface="Symbol" panose="05050102010706020507" pitchFamily="18" charset="2"/>
                <a:ea typeface="굴림" panose="020B0600000101010101" pitchFamily="50" charset="-127"/>
              </a:rPr>
              <a:t></a:t>
            </a:r>
          </a:p>
        </p:txBody>
      </p:sp>
      <p:sp>
        <p:nvSpPr>
          <p:cNvPr id="14" name="Rectangle 13"/>
          <p:cNvSpPr>
            <a:spLocks noChangeArrowheads="1"/>
          </p:cNvSpPr>
          <p:nvPr/>
        </p:nvSpPr>
        <p:spPr bwMode="auto">
          <a:xfrm>
            <a:off x="3789625" y="3479130"/>
            <a:ext cx="346250" cy="428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altLang="ko-KR" sz="2200" b="1">
                <a:ea typeface="굴림" panose="020B0600000101010101" pitchFamily="50" charset="-127"/>
              </a:rPr>
              <a:t>0</a:t>
            </a:r>
          </a:p>
        </p:txBody>
      </p:sp>
      <p:sp>
        <p:nvSpPr>
          <p:cNvPr id="15" name="Rectangle 14"/>
          <p:cNvSpPr>
            <a:spLocks noChangeArrowheads="1"/>
          </p:cNvSpPr>
          <p:nvPr/>
        </p:nvSpPr>
        <p:spPr bwMode="auto">
          <a:xfrm>
            <a:off x="4596075" y="3479130"/>
            <a:ext cx="346250" cy="428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altLang="ko-KR" sz="2200" b="1">
                <a:ea typeface="굴림" panose="020B0600000101010101" pitchFamily="50" charset="-127"/>
              </a:rPr>
              <a:t>1</a:t>
            </a:r>
          </a:p>
        </p:txBody>
      </p:sp>
      <p:sp>
        <p:nvSpPr>
          <p:cNvPr id="16" name="Rectangle 17"/>
          <p:cNvSpPr>
            <a:spLocks noChangeArrowheads="1"/>
          </p:cNvSpPr>
          <p:nvPr/>
        </p:nvSpPr>
        <p:spPr bwMode="auto">
          <a:xfrm>
            <a:off x="773375" y="4109368"/>
            <a:ext cx="2208212" cy="15670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93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ko-KR" b="1">
                <a:latin typeface="Arial" panose="020B0604020202020204" pitchFamily="34" charset="0"/>
                <a:ea typeface="굴림" panose="020B0600000101010101" pitchFamily="50" charset="-127"/>
              </a:rPr>
              <a:t>Dependent (Response) Variable</a:t>
            </a:r>
            <a:br>
              <a:rPr lang="en-US" altLang="ko-KR" b="1">
                <a:latin typeface="Arial" panose="020B0604020202020204" pitchFamily="34" charset="0"/>
                <a:ea typeface="굴림" panose="020B0600000101010101" pitchFamily="50" charset="-127"/>
              </a:rPr>
            </a:br>
            <a:r>
              <a:rPr lang="en-US" altLang="ko-KR" b="1">
                <a:latin typeface="Arial" panose="020B0604020202020204" pitchFamily="34" charset="0"/>
                <a:ea typeface="굴림" panose="020B0600000101010101" pitchFamily="50" charset="-127"/>
              </a:rPr>
              <a:t>(e.g., CD+ c.)</a:t>
            </a:r>
          </a:p>
        </p:txBody>
      </p:sp>
      <p:sp>
        <p:nvSpPr>
          <p:cNvPr id="17" name="Rectangle 18"/>
          <p:cNvSpPr>
            <a:spLocks noChangeArrowheads="1"/>
          </p:cNvSpPr>
          <p:nvPr/>
        </p:nvSpPr>
        <p:spPr bwMode="auto">
          <a:xfrm>
            <a:off x="5038987" y="4149055"/>
            <a:ext cx="3733800" cy="11977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ko-KR" sz="2400" b="1">
                <a:ea typeface="굴림" panose="020B0600000101010101" pitchFamily="50" charset="-127"/>
              </a:rPr>
              <a:t>Independent (Explanatory) Variable </a:t>
            </a:r>
            <a:br>
              <a:rPr lang="en-US" altLang="ko-KR" sz="2400" b="1">
                <a:ea typeface="굴림" panose="020B0600000101010101" pitchFamily="50" charset="-127"/>
              </a:rPr>
            </a:br>
            <a:r>
              <a:rPr lang="en-US" altLang="ko-KR" sz="2400" b="1">
                <a:ea typeface="굴림" panose="020B0600000101010101" pitchFamily="50" charset="-127"/>
              </a:rPr>
              <a:t>(e.g., Years s. serocon.)</a:t>
            </a:r>
          </a:p>
        </p:txBody>
      </p:sp>
      <p:sp>
        <p:nvSpPr>
          <p:cNvPr id="18" name="Rectangle 19"/>
          <p:cNvSpPr>
            <a:spLocks noChangeArrowheads="1"/>
          </p:cNvSpPr>
          <p:nvPr/>
        </p:nvSpPr>
        <p:spPr bwMode="auto">
          <a:xfrm>
            <a:off x="4230950" y="2137693"/>
            <a:ext cx="1797050" cy="8284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ko-KR" sz="2400" b="1">
                <a:ea typeface="굴림" panose="020B0600000101010101" pitchFamily="50" charset="-127"/>
              </a:rPr>
              <a:t>Population Slope</a:t>
            </a:r>
          </a:p>
        </p:txBody>
      </p:sp>
      <p:sp>
        <p:nvSpPr>
          <p:cNvPr id="19" name="Rectangle 20"/>
          <p:cNvSpPr>
            <a:spLocks noChangeArrowheads="1"/>
          </p:cNvSpPr>
          <p:nvPr/>
        </p:nvSpPr>
        <p:spPr bwMode="auto">
          <a:xfrm>
            <a:off x="1459175" y="2137693"/>
            <a:ext cx="2206625" cy="8284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ko-KR" sz="2400" b="1">
                <a:ea typeface="굴림" panose="020B0600000101010101" pitchFamily="50" charset="-127"/>
              </a:rPr>
              <a:t>Population </a:t>
            </a:r>
            <a:br>
              <a:rPr lang="en-US" altLang="ko-KR" sz="2400" b="1">
                <a:ea typeface="굴림" panose="020B0600000101010101" pitchFamily="50" charset="-127"/>
              </a:rPr>
            </a:br>
            <a:r>
              <a:rPr lang="en-US" altLang="ko-KR" sz="2400" b="1">
                <a:ea typeface="굴림" panose="020B0600000101010101" pitchFamily="50" charset="-127"/>
              </a:rPr>
              <a:t>Y-Intercept</a:t>
            </a:r>
          </a:p>
        </p:txBody>
      </p:sp>
      <p:sp>
        <p:nvSpPr>
          <p:cNvPr id="20" name="Rectangle 21"/>
          <p:cNvSpPr>
            <a:spLocks noChangeArrowheads="1"/>
          </p:cNvSpPr>
          <p:nvPr/>
        </p:nvSpPr>
        <p:spPr bwMode="auto">
          <a:xfrm>
            <a:off x="6335975" y="2137693"/>
            <a:ext cx="1592262" cy="8284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ko-KR" sz="2400" b="1">
                <a:ea typeface="굴림" panose="020B0600000101010101" pitchFamily="50" charset="-127"/>
              </a:rPr>
              <a:t>Random Error</a:t>
            </a:r>
          </a:p>
        </p:txBody>
      </p:sp>
      <p:sp>
        <p:nvSpPr>
          <p:cNvPr id="21" name="Line 22"/>
          <p:cNvSpPr>
            <a:spLocks noChangeShapeType="1"/>
          </p:cNvSpPr>
          <p:nvPr/>
        </p:nvSpPr>
        <p:spPr bwMode="auto">
          <a:xfrm flipV="1">
            <a:off x="2378337" y="3749005"/>
            <a:ext cx="444500" cy="393700"/>
          </a:xfrm>
          <a:prstGeom prst="line">
            <a:avLst/>
          </a:prstGeom>
          <a:noFill/>
          <a:ln w="12700">
            <a:solidFill>
              <a:schemeClr val="folHlink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o-KR" altLang="en-US" b="1"/>
          </a:p>
        </p:txBody>
      </p:sp>
      <p:sp>
        <p:nvSpPr>
          <p:cNvPr id="22" name="Line 23"/>
          <p:cNvSpPr>
            <a:spLocks noChangeShapeType="1"/>
          </p:cNvSpPr>
          <p:nvPr/>
        </p:nvSpPr>
        <p:spPr bwMode="auto">
          <a:xfrm flipH="1" flipV="1">
            <a:off x="5185037" y="3825205"/>
            <a:ext cx="317500" cy="393700"/>
          </a:xfrm>
          <a:prstGeom prst="line">
            <a:avLst/>
          </a:prstGeom>
          <a:noFill/>
          <a:ln w="12700">
            <a:solidFill>
              <a:schemeClr val="folHlink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o-KR" altLang="en-US" b="1"/>
          </a:p>
        </p:txBody>
      </p:sp>
      <p:sp>
        <p:nvSpPr>
          <p:cNvPr id="23" name="Line 24"/>
          <p:cNvSpPr>
            <a:spLocks noChangeShapeType="1"/>
          </p:cNvSpPr>
          <p:nvPr/>
        </p:nvSpPr>
        <p:spPr bwMode="auto">
          <a:xfrm>
            <a:off x="3368937" y="2923505"/>
            <a:ext cx="292100" cy="368300"/>
          </a:xfrm>
          <a:prstGeom prst="line">
            <a:avLst/>
          </a:prstGeom>
          <a:noFill/>
          <a:ln w="12700">
            <a:solidFill>
              <a:schemeClr val="folHlink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o-KR" altLang="en-US" b="1"/>
          </a:p>
        </p:txBody>
      </p:sp>
      <p:sp>
        <p:nvSpPr>
          <p:cNvPr id="24" name="Line 25"/>
          <p:cNvSpPr>
            <a:spLocks noChangeShapeType="1"/>
          </p:cNvSpPr>
          <p:nvPr/>
        </p:nvSpPr>
        <p:spPr bwMode="auto">
          <a:xfrm flipH="1">
            <a:off x="4651637" y="2923505"/>
            <a:ext cx="88900" cy="368300"/>
          </a:xfrm>
          <a:prstGeom prst="line">
            <a:avLst/>
          </a:prstGeom>
          <a:noFill/>
          <a:ln w="12700">
            <a:solidFill>
              <a:schemeClr val="folHlink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o-KR" altLang="en-US" b="1"/>
          </a:p>
        </p:txBody>
      </p:sp>
      <p:sp>
        <p:nvSpPr>
          <p:cNvPr id="25" name="Line 26"/>
          <p:cNvSpPr>
            <a:spLocks noChangeShapeType="1"/>
          </p:cNvSpPr>
          <p:nvPr/>
        </p:nvSpPr>
        <p:spPr bwMode="auto">
          <a:xfrm flipH="1">
            <a:off x="5870837" y="2923505"/>
            <a:ext cx="546100" cy="444500"/>
          </a:xfrm>
          <a:prstGeom prst="line">
            <a:avLst/>
          </a:prstGeom>
          <a:noFill/>
          <a:ln w="12700">
            <a:solidFill>
              <a:schemeClr val="folHlink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o-KR" altLang="en-US" b="1"/>
          </a:p>
        </p:txBody>
      </p:sp>
    </p:spTree>
    <p:extLst>
      <p:ext uri="{BB962C8B-B14F-4D97-AF65-F5344CB8AC3E}">
        <p14:creationId xmlns:p14="http://schemas.microsoft.com/office/powerpoint/2010/main" val="24173560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선형 회귀 분석 </a:t>
            </a:r>
            <a:r>
              <a:rPr lang="en-US" altLang="ko-KR" dirty="0"/>
              <a:t>: Least square</a:t>
            </a:r>
            <a:endParaRPr lang="ko-KR" altLang="en-US" dirty="0"/>
          </a:p>
        </p:txBody>
      </p:sp>
      <p:grpSp>
        <p:nvGrpSpPr>
          <p:cNvPr id="66" name="그룹 65"/>
          <p:cNvGrpSpPr/>
          <p:nvPr/>
        </p:nvGrpSpPr>
        <p:grpSpPr>
          <a:xfrm>
            <a:off x="1341620" y="1898110"/>
            <a:ext cx="4078288" cy="2987675"/>
            <a:chOff x="2574801" y="1898111"/>
            <a:chExt cx="4078288" cy="2987675"/>
          </a:xfrm>
        </p:grpSpPr>
        <p:sp>
          <p:nvSpPr>
            <p:cNvPr id="42" name="Line 19"/>
            <p:cNvSpPr>
              <a:spLocks noChangeShapeType="1"/>
            </p:cNvSpPr>
            <p:nvPr/>
          </p:nvSpPr>
          <p:spPr bwMode="auto">
            <a:xfrm flipV="1">
              <a:off x="2574801" y="2736311"/>
              <a:ext cx="2286000" cy="1676400"/>
            </a:xfrm>
            <a:prstGeom prst="line">
              <a:avLst/>
            </a:prstGeom>
            <a:noFill/>
            <a:ln w="1270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9pPr>
            </a:lstStyle>
            <a:p>
              <a:endParaRPr lang="ko-KR" altLang="en-US"/>
            </a:p>
          </p:txBody>
        </p:sp>
        <p:sp>
          <p:nvSpPr>
            <p:cNvPr id="43" name="Line 3"/>
            <p:cNvSpPr>
              <a:spLocks noChangeShapeType="1"/>
            </p:cNvSpPr>
            <p:nvPr/>
          </p:nvSpPr>
          <p:spPr bwMode="auto">
            <a:xfrm>
              <a:off x="2574801" y="1898111"/>
              <a:ext cx="0" cy="298608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9pPr>
            </a:lstStyle>
            <a:p>
              <a:endParaRPr lang="ko-KR" altLang="en-US"/>
            </a:p>
          </p:txBody>
        </p:sp>
        <p:sp>
          <p:nvSpPr>
            <p:cNvPr id="44" name="Line 4"/>
            <p:cNvSpPr>
              <a:spLocks noChangeShapeType="1"/>
            </p:cNvSpPr>
            <p:nvPr/>
          </p:nvSpPr>
          <p:spPr bwMode="auto">
            <a:xfrm>
              <a:off x="2574801" y="4884199"/>
              <a:ext cx="4078288" cy="1587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9pPr>
            </a:lstStyle>
            <a:p>
              <a:endParaRPr lang="ko-KR" altLang="en-US"/>
            </a:p>
          </p:txBody>
        </p:sp>
        <p:sp>
          <p:nvSpPr>
            <p:cNvPr id="45" name="Oval 5"/>
            <p:cNvSpPr>
              <a:spLocks noChangeArrowheads="1"/>
            </p:cNvSpPr>
            <p:nvPr/>
          </p:nvSpPr>
          <p:spPr bwMode="auto">
            <a:xfrm>
              <a:off x="3413001" y="3955511"/>
              <a:ext cx="76200" cy="76200"/>
            </a:xfrm>
            <a:prstGeom prst="ellipse">
              <a:avLst/>
            </a:prstGeom>
            <a:solidFill>
              <a:schemeClr val="tx1"/>
            </a:solidFill>
            <a:ln w="635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9pPr>
            </a:lstStyle>
            <a:p>
              <a:endParaRPr lang="ko-KR" altLang="en-US"/>
            </a:p>
          </p:txBody>
        </p:sp>
        <p:sp>
          <p:nvSpPr>
            <p:cNvPr id="46" name="Oval 6"/>
            <p:cNvSpPr>
              <a:spLocks noChangeArrowheads="1"/>
            </p:cNvSpPr>
            <p:nvPr/>
          </p:nvSpPr>
          <p:spPr bwMode="auto">
            <a:xfrm>
              <a:off x="3032001" y="3879311"/>
              <a:ext cx="76200" cy="76200"/>
            </a:xfrm>
            <a:prstGeom prst="ellipse">
              <a:avLst/>
            </a:prstGeom>
            <a:solidFill>
              <a:schemeClr val="tx1"/>
            </a:solidFill>
            <a:ln w="635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9pPr>
            </a:lstStyle>
            <a:p>
              <a:endParaRPr lang="ko-KR" altLang="en-US"/>
            </a:p>
          </p:txBody>
        </p:sp>
        <p:sp>
          <p:nvSpPr>
            <p:cNvPr id="47" name="Oval 7"/>
            <p:cNvSpPr>
              <a:spLocks noChangeArrowheads="1"/>
            </p:cNvSpPr>
            <p:nvPr/>
          </p:nvSpPr>
          <p:spPr bwMode="auto">
            <a:xfrm>
              <a:off x="3565401" y="3345911"/>
              <a:ext cx="76200" cy="76200"/>
            </a:xfrm>
            <a:prstGeom prst="ellipse">
              <a:avLst/>
            </a:prstGeom>
            <a:solidFill>
              <a:schemeClr val="tx1"/>
            </a:solidFill>
            <a:ln w="635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9pPr>
            </a:lstStyle>
            <a:p>
              <a:endParaRPr lang="ko-KR" altLang="en-US"/>
            </a:p>
          </p:txBody>
        </p:sp>
        <p:sp>
          <p:nvSpPr>
            <p:cNvPr id="48" name="Oval 8"/>
            <p:cNvSpPr>
              <a:spLocks noChangeArrowheads="1"/>
            </p:cNvSpPr>
            <p:nvPr/>
          </p:nvSpPr>
          <p:spPr bwMode="auto">
            <a:xfrm>
              <a:off x="3946401" y="3650711"/>
              <a:ext cx="76200" cy="76200"/>
            </a:xfrm>
            <a:prstGeom prst="ellipse">
              <a:avLst/>
            </a:prstGeom>
            <a:solidFill>
              <a:schemeClr val="tx1"/>
            </a:solidFill>
            <a:ln w="635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9pPr>
            </a:lstStyle>
            <a:p>
              <a:endParaRPr lang="ko-KR" altLang="en-US"/>
            </a:p>
          </p:txBody>
        </p:sp>
        <p:sp>
          <p:nvSpPr>
            <p:cNvPr id="49" name="Oval 9"/>
            <p:cNvSpPr>
              <a:spLocks noChangeArrowheads="1"/>
            </p:cNvSpPr>
            <p:nvPr/>
          </p:nvSpPr>
          <p:spPr bwMode="auto">
            <a:xfrm>
              <a:off x="3641601" y="3193511"/>
              <a:ext cx="76200" cy="76200"/>
            </a:xfrm>
            <a:prstGeom prst="ellipse">
              <a:avLst/>
            </a:prstGeom>
            <a:solidFill>
              <a:schemeClr val="tx1"/>
            </a:solidFill>
            <a:ln w="635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9pPr>
            </a:lstStyle>
            <a:p>
              <a:endParaRPr lang="ko-KR" altLang="en-US"/>
            </a:p>
          </p:txBody>
        </p:sp>
        <p:sp>
          <p:nvSpPr>
            <p:cNvPr id="50" name="Oval 10"/>
            <p:cNvSpPr>
              <a:spLocks noChangeArrowheads="1"/>
            </p:cNvSpPr>
            <p:nvPr/>
          </p:nvSpPr>
          <p:spPr bwMode="auto">
            <a:xfrm>
              <a:off x="4022601" y="3269711"/>
              <a:ext cx="76200" cy="76200"/>
            </a:xfrm>
            <a:prstGeom prst="ellipse">
              <a:avLst/>
            </a:prstGeom>
            <a:solidFill>
              <a:schemeClr val="tx1"/>
            </a:solidFill>
            <a:ln w="635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9pPr>
            </a:lstStyle>
            <a:p>
              <a:endParaRPr lang="ko-KR" altLang="en-US"/>
            </a:p>
          </p:txBody>
        </p:sp>
        <p:sp>
          <p:nvSpPr>
            <p:cNvPr id="51" name="Oval 13"/>
            <p:cNvSpPr>
              <a:spLocks noChangeArrowheads="1"/>
            </p:cNvSpPr>
            <p:nvPr/>
          </p:nvSpPr>
          <p:spPr bwMode="auto">
            <a:xfrm>
              <a:off x="4327401" y="3498311"/>
              <a:ext cx="76200" cy="76200"/>
            </a:xfrm>
            <a:prstGeom prst="ellipse">
              <a:avLst/>
            </a:prstGeom>
            <a:solidFill>
              <a:schemeClr val="tx1"/>
            </a:solidFill>
            <a:ln w="635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9pPr>
            </a:lstStyle>
            <a:p>
              <a:endParaRPr lang="ko-KR" altLang="en-US"/>
            </a:p>
          </p:txBody>
        </p:sp>
        <p:sp>
          <p:nvSpPr>
            <p:cNvPr id="52" name="Oval 14"/>
            <p:cNvSpPr>
              <a:spLocks noChangeArrowheads="1"/>
            </p:cNvSpPr>
            <p:nvPr/>
          </p:nvSpPr>
          <p:spPr bwMode="auto">
            <a:xfrm>
              <a:off x="4251201" y="2964911"/>
              <a:ext cx="76200" cy="76200"/>
            </a:xfrm>
            <a:prstGeom prst="ellipse">
              <a:avLst/>
            </a:prstGeom>
            <a:solidFill>
              <a:schemeClr val="tx1"/>
            </a:solidFill>
            <a:ln w="635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9pPr>
            </a:lstStyle>
            <a:p>
              <a:endParaRPr lang="ko-KR" altLang="en-US"/>
            </a:p>
          </p:txBody>
        </p:sp>
        <p:sp>
          <p:nvSpPr>
            <p:cNvPr id="53" name="Oval 15"/>
            <p:cNvSpPr>
              <a:spLocks noChangeArrowheads="1"/>
            </p:cNvSpPr>
            <p:nvPr/>
          </p:nvSpPr>
          <p:spPr bwMode="auto">
            <a:xfrm>
              <a:off x="3413001" y="3422111"/>
              <a:ext cx="76200" cy="76200"/>
            </a:xfrm>
            <a:prstGeom prst="ellipse">
              <a:avLst/>
            </a:prstGeom>
            <a:solidFill>
              <a:schemeClr val="tx1"/>
            </a:solidFill>
            <a:ln w="635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9pPr>
            </a:lstStyle>
            <a:p>
              <a:endParaRPr lang="ko-KR" altLang="en-US"/>
            </a:p>
          </p:txBody>
        </p:sp>
        <p:sp>
          <p:nvSpPr>
            <p:cNvPr id="54" name="Oval 16"/>
            <p:cNvSpPr>
              <a:spLocks noChangeArrowheads="1"/>
            </p:cNvSpPr>
            <p:nvPr/>
          </p:nvSpPr>
          <p:spPr bwMode="auto">
            <a:xfrm>
              <a:off x="2803401" y="3879311"/>
              <a:ext cx="76200" cy="76200"/>
            </a:xfrm>
            <a:prstGeom prst="ellipse">
              <a:avLst/>
            </a:prstGeom>
            <a:solidFill>
              <a:schemeClr val="tx1"/>
            </a:solidFill>
            <a:ln w="635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9pPr>
            </a:lstStyle>
            <a:p>
              <a:endParaRPr lang="ko-KR" altLang="en-US"/>
            </a:p>
          </p:txBody>
        </p:sp>
        <p:sp>
          <p:nvSpPr>
            <p:cNvPr id="55" name="Oval 17"/>
            <p:cNvSpPr>
              <a:spLocks noChangeArrowheads="1"/>
            </p:cNvSpPr>
            <p:nvPr/>
          </p:nvSpPr>
          <p:spPr bwMode="auto">
            <a:xfrm>
              <a:off x="4479801" y="2660111"/>
              <a:ext cx="76200" cy="76200"/>
            </a:xfrm>
            <a:prstGeom prst="ellipse">
              <a:avLst/>
            </a:prstGeom>
            <a:solidFill>
              <a:schemeClr val="tx1"/>
            </a:solidFill>
            <a:ln w="635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9pPr>
            </a:lstStyle>
            <a:p>
              <a:endParaRPr lang="ko-KR" altLang="en-US"/>
            </a:p>
          </p:txBody>
        </p:sp>
        <p:sp>
          <p:nvSpPr>
            <p:cNvPr id="56" name="Line 27"/>
            <p:cNvSpPr>
              <a:spLocks noChangeShapeType="1"/>
            </p:cNvSpPr>
            <p:nvPr/>
          </p:nvSpPr>
          <p:spPr bwMode="auto">
            <a:xfrm>
              <a:off x="2841501" y="3955511"/>
              <a:ext cx="0" cy="271463"/>
            </a:xfrm>
            <a:prstGeom prst="line">
              <a:avLst/>
            </a:prstGeom>
            <a:noFill/>
            <a:ln w="3175">
              <a:solidFill>
                <a:srgbClr val="0000FF"/>
              </a:solidFill>
              <a:round/>
              <a:headEnd type="triangle" w="sm" len="sm"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9pPr>
            </a:lstStyle>
            <a:p>
              <a:endParaRPr lang="ko-KR" altLang="en-US"/>
            </a:p>
          </p:txBody>
        </p:sp>
        <p:sp>
          <p:nvSpPr>
            <p:cNvPr id="57" name="Line 28"/>
            <p:cNvSpPr>
              <a:spLocks noChangeShapeType="1"/>
            </p:cNvSpPr>
            <p:nvPr/>
          </p:nvSpPr>
          <p:spPr bwMode="auto">
            <a:xfrm>
              <a:off x="3070101" y="3955511"/>
              <a:ext cx="0" cy="80963"/>
            </a:xfrm>
            <a:prstGeom prst="line">
              <a:avLst/>
            </a:prstGeom>
            <a:noFill/>
            <a:ln w="3175">
              <a:solidFill>
                <a:srgbClr val="0000FF"/>
              </a:solidFill>
              <a:round/>
              <a:headEnd type="triangle" w="sm" len="sm"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9pPr>
            </a:lstStyle>
            <a:p>
              <a:endParaRPr lang="ko-KR" altLang="en-US"/>
            </a:p>
          </p:txBody>
        </p:sp>
        <p:sp>
          <p:nvSpPr>
            <p:cNvPr id="58" name="Line 29"/>
            <p:cNvSpPr>
              <a:spLocks noChangeShapeType="1"/>
            </p:cNvSpPr>
            <p:nvPr/>
          </p:nvSpPr>
          <p:spPr bwMode="auto">
            <a:xfrm>
              <a:off x="3438401" y="3779299"/>
              <a:ext cx="0" cy="188912"/>
            </a:xfrm>
            <a:prstGeom prst="line">
              <a:avLst/>
            </a:prstGeom>
            <a:noFill/>
            <a:ln w="3175">
              <a:solidFill>
                <a:srgbClr val="0000FF"/>
              </a:solidFill>
              <a:round/>
              <a:headEnd type="triangle" w="sm" len="sm"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9pPr>
            </a:lstStyle>
            <a:p>
              <a:endParaRPr lang="ko-KR" altLang="en-US"/>
            </a:p>
          </p:txBody>
        </p:sp>
        <p:sp>
          <p:nvSpPr>
            <p:cNvPr id="59" name="Line 30"/>
            <p:cNvSpPr>
              <a:spLocks noChangeShapeType="1"/>
            </p:cNvSpPr>
            <p:nvPr/>
          </p:nvSpPr>
          <p:spPr bwMode="auto">
            <a:xfrm>
              <a:off x="3451101" y="3523711"/>
              <a:ext cx="0" cy="236538"/>
            </a:xfrm>
            <a:prstGeom prst="line">
              <a:avLst/>
            </a:prstGeom>
            <a:noFill/>
            <a:ln w="3175">
              <a:solidFill>
                <a:srgbClr val="0000FF"/>
              </a:solidFill>
              <a:round/>
              <a:headEnd type="triangle" w="sm" len="sm"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9pPr>
            </a:lstStyle>
            <a:p>
              <a:endParaRPr lang="ko-KR" altLang="en-US"/>
            </a:p>
          </p:txBody>
        </p:sp>
        <p:sp>
          <p:nvSpPr>
            <p:cNvPr id="60" name="Line 31"/>
            <p:cNvSpPr>
              <a:spLocks noChangeShapeType="1"/>
            </p:cNvSpPr>
            <p:nvPr/>
          </p:nvSpPr>
          <p:spPr bwMode="auto">
            <a:xfrm>
              <a:off x="3603501" y="3422111"/>
              <a:ext cx="0" cy="187325"/>
            </a:xfrm>
            <a:prstGeom prst="line">
              <a:avLst/>
            </a:prstGeom>
            <a:noFill/>
            <a:ln w="3175">
              <a:solidFill>
                <a:srgbClr val="0000FF"/>
              </a:solidFill>
              <a:round/>
              <a:headEnd type="triangle" w="sm" len="sm"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9pPr>
            </a:lstStyle>
            <a:p>
              <a:endParaRPr lang="ko-KR" altLang="en-US"/>
            </a:p>
          </p:txBody>
        </p:sp>
        <p:sp>
          <p:nvSpPr>
            <p:cNvPr id="61" name="Line 32"/>
            <p:cNvSpPr>
              <a:spLocks noChangeShapeType="1"/>
            </p:cNvSpPr>
            <p:nvPr/>
          </p:nvSpPr>
          <p:spPr bwMode="auto">
            <a:xfrm>
              <a:off x="3692401" y="3282411"/>
              <a:ext cx="0" cy="307975"/>
            </a:xfrm>
            <a:prstGeom prst="line">
              <a:avLst/>
            </a:prstGeom>
            <a:noFill/>
            <a:ln w="3175">
              <a:solidFill>
                <a:srgbClr val="0000FF"/>
              </a:solidFill>
              <a:round/>
              <a:headEnd type="triangle" w="sm" len="sm"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9pPr>
            </a:lstStyle>
            <a:p>
              <a:endParaRPr lang="ko-KR" altLang="en-US"/>
            </a:p>
          </p:txBody>
        </p:sp>
        <p:sp>
          <p:nvSpPr>
            <p:cNvPr id="62" name="Line 33"/>
            <p:cNvSpPr>
              <a:spLocks noChangeShapeType="1"/>
            </p:cNvSpPr>
            <p:nvPr/>
          </p:nvSpPr>
          <p:spPr bwMode="auto">
            <a:xfrm>
              <a:off x="3984501" y="3401474"/>
              <a:ext cx="0" cy="249237"/>
            </a:xfrm>
            <a:prstGeom prst="line">
              <a:avLst/>
            </a:prstGeom>
            <a:noFill/>
            <a:ln w="3175">
              <a:solidFill>
                <a:srgbClr val="0000FF"/>
              </a:solidFill>
              <a:round/>
              <a:headEnd type="triangle" w="sm" len="sm"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9pPr>
            </a:lstStyle>
            <a:p>
              <a:endParaRPr lang="ko-KR" altLang="en-US"/>
            </a:p>
          </p:txBody>
        </p:sp>
        <p:sp>
          <p:nvSpPr>
            <p:cNvPr id="63" name="Line 34"/>
            <p:cNvSpPr>
              <a:spLocks noChangeShapeType="1"/>
            </p:cNvSpPr>
            <p:nvPr/>
          </p:nvSpPr>
          <p:spPr bwMode="auto">
            <a:xfrm>
              <a:off x="4365501" y="3117311"/>
              <a:ext cx="0" cy="381000"/>
            </a:xfrm>
            <a:prstGeom prst="line">
              <a:avLst/>
            </a:prstGeom>
            <a:noFill/>
            <a:ln w="3175">
              <a:solidFill>
                <a:srgbClr val="0000FF"/>
              </a:solidFill>
              <a:round/>
              <a:headEnd type="triangle" w="sm" len="sm"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9pPr>
            </a:lstStyle>
            <a:p>
              <a:endParaRPr lang="ko-KR" altLang="en-US"/>
            </a:p>
          </p:txBody>
        </p:sp>
        <p:sp>
          <p:nvSpPr>
            <p:cNvPr id="64" name="Line 36"/>
            <p:cNvSpPr>
              <a:spLocks noChangeShapeType="1"/>
            </p:cNvSpPr>
            <p:nvPr/>
          </p:nvSpPr>
          <p:spPr bwMode="auto">
            <a:xfrm>
              <a:off x="4517901" y="2761711"/>
              <a:ext cx="0" cy="188913"/>
            </a:xfrm>
            <a:prstGeom prst="line">
              <a:avLst/>
            </a:prstGeom>
            <a:noFill/>
            <a:ln w="3175">
              <a:solidFill>
                <a:srgbClr val="0000FF"/>
              </a:solidFill>
              <a:round/>
              <a:headEnd type="triangle" w="sm" len="sm"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9pPr>
            </a:lstStyle>
            <a:p>
              <a:endParaRPr lang="ko-KR" altLang="en-US"/>
            </a:p>
          </p:txBody>
        </p:sp>
        <p:sp>
          <p:nvSpPr>
            <p:cNvPr id="65" name="Line 37"/>
            <p:cNvSpPr>
              <a:spLocks noChangeShapeType="1"/>
            </p:cNvSpPr>
            <p:nvPr/>
          </p:nvSpPr>
          <p:spPr bwMode="auto">
            <a:xfrm>
              <a:off x="4290889" y="3029999"/>
              <a:ext cx="1587" cy="104775"/>
            </a:xfrm>
            <a:prstGeom prst="line">
              <a:avLst/>
            </a:prstGeom>
            <a:noFill/>
            <a:ln w="3175">
              <a:solidFill>
                <a:srgbClr val="0000FF"/>
              </a:solidFill>
              <a:round/>
              <a:headEnd type="triangle" w="sm" len="sm"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9pPr>
            </a:lstStyle>
            <a:p>
              <a:endParaRPr lang="ko-KR" altLang="en-US"/>
            </a:p>
          </p:txBody>
        </p:sp>
      </p:grpSp>
      <p:cxnSp>
        <p:nvCxnSpPr>
          <p:cNvPr id="68" name="직선 화살표 연결선 67"/>
          <p:cNvCxnSpPr/>
          <p:nvPr/>
        </p:nvCxnSpPr>
        <p:spPr>
          <a:xfrm flipV="1">
            <a:off x="3171039" y="3313651"/>
            <a:ext cx="3179428" cy="1677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TextBox 68"/>
          <p:cNvSpPr txBox="1"/>
          <p:nvPr/>
        </p:nvSpPr>
        <p:spPr>
          <a:xfrm>
            <a:off x="6451134" y="3129094"/>
            <a:ext cx="15519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error</a:t>
            </a:r>
            <a:endParaRPr lang="ko-KR" altLang="en-US" dirty="0"/>
          </a:p>
        </p:txBody>
      </p:sp>
      <p:graphicFrame>
        <p:nvGraphicFramePr>
          <p:cNvPr id="71" name="개체 7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86654691"/>
              </p:ext>
            </p:extLst>
          </p:nvPr>
        </p:nvGraphicFramePr>
        <p:xfrm>
          <a:off x="1488846" y="5174710"/>
          <a:ext cx="3515548" cy="9486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75" name="Equation" r:id="rId3" imgW="1600200" imgH="431640" progId="Equation.DSMT4">
                  <p:embed/>
                </p:oleObj>
              </mc:Choice>
              <mc:Fallback>
                <p:oleObj name="Equation" r:id="rId3" imgW="1600200" imgH="431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488846" y="5174710"/>
                        <a:ext cx="3515548" cy="94864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2" name="TextBox 71"/>
          <p:cNvSpPr txBox="1"/>
          <p:nvPr/>
        </p:nvSpPr>
        <p:spPr>
          <a:xfrm>
            <a:off x="5629633" y="5464364"/>
            <a:ext cx="17862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Least Square!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3626911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선형 회귀 분석 </a:t>
            </a:r>
            <a:r>
              <a:rPr lang="en-US" altLang="ko-KR" dirty="0" smtClean="0"/>
              <a:t>: Least square</a:t>
            </a:r>
            <a:endParaRPr lang="ko-KR" altLang="en-US" dirty="0"/>
          </a:p>
        </p:txBody>
      </p:sp>
      <p:graphicFrame>
        <p:nvGraphicFramePr>
          <p:cNvPr id="28" name="개체 2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77898904"/>
              </p:ext>
            </p:extLst>
          </p:nvPr>
        </p:nvGraphicFramePr>
        <p:xfrm>
          <a:off x="1115758" y="2310239"/>
          <a:ext cx="3456242" cy="179622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12" name="Equation" r:id="rId3" imgW="1854000" imgH="965160" progId="Equation.DSMT4">
                  <p:embed/>
                </p:oleObj>
              </mc:Choice>
              <mc:Fallback>
                <p:oleObj name="Equation" r:id="rId3" imgW="1854000" imgH="9651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115758" y="2310239"/>
                        <a:ext cx="3456242" cy="179622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" name="개체 2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93883992"/>
              </p:ext>
            </p:extLst>
          </p:nvPr>
        </p:nvGraphicFramePr>
        <p:xfrm>
          <a:off x="4826000" y="2278063"/>
          <a:ext cx="3363913" cy="20018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13" name="Equation" r:id="rId5" imgW="2171520" imgH="1295280" progId="Equation.DSMT4">
                  <p:embed/>
                </p:oleObj>
              </mc:Choice>
              <mc:Fallback>
                <p:oleObj name="Equation" r:id="rId5" imgW="2171520" imgH="12952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826000" y="2278063"/>
                        <a:ext cx="3363913" cy="200183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오른쪽 화살표 2"/>
          <p:cNvSpPr/>
          <p:nvPr/>
        </p:nvSpPr>
        <p:spPr>
          <a:xfrm>
            <a:off x="1505119" y="4983590"/>
            <a:ext cx="679731" cy="186117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6" name="개체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48300105"/>
              </p:ext>
            </p:extLst>
          </p:nvPr>
        </p:nvGraphicFramePr>
        <p:xfrm>
          <a:off x="2433638" y="4635500"/>
          <a:ext cx="1673225" cy="892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14" name="Equation" r:id="rId7" imgW="761760" imgH="406080" progId="Equation.DSMT4">
                  <p:embed/>
                </p:oleObj>
              </mc:Choice>
              <mc:Fallback>
                <p:oleObj name="Equation" r:id="rId7" imgW="761760" imgH="4060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2433638" y="4635500"/>
                        <a:ext cx="1673225" cy="8921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개체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35368150"/>
              </p:ext>
            </p:extLst>
          </p:nvPr>
        </p:nvGraphicFramePr>
        <p:xfrm>
          <a:off x="5100638" y="4699000"/>
          <a:ext cx="2149475" cy="754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15" name="Equation" r:id="rId9" imgW="977760" imgH="342720" progId="Equation.DSMT4">
                  <p:embed/>
                </p:oleObj>
              </mc:Choice>
              <mc:Fallback>
                <p:oleObj name="Equation" r:id="rId9" imgW="977760" imgH="3427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5100638" y="4699000"/>
                        <a:ext cx="2149475" cy="7540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오른쪽 화살표 8"/>
          <p:cNvSpPr/>
          <p:nvPr/>
        </p:nvSpPr>
        <p:spPr>
          <a:xfrm>
            <a:off x="4384620" y="4982486"/>
            <a:ext cx="679731" cy="186117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426547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선형 </a:t>
            </a:r>
            <a:r>
              <a:rPr lang="ko-KR" altLang="en-US" dirty="0" smtClean="0"/>
              <a:t>회귀 </a:t>
            </a:r>
            <a:r>
              <a:rPr lang="ko-KR" altLang="en-US" dirty="0"/>
              <a:t>분석 </a:t>
            </a:r>
            <a:r>
              <a:rPr lang="en-US" altLang="ko-KR" dirty="0"/>
              <a:t>: Least square</a:t>
            </a:r>
            <a:endParaRPr lang="ko-KR" altLang="en-US" dirty="0"/>
          </a:p>
        </p:txBody>
      </p:sp>
      <p:grpSp>
        <p:nvGrpSpPr>
          <p:cNvPr id="3" name="그룹 2"/>
          <p:cNvGrpSpPr/>
          <p:nvPr/>
        </p:nvGrpSpPr>
        <p:grpSpPr>
          <a:xfrm>
            <a:off x="720834" y="2426616"/>
            <a:ext cx="4078288" cy="2987675"/>
            <a:chOff x="2574801" y="1898111"/>
            <a:chExt cx="4078288" cy="2987675"/>
          </a:xfrm>
        </p:grpSpPr>
        <p:sp>
          <p:nvSpPr>
            <p:cNvPr id="4" name="Line 19"/>
            <p:cNvSpPr>
              <a:spLocks noChangeShapeType="1"/>
            </p:cNvSpPr>
            <p:nvPr/>
          </p:nvSpPr>
          <p:spPr bwMode="auto">
            <a:xfrm flipV="1">
              <a:off x="2574801" y="2736311"/>
              <a:ext cx="2286000" cy="1676400"/>
            </a:xfrm>
            <a:prstGeom prst="line">
              <a:avLst/>
            </a:prstGeom>
            <a:noFill/>
            <a:ln w="1270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9pPr>
            </a:lstStyle>
            <a:p>
              <a:endParaRPr lang="ko-KR" altLang="en-US"/>
            </a:p>
          </p:txBody>
        </p:sp>
        <p:sp>
          <p:nvSpPr>
            <p:cNvPr id="5" name="Line 3"/>
            <p:cNvSpPr>
              <a:spLocks noChangeShapeType="1"/>
            </p:cNvSpPr>
            <p:nvPr/>
          </p:nvSpPr>
          <p:spPr bwMode="auto">
            <a:xfrm>
              <a:off x="2574801" y="1898111"/>
              <a:ext cx="0" cy="298608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9pPr>
            </a:lstStyle>
            <a:p>
              <a:endParaRPr lang="ko-KR" altLang="en-US"/>
            </a:p>
          </p:txBody>
        </p:sp>
        <p:sp>
          <p:nvSpPr>
            <p:cNvPr id="6" name="Line 4"/>
            <p:cNvSpPr>
              <a:spLocks noChangeShapeType="1"/>
            </p:cNvSpPr>
            <p:nvPr/>
          </p:nvSpPr>
          <p:spPr bwMode="auto">
            <a:xfrm>
              <a:off x="2574801" y="4884199"/>
              <a:ext cx="4078288" cy="1587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9pPr>
            </a:lstStyle>
            <a:p>
              <a:endParaRPr lang="ko-KR" altLang="en-US"/>
            </a:p>
          </p:txBody>
        </p:sp>
        <p:sp>
          <p:nvSpPr>
            <p:cNvPr id="7" name="Oval 5"/>
            <p:cNvSpPr>
              <a:spLocks noChangeArrowheads="1"/>
            </p:cNvSpPr>
            <p:nvPr/>
          </p:nvSpPr>
          <p:spPr bwMode="auto">
            <a:xfrm>
              <a:off x="3413001" y="3955511"/>
              <a:ext cx="76200" cy="76200"/>
            </a:xfrm>
            <a:prstGeom prst="ellipse">
              <a:avLst/>
            </a:prstGeom>
            <a:solidFill>
              <a:schemeClr val="tx1"/>
            </a:solidFill>
            <a:ln w="635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9pPr>
            </a:lstStyle>
            <a:p>
              <a:endParaRPr lang="ko-KR" altLang="en-US"/>
            </a:p>
          </p:txBody>
        </p:sp>
        <p:sp>
          <p:nvSpPr>
            <p:cNvPr id="8" name="Oval 6"/>
            <p:cNvSpPr>
              <a:spLocks noChangeArrowheads="1"/>
            </p:cNvSpPr>
            <p:nvPr/>
          </p:nvSpPr>
          <p:spPr bwMode="auto">
            <a:xfrm>
              <a:off x="3032001" y="3879311"/>
              <a:ext cx="76200" cy="76200"/>
            </a:xfrm>
            <a:prstGeom prst="ellipse">
              <a:avLst/>
            </a:prstGeom>
            <a:solidFill>
              <a:schemeClr val="tx1"/>
            </a:solidFill>
            <a:ln w="635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9pPr>
            </a:lstStyle>
            <a:p>
              <a:endParaRPr lang="ko-KR" altLang="en-US"/>
            </a:p>
          </p:txBody>
        </p:sp>
        <p:sp>
          <p:nvSpPr>
            <p:cNvPr id="9" name="Oval 7"/>
            <p:cNvSpPr>
              <a:spLocks noChangeArrowheads="1"/>
            </p:cNvSpPr>
            <p:nvPr/>
          </p:nvSpPr>
          <p:spPr bwMode="auto">
            <a:xfrm>
              <a:off x="3565401" y="3345911"/>
              <a:ext cx="76200" cy="76200"/>
            </a:xfrm>
            <a:prstGeom prst="ellipse">
              <a:avLst/>
            </a:prstGeom>
            <a:solidFill>
              <a:schemeClr val="tx1"/>
            </a:solidFill>
            <a:ln w="635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9pPr>
            </a:lstStyle>
            <a:p>
              <a:endParaRPr lang="ko-KR" altLang="en-US"/>
            </a:p>
          </p:txBody>
        </p:sp>
        <p:sp>
          <p:nvSpPr>
            <p:cNvPr id="10" name="Oval 8"/>
            <p:cNvSpPr>
              <a:spLocks noChangeArrowheads="1"/>
            </p:cNvSpPr>
            <p:nvPr/>
          </p:nvSpPr>
          <p:spPr bwMode="auto">
            <a:xfrm>
              <a:off x="3946401" y="3650711"/>
              <a:ext cx="76200" cy="76200"/>
            </a:xfrm>
            <a:prstGeom prst="ellipse">
              <a:avLst/>
            </a:prstGeom>
            <a:solidFill>
              <a:schemeClr val="tx1"/>
            </a:solidFill>
            <a:ln w="635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9pPr>
            </a:lstStyle>
            <a:p>
              <a:endParaRPr lang="ko-KR" altLang="en-US"/>
            </a:p>
          </p:txBody>
        </p:sp>
        <p:sp>
          <p:nvSpPr>
            <p:cNvPr id="11" name="Oval 9"/>
            <p:cNvSpPr>
              <a:spLocks noChangeArrowheads="1"/>
            </p:cNvSpPr>
            <p:nvPr/>
          </p:nvSpPr>
          <p:spPr bwMode="auto">
            <a:xfrm>
              <a:off x="3641601" y="3193511"/>
              <a:ext cx="76200" cy="76200"/>
            </a:xfrm>
            <a:prstGeom prst="ellipse">
              <a:avLst/>
            </a:prstGeom>
            <a:solidFill>
              <a:schemeClr val="tx1"/>
            </a:solidFill>
            <a:ln w="635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9pPr>
            </a:lstStyle>
            <a:p>
              <a:endParaRPr lang="ko-KR" altLang="en-US"/>
            </a:p>
          </p:txBody>
        </p:sp>
        <p:sp>
          <p:nvSpPr>
            <p:cNvPr id="12" name="Oval 10"/>
            <p:cNvSpPr>
              <a:spLocks noChangeArrowheads="1"/>
            </p:cNvSpPr>
            <p:nvPr/>
          </p:nvSpPr>
          <p:spPr bwMode="auto">
            <a:xfrm>
              <a:off x="4022601" y="3269711"/>
              <a:ext cx="76200" cy="76200"/>
            </a:xfrm>
            <a:prstGeom prst="ellipse">
              <a:avLst/>
            </a:prstGeom>
            <a:solidFill>
              <a:schemeClr val="tx1"/>
            </a:solidFill>
            <a:ln w="635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9pPr>
            </a:lstStyle>
            <a:p>
              <a:endParaRPr lang="ko-KR" altLang="en-US"/>
            </a:p>
          </p:txBody>
        </p:sp>
        <p:sp>
          <p:nvSpPr>
            <p:cNvPr id="13" name="Oval 13"/>
            <p:cNvSpPr>
              <a:spLocks noChangeArrowheads="1"/>
            </p:cNvSpPr>
            <p:nvPr/>
          </p:nvSpPr>
          <p:spPr bwMode="auto">
            <a:xfrm>
              <a:off x="4327401" y="3498311"/>
              <a:ext cx="76200" cy="76200"/>
            </a:xfrm>
            <a:prstGeom prst="ellipse">
              <a:avLst/>
            </a:prstGeom>
            <a:solidFill>
              <a:schemeClr val="tx1"/>
            </a:solidFill>
            <a:ln w="635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9pPr>
            </a:lstStyle>
            <a:p>
              <a:endParaRPr lang="ko-KR" altLang="en-US"/>
            </a:p>
          </p:txBody>
        </p:sp>
        <p:sp>
          <p:nvSpPr>
            <p:cNvPr id="14" name="Oval 14"/>
            <p:cNvSpPr>
              <a:spLocks noChangeArrowheads="1"/>
            </p:cNvSpPr>
            <p:nvPr/>
          </p:nvSpPr>
          <p:spPr bwMode="auto">
            <a:xfrm>
              <a:off x="4251201" y="2964911"/>
              <a:ext cx="76200" cy="76200"/>
            </a:xfrm>
            <a:prstGeom prst="ellipse">
              <a:avLst/>
            </a:prstGeom>
            <a:solidFill>
              <a:schemeClr val="tx1"/>
            </a:solidFill>
            <a:ln w="635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9pPr>
            </a:lstStyle>
            <a:p>
              <a:endParaRPr lang="ko-KR" altLang="en-US"/>
            </a:p>
          </p:txBody>
        </p:sp>
        <p:sp>
          <p:nvSpPr>
            <p:cNvPr id="15" name="Oval 15"/>
            <p:cNvSpPr>
              <a:spLocks noChangeArrowheads="1"/>
            </p:cNvSpPr>
            <p:nvPr/>
          </p:nvSpPr>
          <p:spPr bwMode="auto">
            <a:xfrm>
              <a:off x="3413001" y="3422111"/>
              <a:ext cx="76200" cy="76200"/>
            </a:xfrm>
            <a:prstGeom prst="ellipse">
              <a:avLst/>
            </a:prstGeom>
            <a:solidFill>
              <a:schemeClr val="tx1"/>
            </a:solidFill>
            <a:ln w="635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9pPr>
            </a:lstStyle>
            <a:p>
              <a:endParaRPr lang="ko-KR" altLang="en-US"/>
            </a:p>
          </p:txBody>
        </p:sp>
        <p:sp>
          <p:nvSpPr>
            <p:cNvPr id="16" name="Oval 16"/>
            <p:cNvSpPr>
              <a:spLocks noChangeArrowheads="1"/>
            </p:cNvSpPr>
            <p:nvPr/>
          </p:nvSpPr>
          <p:spPr bwMode="auto">
            <a:xfrm>
              <a:off x="2803401" y="3879311"/>
              <a:ext cx="76200" cy="76200"/>
            </a:xfrm>
            <a:prstGeom prst="ellipse">
              <a:avLst/>
            </a:prstGeom>
            <a:solidFill>
              <a:schemeClr val="tx1"/>
            </a:solidFill>
            <a:ln w="635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9pPr>
            </a:lstStyle>
            <a:p>
              <a:endParaRPr lang="ko-KR" altLang="en-US"/>
            </a:p>
          </p:txBody>
        </p:sp>
        <p:sp>
          <p:nvSpPr>
            <p:cNvPr id="17" name="Oval 17"/>
            <p:cNvSpPr>
              <a:spLocks noChangeArrowheads="1"/>
            </p:cNvSpPr>
            <p:nvPr/>
          </p:nvSpPr>
          <p:spPr bwMode="auto">
            <a:xfrm>
              <a:off x="4479801" y="2660111"/>
              <a:ext cx="76200" cy="76200"/>
            </a:xfrm>
            <a:prstGeom prst="ellipse">
              <a:avLst/>
            </a:prstGeom>
            <a:solidFill>
              <a:schemeClr val="tx1"/>
            </a:solidFill>
            <a:ln w="635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9pPr>
            </a:lstStyle>
            <a:p>
              <a:endParaRPr lang="ko-KR" altLang="en-US"/>
            </a:p>
          </p:txBody>
        </p:sp>
        <p:sp>
          <p:nvSpPr>
            <p:cNvPr id="18" name="Line 27"/>
            <p:cNvSpPr>
              <a:spLocks noChangeShapeType="1"/>
            </p:cNvSpPr>
            <p:nvPr/>
          </p:nvSpPr>
          <p:spPr bwMode="auto">
            <a:xfrm>
              <a:off x="2841501" y="3955511"/>
              <a:ext cx="0" cy="271463"/>
            </a:xfrm>
            <a:prstGeom prst="line">
              <a:avLst/>
            </a:prstGeom>
            <a:noFill/>
            <a:ln w="3175">
              <a:solidFill>
                <a:srgbClr val="0000FF"/>
              </a:solidFill>
              <a:round/>
              <a:headEnd type="triangle" w="sm" len="sm"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9pPr>
            </a:lstStyle>
            <a:p>
              <a:endParaRPr lang="ko-KR" altLang="en-US"/>
            </a:p>
          </p:txBody>
        </p:sp>
        <p:sp>
          <p:nvSpPr>
            <p:cNvPr id="19" name="Line 28"/>
            <p:cNvSpPr>
              <a:spLocks noChangeShapeType="1"/>
            </p:cNvSpPr>
            <p:nvPr/>
          </p:nvSpPr>
          <p:spPr bwMode="auto">
            <a:xfrm>
              <a:off x="3070101" y="3955511"/>
              <a:ext cx="0" cy="80963"/>
            </a:xfrm>
            <a:prstGeom prst="line">
              <a:avLst/>
            </a:prstGeom>
            <a:noFill/>
            <a:ln w="3175">
              <a:solidFill>
                <a:srgbClr val="0000FF"/>
              </a:solidFill>
              <a:round/>
              <a:headEnd type="triangle" w="sm" len="sm"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9pPr>
            </a:lstStyle>
            <a:p>
              <a:endParaRPr lang="ko-KR" altLang="en-US"/>
            </a:p>
          </p:txBody>
        </p:sp>
        <p:sp>
          <p:nvSpPr>
            <p:cNvPr id="20" name="Line 29"/>
            <p:cNvSpPr>
              <a:spLocks noChangeShapeType="1"/>
            </p:cNvSpPr>
            <p:nvPr/>
          </p:nvSpPr>
          <p:spPr bwMode="auto">
            <a:xfrm>
              <a:off x="3438401" y="3779299"/>
              <a:ext cx="0" cy="188912"/>
            </a:xfrm>
            <a:prstGeom prst="line">
              <a:avLst/>
            </a:prstGeom>
            <a:noFill/>
            <a:ln w="3175">
              <a:solidFill>
                <a:srgbClr val="0000FF"/>
              </a:solidFill>
              <a:round/>
              <a:headEnd type="triangle" w="sm" len="sm"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9pPr>
            </a:lstStyle>
            <a:p>
              <a:endParaRPr lang="ko-KR" altLang="en-US"/>
            </a:p>
          </p:txBody>
        </p:sp>
        <p:sp>
          <p:nvSpPr>
            <p:cNvPr id="21" name="Line 30"/>
            <p:cNvSpPr>
              <a:spLocks noChangeShapeType="1"/>
            </p:cNvSpPr>
            <p:nvPr/>
          </p:nvSpPr>
          <p:spPr bwMode="auto">
            <a:xfrm>
              <a:off x="3451101" y="3523711"/>
              <a:ext cx="0" cy="236538"/>
            </a:xfrm>
            <a:prstGeom prst="line">
              <a:avLst/>
            </a:prstGeom>
            <a:noFill/>
            <a:ln w="3175">
              <a:solidFill>
                <a:srgbClr val="0000FF"/>
              </a:solidFill>
              <a:round/>
              <a:headEnd type="triangle" w="sm" len="sm"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9pPr>
            </a:lstStyle>
            <a:p>
              <a:endParaRPr lang="ko-KR" altLang="en-US"/>
            </a:p>
          </p:txBody>
        </p:sp>
        <p:sp>
          <p:nvSpPr>
            <p:cNvPr id="22" name="Line 31"/>
            <p:cNvSpPr>
              <a:spLocks noChangeShapeType="1"/>
            </p:cNvSpPr>
            <p:nvPr/>
          </p:nvSpPr>
          <p:spPr bwMode="auto">
            <a:xfrm>
              <a:off x="3603501" y="3422111"/>
              <a:ext cx="0" cy="187325"/>
            </a:xfrm>
            <a:prstGeom prst="line">
              <a:avLst/>
            </a:prstGeom>
            <a:noFill/>
            <a:ln w="3175">
              <a:solidFill>
                <a:srgbClr val="0000FF"/>
              </a:solidFill>
              <a:round/>
              <a:headEnd type="triangle" w="sm" len="sm"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9pPr>
            </a:lstStyle>
            <a:p>
              <a:endParaRPr lang="ko-KR" altLang="en-US"/>
            </a:p>
          </p:txBody>
        </p:sp>
        <p:sp>
          <p:nvSpPr>
            <p:cNvPr id="23" name="Line 32"/>
            <p:cNvSpPr>
              <a:spLocks noChangeShapeType="1"/>
            </p:cNvSpPr>
            <p:nvPr/>
          </p:nvSpPr>
          <p:spPr bwMode="auto">
            <a:xfrm>
              <a:off x="3692401" y="3282411"/>
              <a:ext cx="0" cy="307975"/>
            </a:xfrm>
            <a:prstGeom prst="line">
              <a:avLst/>
            </a:prstGeom>
            <a:noFill/>
            <a:ln w="3175">
              <a:solidFill>
                <a:srgbClr val="0000FF"/>
              </a:solidFill>
              <a:round/>
              <a:headEnd type="triangle" w="sm" len="sm"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9pPr>
            </a:lstStyle>
            <a:p>
              <a:endParaRPr lang="ko-KR" altLang="en-US"/>
            </a:p>
          </p:txBody>
        </p:sp>
        <p:sp>
          <p:nvSpPr>
            <p:cNvPr id="24" name="Line 33"/>
            <p:cNvSpPr>
              <a:spLocks noChangeShapeType="1"/>
            </p:cNvSpPr>
            <p:nvPr/>
          </p:nvSpPr>
          <p:spPr bwMode="auto">
            <a:xfrm>
              <a:off x="3984501" y="3401474"/>
              <a:ext cx="0" cy="249237"/>
            </a:xfrm>
            <a:prstGeom prst="line">
              <a:avLst/>
            </a:prstGeom>
            <a:noFill/>
            <a:ln w="3175">
              <a:solidFill>
                <a:srgbClr val="0000FF"/>
              </a:solidFill>
              <a:round/>
              <a:headEnd type="triangle" w="sm" len="sm"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9pPr>
            </a:lstStyle>
            <a:p>
              <a:endParaRPr lang="ko-KR" altLang="en-US"/>
            </a:p>
          </p:txBody>
        </p:sp>
        <p:sp>
          <p:nvSpPr>
            <p:cNvPr id="25" name="Line 34"/>
            <p:cNvSpPr>
              <a:spLocks noChangeShapeType="1"/>
            </p:cNvSpPr>
            <p:nvPr/>
          </p:nvSpPr>
          <p:spPr bwMode="auto">
            <a:xfrm>
              <a:off x="4365501" y="3117311"/>
              <a:ext cx="0" cy="381000"/>
            </a:xfrm>
            <a:prstGeom prst="line">
              <a:avLst/>
            </a:prstGeom>
            <a:noFill/>
            <a:ln w="3175">
              <a:solidFill>
                <a:srgbClr val="0000FF"/>
              </a:solidFill>
              <a:round/>
              <a:headEnd type="triangle" w="sm" len="sm"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9pPr>
            </a:lstStyle>
            <a:p>
              <a:endParaRPr lang="ko-KR" altLang="en-US"/>
            </a:p>
          </p:txBody>
        </p:sp>
        <p:sp>
          <p:nvSpPr>
            <p:cNvPr id="26" name="Line 36"/>
            <p:cNvSpPr>
              <a:spLocks noChangeShapeType="1"/>
            </p:cNvSpPr>
            <p:nvPr/>
          </p:nvSpPr>
          <p:spPr bwMode="auto">
            <a:xfrm>
              <a:off x="4517901" y="2761711"/>
              <a:ext cx="0" cy="188913"/>
            </a:xfrm>
            <a:prstGeom prst="line">
              <a:avLst/>
            </a:prstGeom>
            <a:noFill/>
            <a:ln w="3175">
              <a:solidFill>
                <a:srgbClr val="0000FF"/>
              </a:solidFill>
              <a:round/>
              <a:headEnd type="triangle" w="sm" len="sm"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9pPr>
            </a:lstStyle>
            <a:p>
              <a:endParaRPr lang="ko-KR" altLang="en-US"/>
            </a:p>
          </p:txBody>
        </p:sp>
        <p:sp>
          <p:nvSpPr>
            <p:cNvPr id="27" name="Line 37"/>
            <p:cNvSpPr>
              <a:spLocks noChangeShapeType="1"/>
            </p:cNvSpPr>
            <p:nvPr/>
          </p:nvSpPr>
          <p:spPr bwMode="auto">
            <a:xfrm>
              <a:off x="4290889" y="3029999"/>
              <a:ext cx="1587" cy="104775"/>
            </a:xfrm>
            <a:prstGeom prst="line">
              <a:avLst/>
            </a:prstGeom>
            <a:noFill/>
            <a:ln w="3175">
              <a:solidFill>
                <a:srgbClr val="0000FF"/>
              </a:solidFill>
              <a:round/>
              <a:headEnd type="triangle" w="sm" len="sm"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+mn-cs"/>
                </a:defRPr>
              </a:lvl9pPr>
            </a:lstStyle>
            <a:p>
              <a:endParaRPr lang="ko-KR" altLang="en-US"/>
            </a:p>
          </p:txBody>
        </p:sp>
      </p:grpSp>
      <p:graphicFrame>
        <p:nvGraphicFramePr>
          <p:cNvPr id="28" name="개체 2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69730644"/>
              </p:ext>
            </p:extLst>
          </p:nvPr>
        </p:nvGraphicFramePr>
        <p:xfrm>
          <a:off x="4229100" y="2238375"/>
          <a:ext cx="4516438" cy="3121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66" name="Equation" r:id="rId3" imgW="2057400" imgH="1422360" progId="Equation.DSMT4">
                  <p:embed/>
                </p:oleObj>
              </mc:Choice>
              <mc:Fallback>
                <p:oleObj name="Equation" r:id="rId3" imgW="2057400" imgH="14223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229100" y="2238375"/>
                        <a:ext cx="4516438" cy="31210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" name="TextBox 28"/>
          <p:cNvSpPr txBox="1"/>
          <p:nvPr/>
        </p:nvSpPr>
        <p:spPr>
          <a:xfrm>
            <a:off x="5211271" y="5510676"/>
            <a:ext cx="28807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 smtClean="0"/>
              <a:t>Pseudo Inverse</a:t>
            </a:r>
            <a:endParaRPr lang="ko-KR" altLang="en-US" b="1" dirty="0"/>
          </a:p>
        </p:txBody>
      </p:sp>
    </p:spTree>
    <p:extLst>
      <p:ext uri="{BB962C8B-B14F-4D97-AF65-F5344CB8AC3E}">
        <p14:creationId xmlns:p14="http://schemas.microsoft.com/office/powerpoint/2010/main" val="11739146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선형 회귀 분석 </a:t>
            </a:r>
            <a:r>
              <a:rPr lang="en-US" altLang="ko-KR" dirty="0"/>
              <a:t>: Gradient Descent</a:t>
            </a:r>
            <a:endParaRPr lang="ko-KR" altLang="en-US" dirty="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68413" y="1879134"/>
            <a:ext cx="5587708" cy="4139771"/>
          </a:xfrm>
          <a:prstGeom prst="rect">
            <a:avLst/>
          </a:prstGeom>
        </p:spPr>
      </p:pic>
      <p:sp>
        <p:nvSpPr>
          <p:cNvPr id="4" name="타원 3"/>
          <p:cNvSpPr/>
          <p:nvPr/>
        </p:nvSpPr>
        <p:spPr>
          <a:xfrm>
            <a:off x="7734650" y="3514987"/>
            <a:ext cx="201336" cy="19294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5" name="직선 화살표 연결선 4"/>
          <p:cNvCxnSpPr/>
          <p:nvPr/>
        </p:nvCxnSpPr>
        <p:spPr>
          <a:xfrm flipH="1">
            <a:off x="7508147" y="3707934"/>
            <a:ext cx="276837" cy="52011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graphicFrame>
        <p:nvGraphicFramePr>
          <p:cNvPr id="6" name="개체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16253670"/>
              </p:ext>
            </p:extLst>
          </p:nvPr>
        </p:nvGraphicFramePr>
        <p:xfrm>
          <a:off x="661533" y="3647317"/>
          <a:ext cx="2203450" cy="641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41" name="Equation" r:id="rId4" imgW="1447560" imgH="419040" progId="Equation.DSMT4">
                  <p:embed/>
                </p:oleObj>
              </mc:Choice>
              <mc:Fallback>
                <p:oleObj name="Equation" r:id="rId4" imgW="1447560" imgH="419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661533" y="3647317"/>
                        <a:ext cx="2203450" cy="6413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타원 6"/>
          <p:cNvSpPr/>
          <p:nvPr/>
        </p:nvSpPr>
        <p:spPr>
          <a:xfrm>
            <a:off x="4471332" y="3852545"/>
            <a:ext cx="201336" cy="19294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8" name="직선 화살표 연결선 7"/>
          <p:cNvCxnSpPr/>
          <p:nvPr/>
        </p:nvCxnSpPr>
        <p:spPr>
          <a:xfrm>
            <a:off x="4613245" y="4045492"/>
            <a:ext cx="186828" cy="37550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graphicFrame>
        <p:nvGraphicFramePr>
          <p:cNvPr id="9" name="개체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97969971"/>
              </p:ext>
            </p:extLst>
          </p:nvPr>
        </p:nvGraphicFramePr>
        <p:xfrm>
          <a:off x="628650" y="2809174"/>
          <a:ext cx="2615658" cy="705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42" name="Equation" r:id="rId6" imgW="1600200" imgH="431640" progId="Equation.DSMT4">
                  <p:embed/>
                </p:oleObj>
              </mc:Choice>
              <mc:Fallback>
                <p:oleObj name="Equation" r:id="rId6" imgW="1600200" imgH="431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628650" y="2809174"/>
                        <a:ext cx="2615658" cy="70581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3200166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7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선형 회귀 분석 </a:t>
            </a:r>
            <a:r>
              <a:rPr lang="en-US" altLang="ko-KR" dirty="0"/>
              <a:t>: Gradient Descent</a:t>
            </a:r>
            <a:endParaRPr lang="ko-KR" altLang="en-US" dirty="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7418" y="2595789"/>
            <a:ext cx="4677010" cy="3465061"/>
          </a:xfrm>
          <a:prstGeom prst="rect">
            <a:avLst/>
          </a:prstGeom>
        </p:spPr>
      </p:pic>
      <p:graphicFrame>
        <p:nvGraphicFramePr>
          <p:cNvPr id="4" name="개체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74201254"/>
              </p:ext>
            </p:extLst>
          </p:nvPr>
        </p:nvGraphicFramePr>
        <p:xfrm>
          <a:off x="5307988" y="2753313"/>
          <a:ext cx="3559175" cy="755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42" name="Equation" r:id="rId4" imgW="2044440" imgH="431640" progId="Equation.DSMT4">
                  <p:embed/>
                </p:oleObj>
              </mc:Choice>
              <mc:Fallback>
                <p:oleObj name="Equation" r:id="rId4" imgW="2044440" imgH="431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5307988" y="2753313"/>
                        <a:ext cx="3559175" cy="7556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오른쪽 화살표 4"/>
          <p:cNvSpPr/>
          <p:nvPr/>
        </p:nvSpPr>
        <p:spPr>
          <a:xfrm rot="5400000">
            <a:off x="6962011" y="3783933"/>
            <a:ext cx="436227" cy="20133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6" name="개체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84641616"/>
              </p:ext>
            </p:extLst>
          </p:nvPr>
        </p:nvGraphicFramePr>
        <p:xfrm>
          <a:off x="5643563" y="4219866"/>
          <a:ext cx="2871787" cy="755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43" name="Equation" r:id="rId6" imgW="1650960" imgH="431640" progId="Equation.DSMT4">
                  <p:embed/>
                </p:oleObj>
              </mc:Choice>
              <mc:Fallback>
                <p:oleObj name="Equation" r:id="rId6" imgW="1650960" imgH="431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5643563" y="4219866"/>
                        <a:ext cx="2871787" cy="7556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개체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26671022"/>
              </p:ext>
            </p:extLst>
          </p:nvPr>
        </p:nvGraphicFramePr>
        <p:xfrm>
          <a:off x="1054028" y="1840139"/>
          <a:ext cx="3733800" cy="755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44" name="Equation" r:id="rId8" imgW="2145960" imgH="431640" progId="Equation.DSMT4">
                  <p:embed/>
                </p:oleObj>
              </mc:Choice>
              <mc:Fallback>
                <p:oleObj name="Equation" r:id="rId8" imgW="2145960" imgH="431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054028" y="1840139"/>
                        <a:ext cx="3733800" cy="7556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3138240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선형 </a:t>
            </a:r>
            <a:r>
              <a:rPr lang="ko-KR" altLang="en-US" dirty="0" smtClean="0"/>
              <a:t>회귀 분석 </a:t>
            </a:r>
            <a:r>
              <a:rPr lang="en-US" altLang="ko-KR" dirty="0"/>
              <a:t>: Gradient Descent</a:t>
            </a:r>
            <a:endParaRPr lang="ko-KR" altLang="en-US" dirty="0"/>
          </a:p>
        </p:txBody>
      </p:sp>
      <p:graphicFrame>
        <p:nvGraphicFramePr>
          <p:cNvPr id="3" name="개체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30644172"/>
              </p:ext>
            </p:extLst>
          </p:nvPr>
        </p:nvGraphicFramePr>
        <p:xfrm>
          <a:off x="715963" y="2000250"/>
          <a:ext cx="2873375" cy="755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32" name="Equation" r:id="rId3" imgW="1650960" imgH="431640" progId="Equation.DSMT4">
                  <p:embed/>
                </p:oleObj>
              </mc:Choice>
              <mc:Fallback>
                <p:oleObj name="Equation" r:id="rId3" imgW="1650960" imgH="431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715963" y="2000250"/>
                        <a:ext cx="2873375" cy="7556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아래쪽 화살표 3"/>
          <p:cNvSpPr/>
          <p:nvPr/>
        </p:nvSpPr>
        <p:spPr>
          <a:xfrm>
            <a:off x="1922707" y="2990780"/>
            <a:ext cx="461473" cy="367469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5" name="개체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67532353"/>
              </p:ext>
            </p:extLst>
          </p:nvPr>
        </p:nvGraphicFramePr>
        <p:xfrm>
          <a:off x="730250" y="3541713"/>
          <a:ext cx="3005138" cy="755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33" name="Equation" r:id="rId5" imgW="1726920" imgH="431640" progId="Equation.DSMT4">
                  <p:embed/>
                </p:oleObj>
              </mc:Choice>
              <mc:Fallback>
                <p:oleObj name="Equation" r:id="rId5" imgW="1726920" imgH="431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730250" y="3541713"/>
                        <a:ext cx="3005138" cy="7556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아래쪽 화살표 5"/>
          <p:cNvSpPr/>
          <p:nvPr/>
        </p:nvSpPr>
        <p:spPr>
          <a:xfrm>
            <a:off x="1927892" y="4533426"/>
            <a:ext cx="461473" cy="367469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7" name="개체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64178810"/>
              </p:ext>
            </p:extLst>
          </p:nvPr>
        </p:nvGraphicFramePr>
        <p:xfrm>
          <a:off x="968375" y="5080000"/>
          <a:ext cx="2519363" cy="733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34" name="Equation" r:id="rId7" imgW="1447560" imgH="419040" progId="Equation.DSMT4">
                  <p:embed/>
                </p:oleObj>
              </mc:Choice>
              <mc:Fallback>
                <p:oleObj name="Equation" r:id="rId7" imgW="1447560" imgH="419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968375" y="5080000"/>
                        <a:ext cx="2519363" cy="7334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2532820" y="2990780"/>
            <a:ext cx="1598063" cy="3674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modification</a:t>
            </a:r>
            <a:endParaRPr lang="ko-KR" altLang="en-US" dirty="0"/>
          </a:p>
        </p:txBody>
      </p:sp>
      <p:sp>
        <p:nvSpPr>
          <p:cNvPr id="9" name="아래쪽 화살표 8"/>
          <p:cNvSpPr/>
          <p:nvPr/>
        </p:nvSpPr>
        <p:spPr>
          <a:xfrm rot="16200000">
            <a:off x="4083881" y="5262205"/>
            <a:ext cx="461473" cy="367469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아래쪽 화살표 10"/>
          <p:cNvSpPr/>
          <p:nvPr/>
        </p:nvSpPr>
        <p:spPr>
          <a:xfrm rot="10800000">
            <a:off x="6356462" y="4533426"/>
            <a:ext cx="461473" cy="367469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직사각형 14"/>
          <p:cNvSpPr/>
          <p:nvPr/>
        </p:nvSpPr>
        <p:spPr>
          <a:xfrm>
            <a:off x="5136817" y="3627438"/>
            <a:ext cx="3362236" cy="75565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16" name="개체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28860262"/>
              </p:ext>
            </p:extLst>
          </p:nvPr>
        </p:nvGraphicFramePr>
        <p:xfrm>
          <a:off x="4670662" y="5045889"/>
          <a:ext cx="3711575" cy="800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35" name="Equation" r:id="rId9" imgW="2133360" imgH="457200" progId="Equation.DSMT4">
                  <p:embed/>
                </p:oleObj>
              </mc:Choice>
              <mc:Fallback>
                <p:oleObj name="Equation" r:id="rId9" imgW="2133360" imgH="4572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4670662" y="5045889"/>
                        <a:ext cx="3711575" cy="8001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개체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86492486"/>
              </p:ext>
            </p:extLst>
          </p:nvPr>
        </p:nvGraphicFramePr>
        <p:xfrm>
          <a:off x="5376863" y="3627438"/>
          <a:ext cx="2760662" cy="755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36" name="Equation" r:id="rId11" imgW="1587240" imgH="431640" progId="Equation.DSMT4">
                  <p:embed/>
                </p:oleObj>
              </mc:Choice>
              <mc:Fallback>
                <p:oleObj name="Equation" r:id="rId11" imgW="1587240" imgH="431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5376863" y="3627438"/>
                        <a:ext cx="2760662" cy="7556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6619541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선형 </a:t>
            </a:r>
            <a:r>
              <a:rPr lang="ko-KR" altLang="en-US" dirty="0"/>
              <a:t>회귀 분석</a:t>
            </a:r>
          </a:p>
        </p:txBody>
      </p:sp>
      <p:sp>
        <p:nvSpPr>
          <p:cNvPr id="3" name="AutoShape 11"/>
          <p:cNvSpPr>
            <a:spLocks noChangeArrowheads="1"/>
          </p:cNvSpPr>
          <p:nvPr/>
        </p:nvSpPr>
        <p:spPr bwMode="auto">
          <a:xfrm>
            <a:off x="4479663" y="3766445"/>
            <a:ext cx="609600" cy="3048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003366"/>
          </a:solidFill>
          <a:ln w="22225">
            <a:solidFill>
              <a:srgbClr val="FF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9pPr>
          </a:lstStyle>
          <a:p>
            <a:endParaRPr lang="ko-KR" altLang="en-US"/>
          </a:p>
        </p:txBody>
      </p:sp>
      <p:pic>
        <p:nvPicPr>
          <p:cNvPr id="4" name="Picture 12" descr="exponential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3363" y="2885383"/>
            <a:ext cx="2959100" cy="21002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13" descr="exponential_with_line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4063" y="2879033"/>
            <a:ext cx="2971800" cy="21066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192493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선형 회귀 </a:t>
            </a:r>
            <a:r>
              <a:rPr lang="ko-KR" altLang="en-US" dirty="0"/>
              <a:t>분석</a:t>
            </a:r>
          </a:p>
        </p:txBody>
      </p:sp>
      <p:graphicFrame>
        <p:nvGraphicFramePr>
          <p:cNvPr id="28" name="개체 2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87743839"/>
              </p:ext>
            </p:extLst>
          </p:nvPr>
        </p:nvGraphicFramePr>
        <p:xfrm>
          <a:off x="852487" y="1911690"/>
          <a:ext cx="3719513" cy="450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24" name="Equation" r:id="rId3" imgW="1993680" imgH="241200" progId="Equation.DSMT4">
                  <p:embed/>
                </p:oleObj>
              </mc:Choice>
              <mc:Fallback>
                <p:oleObj name="Equation" r:id="rId3" imgW="1993680" imgH="2412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852487" y="1911690"/>
                        <a:ext cx="3719513" cy="4508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" name="개체 2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59954318"/>
              </p:ext>
            </p:extLst>
          </p:nvPr>
        </p:nvGraphicFramePr>
        <p:xfrm>
          <a:off x="5132500" y="2392695"/>
          <a:ext cx="3619500" cy="2022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25" name="Equation" r:id="rId5" imgW="2336760" imgH="1307880" progId="Equation.DSMT4">
                  <p:embed/>
                </p:oleObj>
              </mc:Choice>
              <mc:Fallback>
                <p:oleObj name="Equation" r:id="rId5" imgW="2336760" imgH="13078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5132500" y="2392695"/>
                        <a:ext cx="3619500" cy="20224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오른쪽 화살표 2"/>
          <p:cNvSpPr/>
          <p:nvPr/>
        </p:nvSpPr>
        <p:spPr>
          <a:xfrm>
            <a:off x="1731696" y="5642233"/>
            <a:ext cx="679731" cy="186117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6" name="개체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69998689"/>
              </p:ext>
            </p:extLst>
          </p:nvPr>
        </p:nvGraphicFramePr>
        <p:xfrm>
          <a:off x="2660215" y="5294143"/>
          <a:ext cx="1673225" cy="892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26" name="Equation" r:id="rId7" imgW="761760" imgH="406080" progId="Equation.DSMT4">
                  <p:embed/>
                </p:oleObj>
              </mc:Choice>
              <mc:Fallback>
                <p:oleObj name="Equation" r:id="rId7" imgW="761760" imgH="4060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2660215" y="5294143"/>
                        <a:ext cx="1673225" cy="8921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개체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96229646"/>
              </p:ext>
            </p:extLst>
          </p:nvPr>
        </p:nvGraphicFramePr>
        <p:xfrm>
          <a:off x="5568685" y="5236316"/>
          <a:ext cx="2120900" cy="809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27" name="Equation" r:id="rId9" imgW="965160" imgH="368280" progId="Equation.DSMT4">
                  <p:embed/>
                </p:oleObj>
              </mc:Choice>
              <mc:Fallback>
                <p:oleObj name="Equation" r:id="rId9" imgW="965160" imgH="3682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5568685" y="5236316"/>
                        <a:ext cx="2120900" cy="8096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오른쪽 화살표 8"/>
          <p:cNvSpPr/>
          <p:nvPr/>
        </p:nvSpPr>
        <p:spPr>
          <a:xfrm>
            <a:off x="4611197" y="5641129"/>
            <a:ext cx="679731" cy="186117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10" name="개체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34371710"/>
              </p:ext>
            </p:extLst>
          </p:nvPr>
        </p:nvGraphicFramePr>
        <p:xfrm>
          <a:off x="712787" y="2930610"/>
          <a:ext cx="3998912" cy="17954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28" name="Equation" r:id="rId11" imgW="2145960" imgH="965160" progId="Equation.DSMT4">
                  <p:embed/>
                </p:oleObj>
              </mc:Choice>
              <mc:Fallback>
                <p:oleObj name="Equation" r:id="rId11" imgW="2145960" imgH="9651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712787" y="2930610"/>
                        <a:ext cx="3998912" cy="179546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아래쪽 화살표 3"/>
          <p:cNvSpPr/>
          <p:nvPr/>
        </p:nvSpPr>
        <p:spPr>
          <a:xfrm>
            <a:off x="2660215" y="2402888"/>
            <a:ext cx="212458" cy="237224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292000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선형 </a:t>
            </a:r>
            <a:r>
              <a:rPr lang="ko-KR" altLang="en-US" dirty="0"/>
              <a:t>회귀 분석</a:t>
            </a:r>
          </a:p>
        </p:txBody>
      </p:sp>
      <p:graphicFrame>
        <p:nvGraphicFramePr>
          <p:cNvPr id="28" name="개체 2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10852007"/>
              </p:ext>
            </p:extLst>
          </p:nvPr>
        </p:nvGraphicFramePr>
        <p:xfrm>
          <a:off x="1315855" y="2116447"/>
          <a:ext cx="4516438" cy="3121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24" name="Equation" r:id="rId3" imgW="2057400" imgH="1422360" progId="Equation.DSMT4">
                  <p:embed/>
                </p:oleObj>
              </mc:Choice>
              <mc:Fallback>
                <p:oleObj name="Equation" r:id="rId3" imgW="2057400" imgH="14223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315855" y="2116447"/>
                        <a:ext cx="4516438" cy="31210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" name="TextBox 28"/>
          <p:cNvSpPr txBox="1"/>
          <p:nvPr/>
        </p:nvSpPr>
        <p:spPr>
          <a:xfrm>
            <a:off x="1691235" y="5397387"/>
            <a:ext cx="28807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 smtClean="0"/>
              <a:t>Pseudo Inverse</a:t>
            </a:r>
            <a:endParaRPr lang="ko-KR" altLang="en-US" b="1" dirty="0"/>
          </a:p>
        </p:txBody>
      </p:sp>
      <p:sp>
        <p:nvSpPr>
          <p:cNvPr id="31" name="오른쪽 화살표 30"/>
          <p:cNvSpPr/>
          <p:nvPr/>
        </p:nvSpPr>
        <p:spPr>
          <a:xfrm>
            <a:off x="5832293" y="3163987"/>
            <a:ext cx="469338" cy="25894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2" name="TextBox 31"/>
          <p:cNvSpPr txBox="1"/>
          <p:nvPr/>
        </p:nvSpPr>
        <p:spPr>
          <a:xfrm>
            <a:off x="6595010" y="3053600"/>
            <a:ext cx="20149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err="1" smtClean="0"/>
              <a:t>polyfit</a:t>
            </a:r>
            <a:r>
              <a:rPr lang="en-US" altLang="ko-KR" dirty="0" smtClean="0"/>
              <a:t>(</a:t>
            </a:r>
            <a:r>
              <a:rPr lang="en-US" altLang="ko-KR" dirty="0" err="1" smtClean="0"/>
              <a:t>x,y,n</a:t>
            </a:r>
            <a:r>
              <a:rPr lang="en-US" altLang="ko-KR" dirty="0" smtClean="0"/>
              <a:t>)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5564988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3978</TotalTime>
  <Words>179</Words>
  <Application>Microsoft Office PowerPoint</Application>
  <PresentationFormat>화면 슬라이드 쇼(4:3)</PresentationFormat>
  <Paragraphs>90</Paragraphs>
  <Slides>16</Slides>
  <Notes>0</Notes>
  <HiddenSlides>0</HiddenSlides>
  <MMClips>0</MMClips>
  <ScaleCrop>false</ScaleCrop>
  <HeadingPairs>
    <vt:vector size="6" baseType="variant">
      <vt:variant>
        <vt:lpstr>테마</vt:lpstr>
      </vt:variant>
      <vt:variant>
        <vt:i4>1</vt:i4>
      </vt:variant>
      <vt:variant>
        <vt:lpstr>포함된 OLE 서버</vt:lpstr>
      </vt:variant>
      <vt:variant>
        <vt:i4>3</vt:i4>
      </vt:variant>
      <vt:variant>
        <vt:lpstr>슬라이드 제목</vt:lpstr>
      </vt:variant>
      <vt:variant>
        <vt:i4>16</vt:i4>
      </vt:variant>
    </vt:vector>
  </HeadingPairs>
  <TitlesOfParts>
    <vt:vector size="20" baseType="lpstr">
      <vt:lpstr>Office 테마</vt:lpstr>
      <vt:lpstr>MathType Equation</vt:lpstr>
      <vt:lpstr>Equation</vt:lpstr>
      <vt:lpstr>MathType 6.0 Equation</vt:lpstr>
      <vt:lpstr>선형 회기</vt:lpstr>
      <vt:lpstr>Regression</vt:lpstr>
      <vt:lpstr>Regression</vt:lpstr>
      <vt:lpstr>선형 회귀 분석</vt:lpstr>
      <vt:lpstr>선형 회귀 분석</vt:lpstr>
      <vt:lpstr>선형 회귀 분석</vt:lpstr>
      <vt:lpstr>선형 회귀 분석</vt:lpstr>
      <vt:lpstr>선형 회귀 분석 : Least square</vt:lpstr>
      <vt:lpstr>선형 회귀 분석 : Least square</vt:lpstr>
      <vt:lpstr>선형 회귀 분석 : Least square</vt:lpstr>
      <vt:lpstr>선형 회귀 분석 : Gradient Descent</vt:lpstr>
      <vt:lpstr>선형 회귀 분석 : Gradient Descent</vt:lpstr>
      <vt:lpstr>선형 회귀 분석 : Gradient Descent</vt:lpstr>
      <vt:lpstr>선형 회귀 분석</vt:lpstr>
      <vt:lpstr>선형 회귀 분석</vt:lpstr>
      <vt:lpstr>선형 회귀 분석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Seongkeun Park</dc:creator>
  <cp:lastModifiedBy>Windows 사용자</cp:lastModifiedBy>
  <cp:revision>588</cp:revision>
  <dcterms:created xsi:type="dcterms:W3CDTF">2016-09-05T08:32:33Z</dcterms:created>
  <dcterms:modified xsi:type="dcterms:W3CDTF">2019-02-20T01:16:47Z</dcterms:modified>
</cp:coreProperties>
</file>