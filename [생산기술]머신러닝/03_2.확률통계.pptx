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334" r:id="rId8"/>
    <p:sldId id="262" r:id="rId9"/>
    <p:sldId id="263" r:id="rId10"/>
    <p:sldId id="318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327" r:id="rId26"/>
    <p:sldId id="328" r:id="rId27"/>
    <p:sldId id="329" r:id="rId28"/>
    <p:sldId id="331" r:id="rId29"/>
    <p:sldId id="330" r:id="rId30"/>
    <p:sldId id="321" r:id="rId31"/>
    <p:sldId id="319" r:id="rId32"/>
    <p:sldId id="322" r:id="rId33"/>
    <p:sldId id="323" r:id="rId34"/>
    <p:sldId id="324" r:id="rId35"/>
    <p:sldId id="325" r:id="rId36"/>
    <p:sldId id="326" r:id="rId37"/>
    <p:sldId id="320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316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317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7" r:id="rId70"/>
    <p:sldId id="308" r:id="rId71"/>
    <p:sldId id="309" r:id="rId72"/>
    <p:sldId id="310" r:id="rId7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5" autoAdjust="0"/>
    <p:restoredTop sz="96582" autoAdjust="0"/>
  </p:normalViewPr>
  <p:slideViewPr>
    <p:cSldViewPr snapToGrid="0">
      <p:cViewPr varScale="1">
        <p:scale>
          <a:sx n="114" d="100"/>
          <a:sy n="114" d="100"/>
        </p:scale>
        <p:origin x="1152" y="24"/>
      </p:cViewPr>
      <p:guideLst/>
    </p:cSldViewPr>
  </p:slideViewPr>
  <p:outlineViewPr>
    <p:cViewPr>
      <p:scale>
        <a:sx n="33" d="100"/>
        <a:sy n="33" d="100"/>
      </p:scale>
      <p:origin x="0" y="-8376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http://rpubs.com/Statdoc/204928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D3FA8-EE82-4C17-8F23-37C62FB7854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73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2018-08-07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.bin"/><Relationship Id="rId3" Type="http://schemas.openxmlformats.org/officeDocument/2006/relationships/image" Target="../media/image47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0.jpe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49.jpeg"/><Relationship Id="rId10" Type="http://schemas.openxmlformats.org/officeDocument/2006/relationships/image" Target="../media/image44.wmf"/><Relationship Id="rId4" Type="http://schemas.openxmlformats.org/officeDocument/2006/relationships/image" Target="../media/image48.jpe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4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47.png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8.png"/><Relationship Id="rId5" Type="http://schemas.openxmlformats.org/officeDocument/2006/relationships/image" Target="../media/image55.wmf"/><Relationship Id="rId10" Type="http://schemas.openxmlformats.org/officeDocument/2006/relationships/image" Target="../media/image57.wmf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47.png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8.png"/><Relationship Id="rId5" Type="http://schemas.openxmlformats.org/officeDocument/2006/relationships/image" Target="../media/image58.wmf"/><Relationship Id="rId10" Type="http://schemas.openxmlformats.org/officeDocument/2006/relationships/image" Target="../media/image57.wmf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62.png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5.jpeg"/><Relationship Id="rId11" Type="http://schemas.openxmlformats.org/officeDocument/2006/relationships/image" Target="../media/image61.wmf"/><Relationship Id="rId5" Type="http://schemas.openxmlformats.org/officeDocument/2006/relationships/image" Target="../media/image64.jpeg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63.jpeg"/><Relationship Id="rId9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1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76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28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확률 이론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확률과 통계</a:t>
            </a:r>
            <a:endParaRPr lang="ko-KR" altLang="en-US" dirty="0"/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457200" y="162808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0">
              <a:buClr>
                <a:srgbClr val="000066"/>
              </a:buClr>
              <a:defRPr/>
            </a:pPr>
            <a:r>
              <a:rPr lang="ko-KR" altLang="en-US" kern="0" dirty="0">
                <a:solidFill>
                  <a:srgbClr val="000066"/>
                </a:solidFill>
                <a:ea typeface="HY견고딕"/>
              </a:rPr>
              <a:t>통계학</a:t>
            </a:r>
            <a:endParaRPr lang="en-US" altLang="ko-KR" kern="0" dirty="0">
              <a:solidFill>
                <a:srgbClr val="000066"/>
              </a:solidFill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자료를 정보화하고 이를 바탕으로 하여 객관적인 의사 결정 과정을 연구하는 학문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기계학습에서는 통계학적인 여러 가지 기법들을 이용하여 이미 알려진 자료에 대한 통계적인 분석이 필수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불확실성 하에서 미지의 데이터가 속하는 카테고리들에 대한 판별 결정을 위한 방법으로 확률적인 여러 기법들 사용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확률을 이용하여 미지의 자료가 어느 카테고리에 속하는가를 결정하고 인식 </a:t>
            </a:r>
          </a:p>
        </p:txBody>
      </p:sp>
    </p:spTree>
    <p:extLst>
      <p:ext uri="{BB962C8B-B14F-4D97-AF65-F5344CB8AC3E}">
        <p14:creationId xmlns:p14="http://schemas.microsoft.com/office/powerpoint/2010/main" val="90681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554304" y="168473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통계 용어</a:t>
            </a: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요약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수집된 데이터를 정보 손실을 최소화하면서 일목요연하게 정리하는 것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추정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요약된 데이터를 특정 집단에 적용하여 어떠한 사실을 유도해 내는 것</a:t>
            </a: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데이터 분석의 타당성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어떤 데이터를 수집할 때 원래 수집하고자 하는 내용을 제대로 수집하였는가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?</a:t>
            </a: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데이터 분석의 신뢰성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서로 다르게 반복적으로 데이터를 수집하더라도 항상 동일한 결과가 얻어지는가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?</a:t>
            </a: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모집단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데이터 분석의 관심이 되는 전체 대상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표본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모집단의 특성을 파악하기 위해서 수집된 모집단의 일부분인 개별 자료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표본 분포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동일한 모집단으로부터 취해진 동일한 크기의 모든 가능한 표본으로부터 얻어진 통계 값들의 분포</a:t>
            </a:r>
          </a:p>
        </p:txBody>
      </p:sp>
    </p:spTree>
    <p:extLst>
      <p:ext uri="{BB962C8B-B14F-4D97-AF65-F5344CB8AC3E}">
        <p14:creationId xmlns:p14="http://schemas.microsoft.com/office/powerpoint/2010/main" val="394789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28650" y="155813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통계 </a:t>
            </a: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파라미터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평균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(mean)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자료의 총합을 자료의 개수로 나눈 것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분산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(variance)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자료로부터 평균값의 차이에 대한 제곱 값의 평균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자료의 흩어진 정도를 나타낸다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표준 편차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(standard deviation)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분산의 제곱근을 취하여 자료의 단위와 일치시킨 것</a:t>
            </a:r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27" y="2218011"/>
            <a:ext cx="1381125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3647016"/>
            <a:ext cx="200025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962" y="4973186"/>
            <a:ext cx="2338388" cy="9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065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481476" y="163618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바이어스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(bias)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데이터의 편향된 정도를 나타냄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grpSp>
        <p:nvGrpSpPr>
          <p:cNvPr id="8" name="그룹 5"/>
          <p:cNvGrpSpPr>
            <a:grpSpLocks/>
          </p:cNvGrpSpPr>
          <p:nvPr/>
        </p:nvGrpSpPr>
        <p:grpSpPr bwMode="auto">
          <a:xfrm>
            <a:off x="4389255" y="1735799"/>
            <a:ext cx="4311650" cy="4557713"/>
            <a:chOff x="2971800" y="2095500"/>
            <a:chExt cx="4311650" cy="4557114"/>
          </a:xfrm>
        </p:grpSpPr>
        <p:pic>
          <p:nvPicPr>
            <p:cNvPr id="9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2095500"/>
              <a:ext cx="4311650" cy="212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4210897"/>
              <a:ext cx="4311650" cy="2441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4254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확률과 통계</a:t>
            </a:r>
            <a:endParaRPr lang="ko-KR" altLang="en-US" dirty="0"/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360096" y="166854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공분산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(covariance)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두 개 이상의 변량 데이터가 주어질 경우에 각 변량간의 변화하는 양상을 나타내는 통계적 척도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표본의 랜덤 데이터가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이변량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데이터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(bivariate)           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일 경우의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공분산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계산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434" y="2524209"/>
            <a:ext cx="5762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834" y="3070309"/>
            <a:ext cx="2238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546" y="3856122"/>
            <a:ext cx="3646488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83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12290" name="Picture 2" descr="https://postfiles.pstatic.net/MjAxODAyMTJfMTIy/MDAxNTE4Mzk1OTU1NTM1.zqQ0puj2C7jkB7uJjaOgFmda97tTDpfvtlXy9ZnuUvwg.3PZ6X7ZBkgkUIMHmJQWWjUWNZR8lyLI4DhqEjUu-MmIg.PNG.angryking/13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432" y="1702965"/>
            <a:ext cx="4695825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2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46212" y="160381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상관 계수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(correlation)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두 변량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X,Y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사이의 상관관계의 정도를 나타내는 수치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계수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)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087" y="2500748"/>
            <a:ext cx="54006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962" y="3919973"/>
            <a:ext cx="2786063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6"/>
          <p:cNvSpPr>
            <a:spLocks noChangeArrowheads="1"/>
          </p:cNvSpPr>
          <p:nvPr/>
        </p:nvSpPr>
        <p:spPr bwMode="auto">
          <a:xfrm>
            <a:off x="5018200" y="5174098"/>
            <a:ext cx="2124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1200" baseline="-250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주당 도서관에 있는 시간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1200" baseline="-250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패턴인식 과목 점수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1200" baseline="-250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smtClean="0">
                <a:solidFill>
                  <a:srgbClr val="00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주당 강의를 빠지는 시간</a:t>
            </a:r>
          </a:p>
        </p:txBody>
      </p:sp>
    </p:spTree>
    <p:extLst>
      <p:ext uri="{BB962C8B-B14F-4D97-AF65-F5344CB8AC3E}">
        <p14:creationId xmlns:p14="http://schemas.microsoft.com/office/powerpoint/2010/main" val="103004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7"/>
          <p:cNvSpPr txBox="1">
            <a:spLocks/>
          </p:cNvSpPr>
          <p:nvPr/>
        </p:nvSpPr>
        <p:spPr bwMode="auto">
          <a:xfrm>
            <a:off x="424832" y="1668548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작은 상관 계수는 선형적으로 두 성분간의 관련성이 거의 없음을 나타낸다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882" y="1717760"/>
            <a:ext cx="313372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44" y="3125741"/>
            <a:ext cx="62150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07" y="4554491"/>
            <a:ext cx="7997825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06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확률과 통계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06011" y="1738845"/>
            <a:ext cx="733197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Covariance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두가지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변수사이의</a:t>
            </a:r>
            <a:r>
              <a:rPr lang="ko-KR" altLang="en-US" dirty="0" smtClean="0"/>
              <a:t> 분산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Correlation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공분산에서</a:t>
            </a:r>
            <a:r>
              <a:rPr lang="ko-KR" altLang="en-US" dirty="0" smtClean="0"/>
              <a:t> 각각의 표준편차를 나눠 준 상관관계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653" y="2912163"/>
            <a:ext cx="2677880" cy="132793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653" y="4305140"/>
            <a:ext cx="2677880" cy="1555721"/>
          </a:xfrm>
          <a:prstGeom prst="rect">
            <a:avLst/>
          </a:prstGeom>
        </p:spPr>
      </p:pic>
      <p:sp>
        <p:nvSpPr>
          <p:cNvPr id="7" name="오른쪽으로 구부러진 화살표 6"/>
          <p:cNvSpPr/>
          <p:nvPr/>
        </p:nvSpPr>
        <p:spPr>
          <a:xfrm>
            <a:off x="2888559" y="3679723"/>
            <a:ext cx="495475" cy="139488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3843" y="3254787"/>
            <a:ext cx="1015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covariance</a:t>
            </a:r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2753843" y="5095630"/>
            <a:ext cx="1015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correlation</a:t>
            </a:r>
            <a:endParaRPr lang="ko-KR" alt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2953857" y="4162549"/>
            <a:ext cx="1285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normalization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1080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481477" y="158762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왜도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(skewness)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분포가 어느 한쪽으로 치우친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비대칭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:asymmetry)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정도를 나타내는 통계적 척도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오른쪽으로 더 길면 양의 값이 되고 왼쪽으로 더 길면 음의 값이 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분포가 좌우 대칭이면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043" y="2886258"/>
            <a:ext cx="2571750" cy="135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355" y="4386445"/>
            <a:ext cx="7358063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093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57225" y="164427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첨도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(kurtosis)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뾰족한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(peakedness)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정도를 나타내는 통계적 척도이다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744408"/>
            <a:ext cx="29718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50" y="2601533"/>
            <a:ext cx="2155825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244596"/>
            <a:ext cx="8156575" cy="196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917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497660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회귀분석 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회귀직선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표본을 대표하는 하나의 적합한 직선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각 표본의 점에서 직선까지의 차이의 크기의 합계를 가장 작게 하는 직선을 구하는 것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결국 표본의 각 점에서 그 임의의 직선에 내린 수선의 길이의 제곱 값의 합을 최소로 하는 방법으로 직선의 식을 구함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최소 자승법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(Method  of Least Mean Squares)'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671" y="3713353"/>
            <a:ext cx="3404081" cy="257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239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8473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회귀곡선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표본의 랜덤 데이터가 이변량 데이터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(Bivariate)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일 경우에 표본을 잘 대표하는 하나의 적합한 함수는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차식의 직선으로 나타낼 수도 있지만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2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차식의 곡선으로 나타낼 수도 있다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곡선으로 나타낸 회귀 식을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회귀 곡선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786" y="3175169"/>
            <a:ext cx="3724275" cy="278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67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505753" y="168473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 용어 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통계적 현상 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불확정 현상을 반복하여 관찰하거나 혹은 집단 안에서 대량으로 관찰하거나 하여 그 현상 고유의 법칙성을 찾아내는 것이 가능한 현상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 실험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첫 번째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같은 조건 아래에서 반복할 수 있음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두 번째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시행의 결과는 매번 우연적으로 변하므로 예측할 수 없으나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가능한 모든 결과의 집합을 알 수 있음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세 번째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시행을 반복할 때 낱낱의 결과는 불규칙하게 나타나지만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반복의 수를 늘이면 어떤 규칙성이 나타나는 특징을 가지는 행위</a:t>
            </a: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185606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3618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(probability)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통계적 현상의 확실함의 정도를 나타내는 척도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랜덤 시행에서 어떠한 사건이 일어날 정도를 나타내는 사건에 할당된 수들을 말함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확률 법칙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랜덤 시행에서 사건에 확률을 할당하는 규칙을 말함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랜덤 시행의 표본 공간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S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가 모든 가능한 출력 집합이 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. 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3660242"/>
            <a:ext cx="66548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31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497660" y="158762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수학적 확률 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표본공간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S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각 근원 사건이 일어날 가능성이 동등할 때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사건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에 대하여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n(A)/n(S)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을 사건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수학적 확률이라고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통계적 확률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일반적인 자연 현상이나 사회 현상에는 일어날 가능성이 동일한 현상은 드물 뿐만 아니라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일어날 가능성이 동일한지 어떤지가 분명하지 않는 경우가 대부분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이때는 시행을 여러 번 반복하여 문제의 사건이 일어나는 확률을 상대돗수에 의해 추정함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상대돗수는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회의 시행에서 문제의 사건이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r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회 일어났다고 하면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r/n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이와 같이 추정되는 확률을 통계적 확률이라고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사건과 배반 사건 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우리가 관심을 갖는 것이 어떤 랜덤 시행에서 개별적으로 발생할 결과일 수도 있고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몇 가지의 복합된 결과의 집합이 될 수도 있다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이런 복합된 결과를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사건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어떤 사건의 확률은 그 사건에 포함되어 있는 각 결과의 발생 확률의 합으로 나타낸다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그리고 두 사건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A,B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동시에 일어날 수 없을 때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A, B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는 서로 배반한다고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167218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441016" y="167663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표본 공간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(sample space)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과 확률 공간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관찰할 면을 지정하고 일어날 수 있는 결과의 범위를 규정한 다음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그 범위 내의 각 결과에 기호를 대응시킨다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이렇게 얻은 기호화된 결과의 집합을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 공간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이때 표본 공간의 원소를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표본점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 함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 공간의 부분 집합을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사건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오직 한 표본점으로 이루어진 사건을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근원 사건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 함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 공간을 확률까지 대응시킨 결과의 집합이라 생각할 때의 공간을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확률 공간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 함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즉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확률 공간이란 확률 실험에서 가능한 모든 결과의 집합을 말한다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 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173831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70488" y="174281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확률에 관한 정리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확률에 관한 성질 </a:t>
            </a:r>
          </a:p>
        </p:txBody>
      </p:sp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646" y="2027819"/>
            <a:ext cx="6001508" cy="1171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646" y="3506713"/>
            <a:ext cx="6165047" cy="2624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62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76262" y="185466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결합 확률 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와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사건이 동시에 발생하는 확률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조건부 확률의 수식으로 유도할 수 있음</a:t>
            </a: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이를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곱셈 법칙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만약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각 사건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와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독립이라면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P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[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|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]=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P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)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되므로 위의 곱셈 법칙에 대입하면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P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[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]×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P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[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]=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P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∩</a:t>
            </a:r>
            <a:r>
              <a:rPr kumimoji="0" lang="en-US" altLang="ko-KR" sz="1500" b="0" i="1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)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성립한다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체인 규칙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(chain rule)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각 사건  이 일어날 확률은 조건부 확률과 결합 확률을 이용하여 연쇄적인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(chain)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조건부 확률의 곱의 표현식으로 표현할 수 있다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이를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체인 규칙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'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이라고 한다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2" y="4877264"/>
            <a:ext cx="724693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657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44525" y="173328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주변 확률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(marginal probability)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어떤 하나의 사건이 일어날 단순한 확률로 아무 조건이 붙지 않는 확률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조건부 확률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와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두 개의 사건이 있을 경우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사건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일어날 확률이 이미 알려져 있을 경우에 사건 </a:t>
            </a:r>
            <a:r>
              <a:rPr kumimoji="0" lang="en-US" altLang="ko-KR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일어날 확률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4051343"/>
            <a:ext cx="37211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825" y="3535097"/>
            <a:ext cx="4559665" cy="177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6"/>
          <p:cNvSpPr>
            <a:spLocks noChangeArrowheads="1"/>
          </p:cNvSpPr>
          <p:nvPr/>
        </p:nvSpPr>
        <p:spPr bwMode="auto">
          <a:xfrm>
            <a:off x="935038" y="4847959"/>
            <a:ext cx="2595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498075">
                    <a:lumMod val="75000"/>
                  </a:srgbClr>
                </a:solidFill>
                <a:effectLst/>
                <a:uLnTx/>
                <a:uFillTx/>
              </a:rPr>
              <a:t>주어진 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498075">
                    <a:lumMod val="75000"/>
                  </a:srgbClr>
                </a:solidFill>
                <a:effectLst/>
                <a:uLnTx/>
                <a:uFillTx/>
              </a:rPr>
              <a:t>B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498075">
                    <a:lumMod val="75000"/>
                  </a:srgbClr>
                </a:solidFill>
                <a:effectLst/>
                <a:uLnTx/>
                <a:uFillTx/>
              </a:rPr>
              <a:t>에 대한 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498075">
                    <a:lumMod val="75000"/>
                  </a:srgbClr>
                </a:solidFill>
                <a:effectLst/>
                <a:uLnTx/>
                <a:uFillTx/>
              </a:rPr>
              <a:t>A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498075">
                    <a:lumMod val="75000"/>
                  </a:srgbClr>
                </a:solidFill>
                <a:effectLst/>
                <a:uLnTx/>
                <a:uFillTx/>
              </a:rPr>
              <a:t>의 확률</a:t>
            </a:r>
          </a:p>
        </p:txBody>
      </p:sp>
    </p:spTree>
    <p:extLst>
      <p:ext uri="{BB962C8B-B14F-4D97-AF65-F5344CB8AC3E}">
        <p14:creationId xmlns:p14="http://schemas.microsoft.com/office/powerpoint/2010/main" val="228025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8" name="내용 개체 틀 4"/>
          <p:cNvSpPr txBox="1">
            <a:spLocks/>
          </p:cNvSpPr>
          <p:nvPr/>
        </p:nvSpPr>
        <p:spPr bwMode="auto">
          <a:xfrm>
            <a:off x="408648" y="1668548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전체 확률 이론 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,B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2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en-US" altLang="ko-KR" sz="15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합집합이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공간이고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서로 상호 배타적인 사건이라고 하자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표본 공간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S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분할 영역으로 이들 집합을 나타낼 수 있다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때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사건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은 아래 식과 같이 표현된다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1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,B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2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,…,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B</a:t>
            </a:r>
            <a:r>
              <a:rPr kumimoji="0" lang="en-US" altLang="ko-KR" sz="1500" b="0" i="0" u="none" strike="noStrike" kern="0" cap="none" spc="0" normalizeH="0" baseline="-25000" noProof="0" dirty="0" err="1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</a:t>
            </a:r>
            <a:r>
              <a:rPr kumimoji="0" lang="en-US" altLang="ko-KR" sz="15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은 상호 배타적이므로 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그러므로 아래식이 성립하며 이를 사건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전체 확률이라고 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 </a:t>
            </a: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pic>
        <p:nvPicPr>
          <p:cNvPr id="9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86" y="2625810"/>
            <a:ext cx="60007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79" y="3035153"/>
            <a:ext cx="2488083" cy="1286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493" y="4929731"/>
            <a:ext cx="452437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812" y="5498784"/>
            <a:ext cx="598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53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9" name="내용 개체 틀 4"/>
          <p:cNvSpPr txBox="1">
            <a:spLocks/>
          </p:cNvSpPr>
          <p:nvPr/>
        </p:nvSpPr>
        <p:spPr bwMode="auto">
          <a:xfrm>
            <a:off x="594764" y="159571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베이즈의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정리 </a:t>
            </a:r>
          </a:p>
        </p:txBody>
      </p:sp>
      <p:pic>
        <p:nvPicPr>
          <p:cNvPr id="10" name="Picture 7" descr="UNI000001c818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77" y="2222781"/>
            <a:ext cx="15335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252" y="2019581"/>
            <a:ext cx="4500562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252" y="3162581"/>
            <a:ext cx="5048250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257" y="3854731"/>
            <a:ext cx="157480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4450044"/>
            <a:ext cx="7453312" cy="173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073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TextBox 7"/>
          <p:cNvSpPr txBox="1"/>
          <p:nvPr/>
        </p:nvSpPr>
        <p:spPr>
          <a:xfrm>
            <a:off x="628650" y="1885405"/>
            <a:ext cx="3867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Bayes Rule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3056260" y="4130517"/>
            <a:ext cx="2" cy="261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 flipV="1">
            <a:off x="3540435" y="4804639"/>
            <a:ext cx="1347" cy="377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15"/>
          <p:cNvSpPr txBox="1"/>
          <p:nvPr/>
        </p:nvSpPr>
        <p:spPr>
          <a:xfrm>
            <a:off x="2760901" y="3778169"/>
            <a:ext cx="203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Car == G70?</a:t>
            </a:r>
            <a:endParaRPr lang="ko-KR" altLang="en-US" dirty="0"/>
          </a:p>
        </p:txBody>
      </p:sp>
      <p:sp>
        <p:nvSpPr>
          <p:cNvPr id="11" name="TextBox 20"/>
          <p:cNvSpPr txBox="1"/>
          <p:nvPr/>
        </p:nvSpPr>
        <p:spPr>
          <a:xfrm>
            <a:off x="3175472" y="5181837"/>
            <a:ext cx="89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Image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5131517" y="4123901"/>
            <a:ext cx="2" cy="261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23"/>
          <p:cNvSpPr txBox="1"/>
          <p:nvPr/>
        </p:nvSpPr>
        <p:spPr>
          <a:xfrm>
            <a:off x="4340370" y="3789824"/>
            <a:ext cx="203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Car == G70</a:t>
            </a:r>
            <a:endParaRPr lang="ko-KR" altLang="en-US" dirty="0"/>
          </a:p>
        </p:txBody>
      </p:sp>
      <p:cxnSp>
        <p:nvCxnSpPr>
          <p:cNvPr id="15" name="직선 화살표 연결선 14"/>
          <p:cNvCxnSpPr>
            <a:stCxn id="16" idx="0"/>
          </p:cNvCxnSpPr>
          <p:nvPr/>
        </p:nvCxnSpPr>
        <p:spPr>
          <a:xfrm flipV="1">
            <a:off x="4786517" y="4840236"/>
            <a:ext cx="1" cy="353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25"/>
          <p:cNvSpPr txBox="1"/>
          <p:nvPr/>
        </p:nvSpPr>
        <p:spPr>
          <a:xfrm>
            <a:off x="4340370" y="5193525"/>
            <a:ext cx="89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Image</a:t>
            </a:r>
            <a:endParaRPr lang="ko-KR" altLang="en-US" dirty="0"/>
          </a:p>
        </p:txBody>
      </p:sp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829" y="2352418"/>
            <a:ext cx="4500562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" t="23826" r="78037" b="44152"/>
          <a:stretch/>
        </p:blipFill>
        <p:spPr bwMode="auto">
          <a:xfrm>
            <a:off x="2760901" y="4385428"/>
            <a:ext cx="979137" cy="396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rcRect r="50539" b="3187"/>
          <a:stretch/>
        </p:blipFill>
        <p:spPr>
          <a:xfrm>
            <a:off x="1051216" y="3778169"/>
            <a:ext cx="1507647" cy="1927524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74" y="3809148"/>
            <a:ext cx="3048141" cy="1990982"/>
          </a:xfrm>
          <a:prstGeom prst="rect">
            <a:avLst/>
          </a:prstGeom>
        </p:spPr>
      </p:pic>
      <p:pic>
        <p:nvPicPr>
          <p:cNvPr id="17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86" t="7057" r="21065" b="60424"/>
          <a:stretch/>
        </p:blipFill>
        <p:spPr bwMode="auto">
          <a:xfrm>
            <a:off x="4399575" y="4368758"/>
            <a:ext cx="956345" cy="402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828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7170" name="Picture 2" descr="íëìëì°¨ ê·¸ëì ¸ig ì¥ê¸°ë í°ì¹´ 11ì íë§¤ì¡°ê±´ ëªíê³ì½ OK!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11" y="1783421"/>
            <a:ext cx="3464654" cy="178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ê·¸ëì ¸hg ê°ê²©íì¸ë°ì^^ ìì§ì ë°ë¼ ë§ì ì°¨ì´ê°ë©ëë¤~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23" y="1783421"/>
            <a:ext cx="2713460" cy="182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ê·¸ëì ¸T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349" y="4042287"/>
            <a:ext cx="2835479" cy="180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ë´ê·¸ëì XG ë¯¿ìì ìëê³³ ììë³´ê¸°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248" y="4087921"/>
            <a:ext cx="2343406" cy="175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025218"/>
              </p:ext>
            </p:extLst>
          </p:nvPr>
        </p:nvGraphicFramePr>
        <p:xfrm>
          <a:off x="2087068" y="3603906"/>
          <a:ext cx="1360807" cy="438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Equation" r:id="rId7" imgW="787320" imgH="253800" progId="Equation.DSMT4">
                  <p:embed/>
                </p:oleObj>
              </mc:Choice>
              <mc:Fallback>
                <p:oleObj name="Equation" r:id="rId7" imgW="7873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87068" y="3603906"/>
                        <a:ext cx="1360807" cy="438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401354"/>
              </p:ext>
            </p:extLst>
          </p:nvPr>
        </p:nvGraphicFramePr>
        <p:xfrm>
          <a:off x="5618163" y="3606800"/>
          <a:ext cx="1470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Equation" r:id="rId9" imgW="850680" imgH="253800" progId="Equation.DSMT4">
                  <p:embed/>
                </p:oleObj>
              </mc:Choice>
              <mc:Fallback>
                <p:oleObj name="Equation" r:id="rId9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18163" y="3606800"/>
                        <a:ext cx="1470025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229549"/>
              </p:ext>
            </p:extLst>
          </p:nvPr>
        </p:nvGraphicFramePr>
        <p:xfrm>
          <a:off x="1871663" y="5854700"/>
          <a:ext cx="15351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Equation" r:id="rId11" imgW="888840" imgH="253800" progId="Equation.DSMT4">
                  <p:embed/>
                </p:oleObj>
              </mc:Choice>
              <mc:Fallback>
                <p:oleObj name="Equation" r:id="rId11" imgW="888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71663" y="5854700"/>
                        <a:ext cx="1535112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개체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596465"/>
              </p:ext>
            </p:extLst>
          </p:nvPr>
        </p:nvGraphicFramePr>
        <p:xfrm>
          <a:off x="5513388" y="5888038"/>
          <a:ext cx="15779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Equation" r:id="rId13" imgW="914400" imgH="253800" progId="Equation.DSMT4">
                  <p:embed/>
                </p:oleObj>
              </mc:Choice>
              <mc:Fallback>
                <p:oleObj name="Equation" r:id="rId13" imgW="914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13388" y="5888038"/>
                        <a:ext cx="1577975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82180" y="1879134"/>
            <a:ext cx="107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I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</a:rPr>
              <a:t>= 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96023" y="1780527"/>
            <a:ext cx="107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I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</a:rPr>
              <a:t>= 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4767" y="4069608"/>
            <a:ext cx="107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I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</a:rPr>
              <a:t>= 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30248" y="4087513"/>
            <a:ext cx="107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I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</a:rPr>
              <a:t>= 4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6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891000"/>
              </p:ext>
            </p:extLst>
          </p:nvPr>
        </p:nvGraphicFramePr>
        <p:xfrm>
          <a:off x="1833563" y="1865313"/>
          <a:ext cx="2173287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Equation" r:id="rId3" imgW="1257120" imgH="1015920" progId="Equation.DSMT4">
                  <p:embed/>
                </p:oleObj>
              </mc:Choice>
              <mc:Fallback>
                <p:oleObj name="Equation" r:id="rId3" imgW="125712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3563" y="1865313"/>
                        <a:ext cx="2173287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458873"/>
              </p:ext>
            </p:extLst>
          </p:nvPr>
        </p:nvGraphicFramePr>
        <p:xfrm>
          <a:off x="5218113" y="1865313"/>
          <a:ext cx="228441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Equation" r:id="rId5" imgW="1320480" imgH="1015920" progId="Equation.DSMT4">
                  <p:embed/>
                </p:oleObj>
              </mc:Choice>
              <mc:Fallback>
                <p:oleObj name="Equation" r:id="rId5" imgW="132048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18113" y="1865313"/>
                        <a:ext cx="2284412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82637"/>
              </p:ext>
            </p:extLst>
          </p:nvPr>
        </p:nvGraphicFramePr>
        <p:xfrm>
          <a:off x="1809750" y="4132263"/>
          <a:ext cx="22193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Equation" r:id="rId7" imgW="1282680" imgH="1015920" progId="Equation.DSMT4">
                  <p:embed/>
                </p:oleObj>
              </mc:Choice>
              <mc:Fallback>
                <p:oleObj name="Equation" r:id="rId7" imgW="128268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09750" y="4132263"/>
                        <a:ext cx="2219325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529338"/>
              </p:ext>
            </p:extLst>
          </p:nvPr>
        </p:nvGraphicFramePr>
        <p:xfrm>
          <a:off x="5229240" y="4112965"/>
          <a:ext cx="2262187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Equation" r:id="rId9" imgW="1307880" imgH="1015920" progId="Equation.DSMT4">
                  <p:embed/>
                </p:oleObj>
              </mc:Choice>
              <mc:Fallback>
                <p:oleObj name="Equation" r:id="rId9" imgW="130788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29240" y="4112965"/>
                        <a:ext cx="2262187" cy="175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605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3" name="Picture 2" descr="íëìëì°¨ ê·¸ëì ¸ig ì¥ê¸°ë í°ì¹´ 11ì íë§¤ì¡°ê±´ ëªíê³ì½ OK!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9" b="48129"/>
          <a:stretch/>
        </p:blipFill>
        <p:spPr bwMode="auto">
          <a:xfrm>
            <a:off x="906011" y="1783421"/>
            <a:ext cx="3431097" cy="92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641244"/>
              </p:ext>
            </p:extLst>
          </p:nvPr>
        </p:nvGraphicFramePr>
        <p:xfrm>
          <a:off x="4504379" y="2147685"/>
          <a:ext cx="14271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4" imgW="825480" imgH="253800" progId="Equation.DSMT4">
                  <p:embed/>
                </p:oleObj>
              </mc:Choice>
              <mc:Fallback>
                <p:oleObj name="Equation" r:id="rId4" imgW="82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04379" y="2147685"/>
                        <a:ext cx="1427162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796" y="2850659"/>
            <a:ext cx="2706623" cy="744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667331"/>
              </p:ext>
            </p:extLst>
          </p:nvPr>
        </p:nvGraphicFramePr>
        <p:xfrm>
          <a:off x="752475" y="3736353"/>
          <a:ext cx="7762875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7" imgW="5410080" imgH="1676160" progId="Equation.DSMT4">
                  <p:embed/>
                </p:oleObj>
              </mc:Choice>
              <mc:Fallback>
                <p:oleObj name="Equation" r:id="rId7" imgW="5410080" imgH="1676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2475" y="3736353"/>
                        <a:ext cx="7762875" cy="239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344061"/>
              </p:ext>
            </p:extLst>
          </p:nvPr>
        </p:nvGraphicFramePr>
        <p:xfrm>
          <a:off x="6715562" y="1850888"/>
          <a:ext cx="1565756" cy="1469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quation" r:id="rId9" imgW="1079280" imgH="1015920" progId="Equation.DSMT4">
                  <p:embed/>
                </p:oleObj>
              </mc:Choice>
              <mc:Fallback>
                <p:oleObj name="Equation" r:id="rId9" imgW="107928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15562" y="1850888"/>
                        <a:ext cx="1565756" cy="1469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488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3" name="Picture 2" descr="íëìëì°¨ ê·¸ëì ¸ig ì¥ê¸°ë í°ì¹´ 11ì íë§¤ì¡°ê±´ ëªíê³ì½ OK!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9" b="48129"/>
          <a:stretch/>
        </p:blipFill>
        <p:spPr bwMode="auto">
          <a:xfrm>
            <a:off x="906011" y="1783421"/>
            <a:ext cx="3431097" cy="92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4982"/>
              </p:ext>
            </p:extLst>
          </p:nvPr>
        </p:nvGraphicFramePr>
        <p:xfrm>
          <a:off x="5153025" y="2154238"/>
          <a:ext cx="15382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quation" r:id="rId4" imgW="888840" imgH="253800" progId="Equation.DSMT4">
                  <p:embed/>
                </p:oleObj>
              </mc:Choice>
              <mc:Fallback>
                <p:oleObj name="Equation" r:id="rId4" imgW="888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3025" y="2154238"/>
                        <a:ext cx="1538288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796" y="2850659"/>
            <a:ext cx="2706623" cy="744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192318"/>
              </p:ext>
            </p:extLst>
          </p:nvPr>
        </p:nvGraphicFramePr>
        <p:xfrm>
          <a:off x="708025" y="3736975"/>
          <a:ext cx="7853363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Equation" r:id="rId7" imgW="5473440" imgH="1676160" progId="Equation.DSMT4">
                  <p:embed/>
                </p:oleObj>
              </mc:Choice>
              <mc:Fallback>
                <p:oleObj name="Equation" r:id="rId7" imgW="5473440" imgH="1676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8025" y="3736975"/>
                        <a:ext cx="7853363" cy="239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052836"/>
              </p:ext>
            </p:extLst>
          </p:nvPr>
        </p:nvGraphicFramePr>
        <p:xfrm>
          <a:off x="6715562" y="1850888"/>
          <a:ext cx="1565756" cy="1469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Equation" r:id="rId9" imgW="1079280" imgH="1015920" progId="Equation.DSMT4">
                  <p:embed/>
                </p:oleObj>
              </mc:Choice>
              <mc:Fallback>
                <p:oleObj name="Equation" r:id="rId9" imgW="107928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15562" y="1850888"/>
                        <a:ext cx="1565756" cy="1469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227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041784" y="2088128"/>
            <a:ext cx="3338818" cy="2076814"/>
            <a:chOff x="906011" y="1748566"/>
            <a:chExt cx="6178114" cy="3623673"/>
          </a:xfrm>
        </p:grpSpPr>
        <p:pic>
          <p:nvPicPr>
            <p:cNvPr id="3" name="Picture 2" descr="íëìëì°¨ ê·¸ëì ¸ig ì¥ê¸°ë í°ì¹´ 11ì íë§¤ì¡°ê±´ ëªíê³ì½ OK!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6011" y="1783421"/>
              <a:ext cx="3464654" cy="1785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ê·¸ëì ¸hg ê°ê²©íì¸ë°ì^^ ìì§ì ë°ë¼ ë§ì ì°¨ì´ê°ë©ëë¤~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665" y="1748566"/>
              <a:ext cx="2713460" cy="18204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6" descr="ê·¸ëì ¸T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5186" y="3569051"/>
              <a:ext cx="2835479" cy="1803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ë´ê·¸ëì XG ë¯¿ìì ìëê³³ ììë³´ê¸°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665" y="3569051"/>
              <a:ext cx="2343406" cy="1757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708925"/>
              </p:ext>
            </p:extLst>
          </p:nvPr>
        </p:nvGraphicFramePr>
        <p:xfrm>
          <a:off x="752475" y="4532277"/>
          <a:ext cx="776287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Equation" r:id="rId7" imgW="5410080" imgH="469800" progId="Equation.DSMT4">
                  <p:embed/>
                </p:oleObj>
              </mc:Choice>
              <mc:Fallback>
                <p:oleObj name="Equation" r:id="rId7" imgW="54100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2475" y="4532277"/>
                        <a:ext cx="7762875" cy="671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 descr="íëìëì°¨ ê·¸ëì ¸ig ì¥ê¸°ë í°ì¹´ 11ì íë§¤ì¡°ê±´ ëªíê³ì½ OK!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9" b="48129"/>
          <a:stretch/>
        </p:blipFill>
        <p:spPr bwMode="auto">
          <a:xfrm>
            <a:off x="1001346" y="2797648"/>
            <a:ext cx="3431097" cy="92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개체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875864"/>
              </p:ext>
            </p:extLst>
          </p:nvPr>
        </p:nvGraphicFramePr>
        <p:xfrm>
          <a:off x="708025" y="5340350"/>
          <a:ext cx="785336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Equation" r:id="rId10" imgW="5473440" imgH="469800" progId="Equation.DSMT4">
                  <p:embed/>
                </p:oleObj>
              </mc:Choice>
              <mc:Fallback>
                <p:oleObj name="Equation" r:id="rId10" imgW="5473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8025" y="5340350"/>
                        <a:ext cx="7853363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아래로 구부러진 화살표 10"/>
          <p:cNvSpPr/>
          <p:nvPr/>
        </p:nvSpPr>
        <p:spPr>
          <a:xfrm flipH="1">
            <a:off x="3575356" y="2108102"/>
            <a:ext cx="1676975" cy="4505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아래로 구부러진 화살표 11"/>
          <p:cNvSpPr/>
          <p:nvPr/>
        </p:nvSpPr>
        <p:spPr>
          <a:xfrm flipH="1">
            <a:off x="2416029" y="1637588"/>
            <a:ext cx="5131366" cy="4505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Picture 1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968" y="3845876"/>
            <a:ext cx="1688464" cy="873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81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40" y="2148497"/>
            <a:ext cx="3792160" cy="383355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366" y="2263828"/>
            <a:ext cx="3707912" cy="360289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98582" y="1723564"/>
            <a:ext cx="3867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/>
              <a:t>Likelihood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5868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798582" y="1723564"/>
            <a:ext cx="3867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 smtClean="0"/>
              <a:t>Maximum </a:t>
            </a:r>
            <a:r>
              <a:rPr lang="en-US" altLang="ko-KR" b="1" dirty="0"/>
              <a:t>Likelihood Estimator</a:t>
            </a:r>
          </a:p>
        </p:txBody>
      </p:sp>
      <p:pic>
        <p:nvPicPr>
          <p:cNvPr id="2050" name="Picture 2" descr="Image result for ì°ê·¸ë¬ì§ ëì 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30" y="2450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위로 굽은 화살표 4"/>
          <p:cNvSpPr/>
          <p:nvPr/>
        </p:nvSpPr>
        <p:spPr>
          <a:xfrm flipV="1">
            <a:off x="2354781" y="2816028"/>
            <a:ext cx="525982" cy="51789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453"/>
              </p:ext>
            </p:extLst>
          </p:nvPr>
        </p:nvGraphicFramePr>
        <p:xfrm>
          <a:off x="4015277" y="2860535"/>
          <a:ext cx="2229485" cy="946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4" imgW="927000" imgH="393480" progId="Equation.DSMT4">
                  <p:embed/>
                </p:oleObj>
              </mc:Choice>
              <mc:Fallback>
                <p:oleObj name="Equation" r:id="rId4" imgW="927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15277" y="2860535"/>
                        <a:ext cx="2229485" cy="946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/>
          <p:cNvSpPr/>
          <p:nvPr/>
        </p:nvSpPr>
        <p:spPr>
          <a:xfrm>
            <a:off x="1258310" y="4759137"/>
            <a:ext cx="6081165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1000</a:t>
            </a:r>
            <a:r>
              <a:rPr lang="ko-KR" altLang="en-US" dirty="0"/>
              <a:t>번을 던져봤더니 앞이 </a:t>
            </a:r>
            <a:r>
              <a:rPr lang="en-US" altLang="ko-KR" dirty="0"/>
              <a:t>400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뒤가 </a:t>
            </a:r>
            <a:r>
              <a:rPr lang="en-US" altLang="ko-KR" dirty="0"/>
              <a:t>600</a:t>
            </a:r>
            <a:r>
              <a:rPr lang="ko-KR" altLang="en-US" dirty="0" smtClean="0"/>
              <a:t>번 나옴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dirty="0" smtClean="0">
                <a:sym typeface="Wingdings" panose="05000000000000000000" pitchFamily="2" charset="2"/>
              </a:rPr>
              <a:t>이때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929497"/>
              </p:ext>
            </p:extLst>
          </p:nvPr>
        </p:nvGraphicFramePr>
        <p:xfrm>
          <a:off x="2250281" y="5219530"/>
          <a:ext cx="1260964" cy="394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6" imgW="812520" imgH="253800" progId="Equation.DSMT4">
                  <p:embed/>
                </p:oleObj>
              </mc:Choice>
              <mc:Fallback>
                <p:oleObj name="Equation" r:id="rId6" imgW="812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50281" y="5219530"/>
                        <a:ext cx="1260964" cy="394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294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585027"/>
              </p:ext>
            </p:extLst>
          </p:nvPr>
        </p:nvGraphicFramePr>
        <p:xfrm>
          <a:off x="2790626" y="1972610"/>
          <a:ext cx="1506246" cy="449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Equation" r:id="rId3" imgW="850680" imgH="253800" progId="Equation.DSMT4">
                  <p:embed/>
                </p:oleObj>
              </mc:Choice>
              <mc:Fallback>
                <p:oleObj name="Equation" r:id="rId3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0626" y="1972610"/>
                        <a:ext cx="1506246" cy="4490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/>
          <p:cNvSpPr/>
          <p:nvPr/>
        </p:nvSpPr>
        <p:spPr>
          <a:xfrm>
            <a:off x="788577" y="1967385"/>
            <a:ext cx="608116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앞면이 나올 확률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73940" y="2710832"/>
            <a:ext cx="627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① </a:t>
            </a:r>
            <a:r>
              <a:rPr lang="en-US" altLang="ko-KR" dirty="0" smtClean="0"/>
              <a:t>1000</a:t>
            </a:r>
            <a:r>
              <a:rPr lang="ko-KR" altLang="en-US" dirty="0" smtClean="0"/>
              <a:t>번 시행 후 앞면 </a:t>
            </a:r>
            <a:r>
              <a:rPr lang="en-US" altLang="ko-KR" dirty="0" smtClean="0"/>
              <a:t>400</a:t>
            </a:r>
            <a:r>
              <a:rPr lang="ko-KR" altLang="en-US" dirty="0" smtClean="0"/>
              <a:t>번</a:t>
            </a:r>
            <a:r>
              <a:rPr lang="en-US" altLang="ko-KR" dirty="0" smtClean="0"/>
              <a:t>, </a:t>
            </a:r>
            <a:r>
              <a:rPr lang="ko-KR" altLang="en-US" dirty="0" smtClean="0"/>
              <a:t>뒷면 </a:t>
            </a:r>
            <a:r>
              <a:rPr lang="en-US" altLang="ko-KR" dirty="0" smtClean="0"/>
              <a:t>600</a:t>
            </a:r>
            <a:r>
              <a:rPr lang="ko-KR" altLang="en-US" dirty="0" smtClean="0"/>
              <a:t>번이 나올 확률</a:t>
            </a:r>
            <a:endParaRPr lang="ko-KR" altLang="en-US" dirty="0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110398"/>
              </p:ext>
            </p:extLst>
          </p:nvPr>
        </p:nvGraphicFramePr>
        <p:xfrm>
          <a:off x="3008425" y="3203480"/>
          <a:ext cx="27193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Equation" r:id="rId5" imgW="1536480" imgH="279360" progId="Equation.DSMT4">
                  <p:embed/>
                </p:oleObj>
              </mc:Choice>
              <mc:Fallback>
                <p:oleObj name="Equation" r:id="rId5" imgW="1536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8425" y="3203480"/>
                        <a:ext cx="2719387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3940" y="3753836"/>
            <a:ext cx="627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② </a:t>
            </a:r>
            <a:r>
              <a:rPr lang="en-US" altLang="ko-KR" dirty="0" smtClean="0"/>
              <a:t>L</a:t>
            </a:r>
            <a:r>
              <a:rPr lang="ko-KR" altLang="en-US" dirty="0" smtClean="0"/>
              <a:t>은                     가 최대가 될 때 최대가 되므로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401908"/>
              </p:ext>
            </p:extLst>
          </p:nvPr>
        </p:nvGraphicFramePr>
        <p:xfrm>
          <a:off x="1727945" y="3691645"/>
          <a:ext cx="150653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Equation" r:id="rId7" imgW="850680" imgH="279360" progId="Equation.DSMT4">
                  <p:embed/>
                </p:oleObj>
              </mc:Choice>
              <mc:Fallback>
                <p:oleObj name="Equation" r:id="rId7" imgW="850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7945" y="3691645"/>
                        <a:ext cx="1506537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897134"/>
              </p:ext>
            </p:extLst>
          </p:nvPr>
        </p:nvGraphicFramePr>
        <p:xfrm>
          <a:off x="1890361" y="4215988"/>
          <a:ext cx="618013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Equation" r:id="rId9" imgW="3492360" imgH="609480" progId="Equation.DSMT4">
                  <p:embed/>
                </p:oleObj>
              </mc:Choice>
              <mc:Fallback>
                <p:oleObj name="Equation" r:id="rId9" imgW="349236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90361" y="4215988"/>
                        <a:ext cx="6180138" cy="107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2953" y="5501796"/>
            <a:ext cx="627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③                  </a:t>
            </a:r>
            <a:r>
              <a:rPr lang="ko-KR" altLang="en-US" dirty="0" err="1" smtClean="0"/>
              <a:t>일때</a:t>
            </a:r>
            <a:r>
              <a:rPr lang="ko-KR" altLang="en-US" dirty="0" smtClean="0"/>
              <a:t> 최대 → </a:t>
            </a:r>
            <a:r>
              <a:rPr lang="en-US" altLang="ko-KR" dirty="0" smtClean="0"/>
              <a:t>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graphicFrame>
        <p:nvGraphicFramePr>
          <p:cNvPr id="12" name="개체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580422"/>
              </p:ext>
            </p:extLst>
          </p:nvPr>
        </p:nvGraphicFramePr>
        <p:xfrm>
          <a:off x="1442504" y="5321182"/>
          <a:ext cx="123666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Equation" r:id="rId11" imgW="698400" imgH="393480" progId="Equation.DSMT4">
                  <p:embed/>
                </p:oleObj>
              </mc:Choice>
              <mc:Fallback>
                <p:oleObj name="Equation" r:id="rId11" imgW="698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2504" y="5321182"/>
                        <a:ext cx="1236662" cy="69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690215"/>
              </p:ext>
            </p:extLst>
          </p:nvPr>
        </p:nvGraphicFramePr>
        <p:xfrm>
          <a:off x="4252148" y="5512353"/>
          <a:ext cx="8540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Equation" r:id="rId13" imgW="482400" imgH="203040" progId="Equation.DSMT4">
                  <p:embed/>
                </p:oleObj>
              </mc:Choice>
              <mc:Fallback>
                <p:oleObj name="Equation" r:id="rId13" imgW="48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52148" y="5512353"/>
                        <a:ext cx="854075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389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996" y="1856284"/>
            <a:ext cx="5685623" cy="42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6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8860" y="1915269"/>
            <a:ext cx="608116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내 키를 </a:t>
            </a:r>
            <a:r>
              <a:rPr lang="en-US" altLang="ko-KR" dirty="0" smtClean="0"/>
              <a:t>5</a:t>
            </a:r>
            <a:r>
              <a:rPr lang="ko-KR" altLang="en-US" dirty="0" smtClean="0"/>
              <a:t>번 측정한 결과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: 178cm/179cm/180cm/181cm/182cm</a:t>
            </a:r>
            <a:r>
              <a:rPr lang="ko-KR" altLang="en-US" dirty="0" smtClean="0"/>
              <a:t>가 나옴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→ 합리적인 내 키는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5122" name="Picture 2" descr="Image result for í¤ ì¬ê¸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516" y="3000181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08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6829" y="1972601"/>
            <a:ext cx="627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① 키 측정계는                 의 정규분포를 따름 </a:t>
            </a:r>
            <a:endParaRPr lang="ko-KR" altLang="en-US" dirty="0"/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717897"/>
              </p:ext>
            </p:extLst>
          </p:nvPr>
        </p:nvGraphicFramePr>
        <p:xfrm>
          <a:off x="2612055" y="1922885"/>
          <a:ext cx="11017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3" imgW="622080" imgH="279360" progId="Equation.DSMT4">
                  <p:embed/>
                </p:oleObj>
              </mc:Choice>
              <mc:Fallback>
                <p:oleObj name="Equation" r:id="rId3" imgW="6220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2055" y="1922885"/>
                        <a:ext cx="11017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6829" y="2538782"/>
            <a:ext cx="627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② 키 측정값이 </a:t>
            </a:r>
            <a:r>
              <a:rPr lang="en-US" altLang="ko-KR" dirty="0" smtClean="0"/>
              <a:t>x</a:t>
            </a:r>
            <a:r>
              <a:rPr lang="ko-KR" altLang="en-US" dirty="0" err="1" smtClean="0"/>
              <a:t>일때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키의 가능도</a:t>
            </a:r>
            <a:endParaRPr lang="en-US" altLang="ko-KR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806829" y="3984738"/>
            <a:ext cx="627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③ 이때 </a:t>
            </a:r>
            <a:r>
              <a:rPr lang="en-US" altLang="ko-KR" dirty="0" smtClean="0"/>
              <a:t>5</a:t>
            </a:r>
            <a:r>
              <a:rPr lang="ko-KR" altLang="en-US" dirty="0" smtClean="0"/>
              <a:t>번 측정한 키의 </a:t>
            </a:r>
            <a:r>
              <a:rPr lang="ko-KR" altLang="en-US" dirty="0" err="1" smtClean="0"/>
              <a:t>가능도는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graphicFrame>
        <p:nvGraphicFramePr>
          <p:cNvPr id="20" name="개체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11565"/>
              </p:ext>
            </p:extLst>
          </p:nvPr>
        </p:nvGraphicFramePr>
        <p:xfrm>
          <a:off x="3162917" y="2953882"/>
          <a:ext cx="202406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5" imgW="1143000" imgH="482400" progId="Equation.DSMT4">
                  <p:embed/>
                </p:oleObj>
              </mc:Choice>
              <mc:Fallback>
                <p:oleObj name="Equation" r:id="rId5" imgW="1143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2917" y="2953882"/>
                        <a:ext cx="2024063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개체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977663"/>
              </p:ext>
            </p:extLst>
          </p:nvPr>
        </p:nvGraphicFramePr>
        <p:xfrm>
          <a:off x="839019" y="4354070"/>
          <a:ext cx="7465961" cy="65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name="Equation" r:id="rId7" imgW="5448240" imgH="482400" progId="Equation.DSMT4">
                  <p:embed/>
                </p:oleObj>
              </mc:Choice>
              <mc:Fallback>
                <p:oleObj name="Equation" r:id="rId7" imgW="54482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9019" y="4354070"/>
                        <a:ext cx="7465961" cy="65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06828" y="5198473"/>
            <a:ext cx="8496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④ </a:t>
            </a:r>
            <a:r>
              <a:rPr lang="en-US" altLang="ko-KR" dirty="0" smtClean="0"/>
              <a:t>L</a:t>
            </a:r>
            <a:r>
              <a:rPr lang="ko-KR" altLang="en-US" dirty="0" smtClean="0"/>
              <a:t>은                                                                 이 최소일 때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, </a:t>
            </a:r>
            <a:r>
              <a:rPr lang="ko-KR" altLang="en-US" dirty="0" smtClean="0"/>
              <a:t>최대가 됨 </a:t>
            </a:r>
            <a:endParaRPr lang="ko-KR" altLang="en-US" dirty="0"/>
          </a:p>
        </p:txBody>
      </p:sp>
      <p:graphicFrame>
        <p:nvGraphicFramePr>
          <p:cNvPr id="23" name="개체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174745"/>
              </p:ext>
            </p:extLst>
          </p:nvPr>
        </p:nvGraphicFramePr>
        <p:xfrm>
          <a:off x="1624629" y="5185217"/>
          <a:ext cx="510063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Equation" r:id="rId9" imgW="3720960" imgH="279360" progId="Equation.DSMT4">
                  <p:embed/>
                </p:oleObj>
              </mc:Choice>
              <mc:Fallback>
                <p:oleObj name="Equation" r:id="rId9" imgW="37209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24629" y="5185217"/>
                        <a:ext cx="5100638" cy="382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759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11" y="1778661"/>
            <a:ext cx="5589963" cy="421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9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1028" name="Picture 4" descr="Image result for maximum likelihood estim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616" y="2118434"/>
            <a:ext cx="6704767" cy="377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770888" y="3099250"/>
            <a:ext cx="4345424" cy="364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49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46213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확률변수란 무엇인가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?</a:t>
            </a:r>
            <a:endParaRPr kumimoji="0" lang="ko-KR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동전 열 개를 던지는 시행과 같이 표본 공간 상에서 바로 확률을 구하는 것이 어려운 경우에 실험 결과를 수치로 대응시켜 놓고 통계적 분석을 행하는 것이 용이하다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시행 결과 하나 하나를 수치로 대응시키는 함수를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'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확률변수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'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혹은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'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랜덤변수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'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라고 정의한다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</p:txBody>
      </p:sp>
      <p:pic>
        <p:nvPicPr>
          <p:cNvPr id="7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63" y="4676705"/>
            <a:ext cx="11207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467" y="3379557"/>
            <a:ext cx="2454639" cy="280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059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21936" y="164427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 분포란 무엇인가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?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수치로 대응된 확률변수의 개별 값들이 가지는 확률 값의 분포 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예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1)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두 개의 동전을 던지는 확률 실험에서 앞면이 나오는 숫자</a:t>
            </a: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예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2)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두개의 주사위를 던져서 나오는 점들의 합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861" y="2957133"/>
            <a:ext cx="3470275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36" y="4957383"/>
            <a:ext cx="84391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765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628650" y="1589088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누적분포함수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ko-KR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2101850"/>
            <a:ext cx="762158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2813050"/>
            <a:ext cx="32956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80" y="3284537"/>
            <a:ext cx="87979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17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19996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누적분포함수의 성질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132758"/>
            <a:ext cx="3654425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52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00075" y="165236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확률밀도함수와 확률질량함수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395243"/>
            <a:ext cx="8229274" cy="3573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8221508" y="3463391"/>
            <a:ext cx="639271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195714" y="5282511"/>
            <a:ext cx="639271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38120" y="161190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확률밀도함수의 성질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057" y="1847356"/>
            <a:ext cx="4609439" cy="4411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216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7"/>
          <p:cNvSpPr txBox="1">
            <a:spLocks/>
          </p:cNvSpPr>
          <p:nvPr/>
        </p:nvSpPr>
        <p:spPr bwMode="auto">
          <a:xfrm>
            <a:off x="628650" y="159571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확률밀도함수와 확률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202" y="1966400"/>
            <a:ext cx="44577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0" b="-5170"/>
          <a:stretch/>
        </p:blipFill>
        <p:spPr bwMode="auto">
          <a:xfrm>
            <a:off x="3576679" y="5738300"/>
            <a:ext cx="2658880" cy="31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89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762000" y="161999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확률질량함수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138" y="1883520"/>
            <a:ext cx="4035425" cy="375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63" t="1" b="-6725"/>
          <a:stretch/>
        </p:blipFill>
        <p:spPr bwMode="auto">
          <a:xfrm>
            <a:off x="3528556" y="5637958"/>
            <a:ext cx="2848888" cy="37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925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762000" y="187084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기대값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: 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확률변수의 평균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99"/>
          <a:stretch/>
        </p:blipFill>
        <p:spPr bwMode="auto">
          <a:xfrm>
            <a:off x="938842" y="2436284"/>
            <a:ext cx="7576508" cy="2308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7800722" y="4234817"/>
            <a:ext cx="639271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8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76565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기대값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</a:t>
            </a: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: 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확률변수의 평균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61" r="-149"/>
          <a:stretch/>
        </p:blipFill>
        <p:spPr bwMode="auto">
          <a:xfrm>
            <a:off x="1169862" y="2403334"/>
            <a:ext cx="7071573" cy="227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2" y="5080359"/>
            <a:ext cx="3000375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876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64427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확률변수의 분산과 표준편차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ko-KR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758" y="1644271"/>
            <a:ext cx="24955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070" y="4739896"/>
            <a:ext cx="51911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730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521937" y="165236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 랜덤변수 </a:t>
            </a: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 변수를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 이상 고려한 경우로 확률변수의 개념을 확장한 것으로 열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(column)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벡터로 정의된다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개의 랜덤변수를 고려한 경우를 이중 랜덤변수라고 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즉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표본 공간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S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에서 정의되는 두 개의 랜덤변수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X, Y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를 고려할 경우에 두 개의 랜덤 벡터는 각각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x, y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라는 값을 가지며 순서쌍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(x, y)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표현되는 새로운 표본 공간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이를 결합 표본공간이라고 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의 </a:t>
            </a:r>
            <a:r>
              <a:rPr kumimoji="0" lang="en-US" altLang="ko-KR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xy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평면상의 임의의 점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(random point)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에 대응될 것이다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누적분포함수와 확률밀도함수 개념은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'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결합 누적분포함수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(joint </a:t>
            </a:r>
            <a:r>
              <a:rPr kumimoji="0" lang="en-US" altLang="ko-KR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cdf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)'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'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결합 확률밀도함수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(joint pdf)'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로 확장된다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endParaRPr kumimoji="0" lang="ko-KR" altLang="en-US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68013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70489" y="164427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 랜덤변수 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ko-KR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478" y="1765651"/>
            <a:ext cx="5825872" cy="435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597544" y="5735448"/>
            <a:ext cx="873939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31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619996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 랜덤변수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2297858"/>
            <a:ext cx="498157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5777658"/>
            <a:ext cx="2667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355835" y="5777658"/>
            <a:ext cx="973404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4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8" name="내용 개체 틀 4"/>
          <p:cNvSpPr txBox="1">
            <a:spLocks/>
          </p:cNvSpPr>
          <p:nvPr/>
        </p:nvSpPr>
        <p:spPr bwMode="auto">
          <a:xfrm>
            <a:off x="628650" y="1660456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단일 랜덤변수의 누적 분포함수의 표현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X,Y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의 이중 벡터 랜덤변수의 누적 분포함수의 표현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랜덤 벡터                          가 주어질 경우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488" y="2128769"/>
            <a:ext cx="3054306" cy="447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782" y="4481624"/>
            <a:ext cx="3437736" cy="1778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108" y="3826558"/>
            <a:ext cx="19240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488" y="3072774"/>
            <a:ext cx="5877205" cy="447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86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8473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주변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(maginal)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랜덤벡터의 각 차원 성분에 대한 개별 확률밀도함수를 나타내는 용어다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주변 확률밀도함수는 무관한 변수에 대하여 적분하여 구할 수 있다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026168"/>
            <a:ext cx="3465512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94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92110" y="1749468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랜덤 벡터의 통계적 특징은 결합 누적밀도함수 혹은 결합 확률밀도함수를 이용하여 정의할 수 있다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랜덤 벡터를 스칼라 확률변수에서 정의한 것과 같은 방식으로 표현할 수 있다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288" y="2718924"/>
            <a:ext cx="6643645" cy="336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13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74946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공분산 행렬 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공분산 행렬은 랜덤 벡터에서 차원의 각 특징간의 관계를 나타낸다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공분산 행렬의 성질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2982954"/>
            <a:ext cx="5076825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3951329"/>
            <a:ext cx="5303837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314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84200" y="161190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공분산 행렬 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5" b="72479"/>
          <a:stretch>
            <a:fillRect/>
          </a:stretch>
        </p:blipFill>
        <p:spPr bwMode="auto">
          <a:xfrm>
            <a:off x="687388" y="2283415"/>
            <a:ext cx="8456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11"/>
          <a:stretch>
            <a:fillRect/>
          </a:stretch>
        </p:blipFill>
        <p:spPr bwMode="auto">
          <a:xfrm>
            <a:off x="628650" y="3343865"/>
            <a:ext cx="7947170" cy="2222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7337116" y="2222985"/>
            <a:ext cx="973404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87388" y="5377530"/>
            <a:ext cx="973404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3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9" name="내용 개체 틀 4"/>
          <p:cNvSpPr txBox="1">
            <a:spLocks/>
          </p:cNvSpPr>
          <p:nvPr/>
        </p:nvSpPr>
        <p:spPr bwMode="auto">
          <a:xfrm>
            <a:off x="628650" y="1911308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공분산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행렬의 표현들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2403433"/>
            <a:ext cx="5357812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2823488" y="4396841"/>
            <a:ext cx="3214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292929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여기서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, S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는 자기상관행렬</a:t>
            </a:r>
          </a:p>
        </p:txBody>
      </p:sp>
    </p:spTree>
    <p:extLst>
      <p:ext uri="{BB962C8B-B14F-4D97-AF65-F5344CB8AC3E}">
        <p14:creationId xmlns:p14="http://schemas.microsoft.com/office/powerpoint/2010/main" val="177363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28" y="2150486"/>
            <a:ext cx="6977063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41" y="3739574"/>
            <a:ext cx="7715250" cy="101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41" y="4801611"/>
            <a:ext cx="6472237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931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497660" y="1725192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단변량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</a:t>
            </a: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가우시안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확률밀도함수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확률분포함수 중에서 대표적으로 가장 많이 사용하는 분포가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가우시안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(Gaussian)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확률밀도함수다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1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차원의 특징 벡터일 경우에는 두 개의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파라미터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평균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μ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와 표준편차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σ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만 정해지면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가우시안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확률밀도함수는 다음과 같이 표현한다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266700" marR="0" lvl="0" indent="-2667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224" y="3830511"/>
            <a:ext cx="570230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909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30028" y="161190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다변량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</a:t>
            </a: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가우시안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확률밀도함수 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남자의 신장과 몸무게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이변량에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대한 확률밀도함수는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[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그림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4-9]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와 같은 종 모양의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3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 분포를 이루게 되는데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이를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가우시안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언덕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(Gaussian hill)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이라고 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152" y="2570121"/>
            <a:ext cx="4643438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502" y="5856246"/>
            <a:ext cx="25431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220194" y="5651832"/>
            <a:ext cx="1262793" cy="50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8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46212" y="163617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다변량 가우시안 확률밀도함수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가우시안 확률밀도함수의 변수는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그러므로 중심인 평균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μ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는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ℜ2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공간상의 점이 되고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σ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는 더 복잡하게 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선형 대수학에서 변수가 두 개인 이차 함수는 대칭행렬로 간단히 표현 할 수 있다고 배웠다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다음과 같이 주어진 함수가 있다고 하자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함수는 다음 행렬로 표현할 수 있다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012" y="3209391"/>
            <a:ext cx="16303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987" y="4400016"/>
            <a:ext cx="11350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375" y="5198795"/>
            <a:ext cx="3094038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921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67663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다변량 가우시안 확률밀도함수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일반적으로 변수가 두 개인 이차 함수는 행렬로는 다음과 같이 표현한다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일반 함수로는                                  으로 표현한다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400" y="2633901"/>
            <a:ext cx="35179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763" y="4138851"/>
            <a:ext cx="202088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977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62396" y="170900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다차원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다변량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)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가우시안 확률밀도함수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746" y="4222019"/>
            <a:ext cx="543877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46" y="2256694"/>
            <a:ext cx="8261350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238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73328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중심극한정리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428916"/>
            <a:ext cx="8260957" cy="17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4215029"/>
            <a:ext cx="8201025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064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21936" y="160381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완전 </a:t>
            </a: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공분산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</a:t>
            </a: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가우시안</a:t>
            </a: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형태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379" y="1782215"/>
            <a:ext cx="5022850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907" y="3663651"/>
            <a:ext cx="5764058" cy="254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60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38121" y="1587626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대각 공분산 가우시안 형태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315" y="1962929"/>
            <a:ext cx="5245100" cy="158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519" y="3485001"/>
            <a:ext cx="6497203" cy="2579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030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473384" y="165236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구형 공분산 가우시안 형태</a:t>
            </a: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39" y="2264418"/>
            <a:ext cx="5175617" cy="1453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405" y="3788802"/>
            <a:ext cx="5625189" cy="2460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23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449108" y="161999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확률밀도함수에 따른 데이터 생성과 확률밀도함수 컨투어 그리기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008245" y="2112021"/>
            <a:ext cx="7010962" cy="4093277"/>
            <a:chOff x="741208" y="2167682"/>
            <a:chExt cx="7621588" cy="458787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208" y="2872532"/>
              <a:ext cx="7620000" cy="388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208" y="2167682"/>
              <a:ext cx="7621588" cy="58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263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05752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확률밀도함수에 따른 데이터 생성과 확률밀도함수 컨투어 그리기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52" y="2168455"/>
            <a:ext cx="7621588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52" y="5284717"/>
            <a:ext cx="18669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96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473384" y="162808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확률밀도함수에 따른 데이터 생성과 확률밀도함수 컨투어 그리기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235" y="2038376"/>
            <a:ext cx="6072750" cy="423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055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05752" y="165236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확률밀도함수에 따른 데이터 생성과 확률밀도함수 컨투어 그리기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33" y="2143977"/>
            <a:ext cx="5514048" cy="398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475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확률과 통계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54304" y="163617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확률밀도함수에 따른 데이터 생성과 확률밀도함수 컨투어 그리기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421" y="2241494"/>
            <a:ext cx="5527025" cy="399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606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2888</TotalTime>
  <Words>1762</Words>
  <Application>Microsoft Office PowerPoint</Application>
  <PresentationFormat>화면 슬라이드 쇼(4:3)</PresentationFormat>
  <Paragraphs>352</Paragraphs>
  <Slides>72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72</vt:i4>
      </vt:variant>
    </vt:vector>
  </HeadingPairs>
  <TitlesOfParts>
    <vt:vector size="82" baseType="lpstr">
      <vt:lpstr>HY견고딕</vt:lpstr>
      <vt:lpstr>돋움</vt:lpstr>
      <vt:lpstr>맑은 고딕</vt:lpstr>
      <vt:lpstr>Arial</vt:lpstr>
      <vt:lpstr>Comic Sans MS</vt:lpstr>
      <vt:lpstr>Times New Roman</vt:lpstr>
      <vt:lpstr>Wingdings</vt:lpstr>
      <vt:lpstr>Office 테마</vt:lpstr>
      <vt:lpstr>Equation</vt:lpstr>
      <vt:lpstr>MathType 6.0 Equation</vt:lpstr>
      <vt:lpstr>확률 이론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  <vt:lpstr>확률과 통계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user</cp:lastModifiedBy>
  <cp:revision>409</cp:revision>
  <dcterms:created xsi:type="dcterms:W3CDTF">2016-09-05T08:32:33Z</dcterms:created>
  <dcterms:modified xsi:type="dcterms:W3CDTF">2018-08-07T00:48:05Z</dcterms:modified>
</cp:coreProperties>
</file>