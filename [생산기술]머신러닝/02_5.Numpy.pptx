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256" r:id="rId2"/>
    <p:sldId id="28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80" r:id="rId21"/>
    <p:sldId id="274" r:id="rId22"/>
    <p:sldId id="277" r:id="rId23"/>
    <p:sldId id="278" r:id="rId24"/>
    <p:sldId id="279" r:id="rId25"/>
    <p:sldId id="275" r:id="rId2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CC"/>
    <a:srgbClr val="FFCCFF"/>
    <a:srgbClr val="009900"/>
    <a:srgbClr val="33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5" autoAdjust="0"/>
    <p:restoredTop sz="94660"/>
  </p:normalViewPr>
  <p:slideViewPr>
    <p:cSldViewPr snapToGrid="0">
      <p:cViewPr varScale="1">
        <p:scale>
          <a:sx n="89" d="100"/>
          <a:sy n="89" d="100"/>
        </p:scale>
        <p:origin x="-922" y="-7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84027A-1E75-420D-87C7-AD2403D30044}" type="datetimeFigureOut">
              <a:rPr lang="ko-KR" altLang="en-US" smtClean="0"/>
              <a:t>2019-02-19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CD3FA8-EE82-4C17-8F23-37C62FB785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650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994484"/>
            <a:ext cx="6858000" cy="1263316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2019-02-19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5192" y="6081834"/>
            <a:ext cx="3188484" cy="890093"/>
          </a:xfrm>
          <a:prstGeom prst="rect">
            <a:avLst/>
          </a:prstGeom>
        </p:spPr>
      </p:pic>
      <p:cxnSp>
        <p:nvCxnSpPr>
          <p:cNvPr id="10" name="직선 연결선 9"/>
          <p:cNvCxnSpPr/>
          <p:nvPr userDrawn="1"/>
        </p:nvCxnSpPr>
        <p:spPr>
          <a:xfrm>
            <a:off x="0" y="365126"/>
            <a:ext cx="9144000" cy="0"/>
          </a:xfrm>
          <a:prstGeom prst="line">
            <a:avLst/>
          </a:prstGeom>
          <a:ln w="762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 userDrawn="1"/>
        </p:nvCxnSpPr>
        <p:spPr>
          <a:xfrm flipH="1">
            <a:off x="302294" y="0"/>
            <a:ext cx="10528" cy="685800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/>
          <p:cNvSpPr/>
          <p:nvPr userDrawn="1"/>
        </p:nvSpPr>
        <p:spPr>
          <a:xfrm>
            <a:off x="0" y="1442612"/>
            <a:ext cx="9144000" cy="975736"/>
          </a:xfrm>
          <a:prstGeom prst="rect">
            <a:avLst/>
          </a:prstGeom>
          <a:solidFill>
            <a:srgbClr val="92D050"/>
          </a:solidFill>
          <a:ln w="762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 userDrawn="1"/>
        </p:nvSpPr>
        <p:spPr>
          <a:xfrm>
            <a:off x="0" y="1600200"/>
            <a:ext cx="9144000" cy="1792705"/>
          </a:xfrm>
          <a:prstGeom prst="rect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4206" y="421418"/>
            <a:ext cx="2581295" cy="57308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6077"/>
            <a:ext cx="7772400" cy="1913885"/>
          </a:xfrm>
        </p:spPr>
        <p:txBody>
          <a:bodyPr anchor="ctr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4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4293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37318"/>
            <a:ext cx="7886700" cy="997999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2019-02-19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579BABCB-72A4-4245-AD44-8A2DEE65F6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3921" y="6329011"/>
            <a:ext cx="1922102" cy="536571"/>
          </a:xfrm>
          <a:prstGeom prst="rect">
            <a:avLst/>
          </a:prstGeom>
        </p:spPr>
      </p:pic>
      <p:cxnSp>
        <p:nvCxnSpPr>
          <p:cNvPr id="15" name="직선 연결선 14"/>
          <p:cNvCxnSpPr/>
          <p:nvPr userDrawn="1"/>
        </p:nvCxnSpPr>
        <p:spPr>
          <a:xfrm>
            <a:off x="0" y="365126"/>
            <a:ext cx="9144000" cy="0"/>
          </a:xfrm>
          <a:prstGeom prst="line">
            <a:avLst/>
          </a:prstGeom>
          <a:ln w="762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 userDrawn="1"/>
        </p:nvCxnSpPr>
        <p:spPr>
          <a:xfrm flipH="1">
            <a:off x="302294" y="0"/>
            <a:ext cx="10528" cy="685800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 userDrawn="1"/>
        </p:nvCxnSpPr>
        <p:spPr>
          <a:xfrm flipV="1">
            <a:off x="628650" y="466816"/>
            <a:ext cx="0" cy="904787"/>
          </a:xfrm>
          <a:prstGeom prst="line">
            <a:avLst/>
          </a:prstGeom>
          <a:ln w="1016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모서리가 둥근 직사각형 25"/>
          <p:cNvSpPr/>
          <p:nvPr userDrawn="1"/>
        </p:nvSpPr>
        <p:spPr>
          <a:xfrm>
            <a:off x="445168" y="1580147"/>
            <a:ext cx="8578516" cy="4740109"/>
          </a:xfrm>
          <a:prstGeom prst="roundRect">
            <a:avLst>
              <a:gd name="adj" fmla="val 7944"/>
            </a:avLst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14008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2019-02-19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3584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2019-02-19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44150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2019-02-19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17175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2019-02-19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2649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2019-02-19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2753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2019-02-19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2559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2019-02-19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9457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2019-02-19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7074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2019-02-19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1839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7E9D86-AD47-474D-8353-A659234A42A1}" type="datetimeFigureOut">
              <a:rPr lang="ko-KR" altLang="en-US" smtClean="0"/>
              <a:t>2019-02-19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3921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sz="4400" dirty="0" smtClean="0"/>
              <a:t>Python Computing Library</a:t>
            </a:r>
            <a:endParaRPr lang="ko-KR" altLang="en-US" sz="44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smtClean="0"/>
              <a:t>순천향대학교</a:t>
            </a:r>
            <a:endParaRPr lang="en-US" altLang="ko-KR" dirty="0" smtClean="0"/>
          </a:p>
          <a:p>
            <a:r>
              <a:rPr lang="ko-KR" altLang="en-US" dirty="0" smtClean="0"/>
              <a:t>박성근</a:t>
            </a:r>
            <a:r>
              <a:rPr lang="en-US" altLang="ko-KR" dirty="0" smtClean="0"/>
              <a:t>(keiny@sch.ac.kr)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5030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Machine Learning </a:t>
            </a:r>
            <a:r>
              <a:rPr lang="en-US" altLang="ko-KR" dirty="0" smtClean="0"/>
              <a:t>== Flow of Tensor</a:t>
            </a:r>
            <a:endParaRPr lang="ko-KR" altLang="en-US" dirty="0"/>
          </a:p>
        </p:txBody>
      </p:sp>
      <p:pic>
        <p:nvPicPr>
          <p:cNvPr id="3" name="tab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289" y="2487588"/>
            <a:ext cx="1728192" cy="1463040"/>
          </a:xfrm>
          <a:prstGeom prst="rect">
            <a:avLst/>
          </a:prstGeom>
        </p:spPr>
      </p:pic>
      <p:pic>
        <p:nvPicPr>
          <p:cNvPr id="4" name="tab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9495" y="2280666"/>
            <a:ext cx="1728192" cy="1463040"/>
          </a:xfrm>
          <a:prstGeom prst="rect">
            <a:avLst/>
          </a:prstGeom>
        </p:spPr>
      </p:pic>
      <p:pic>
        <p:nvPicPr>
          <p:cNvPr id="5" name="tab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1895" y="2433066"/>
            <a:ext cx="1728192" cy="1463040"/>
          </a:xfrm>
          <a:prstGeom prst="rect">
            <a:avLst/>
          </a:prstGeom>
        </p:spPr>
      </p:pic>
      <p:pic>
        <p:nvPicPr>
          <p:cNvPr id="6" name="tab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4295" y="2585466"/>
            <a:ext cx="1728192" cy="1463040"/>
          </a:xfrm>
          <a:prstGeom prst="rect">
            <a:avLst/>
          </a:prstGeom>
        </p:spPr>
      </p:pic>
      <p:grpSp>
        <p:nvGrpSpPr>
          <p:cNvPr id="7" name="그룹 6"/>
          <p:cNvGrpSpPr/>
          <p:nvPr/>
        </p:nvGrpSpPr>
        <p:grpSpPr>
          <a:xfrm>
            <a:off x="5541267" y="1604483"/>
            <a:ext cx="1029448" cy="684666"/>
            <a:chOff x="6154406" y="1662930"/>
            <a:chExt cx="1029448" cy="678328"/>
          </a:xfrm>
        </p:grpSpPr>
        <p:sp>
          <p:nvSpPr>
            <p:cNvPr id="23" name="TextBox 20"/>
            <p:cNvSpPr txBox="1"/>
            <p:nvPr/>
          </p:nvSpPr>
          <p:spPr>
            <a:xfrm>
              <a:off x="6154406" y="1662930"/>
              <a:ext cx="1029448" cy="36933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altLang="ko-KR" dirty="0" smtClean="0">
                  <a:solidFill>
                    <a:schemeClr val="bg1"/>
                  </a:solidFill>
                </a:rPr>
                <a:t>Channel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cxnSp>
          <p:nvCxnSpPr>
            <p:cNvPr id="24" name="Straight Arrow Connector 15"/>
            <p:cNvCxnSpPr>
              <a:stCxn id="23" idx="2"/>
            </p:cNvCxnSpPr>
            <p:nvPr/>
          </p:nvCxnSpPr>
          <p:spPr>
            <a:xfrm>
              <a:off x="6669130" y="2032262"/>
              <a:ext cx="207126" cy="308996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/>
          <p:cNvGrpSpPr/>
          <p:nvPr/>
        </p:nvGrpSpPr>
        <p:grpSpPr>
          <a:xfrm>
            <a:off x="1627006" y="4898355"/>
            <a:ext cx="2640027" cy="1185508"/>
            <a:chOff x="2458382" y="4876430"/>
            <a:chExt cx="2640027" cy="1185508"/>
          </a:xfrm>
        </p:grpSpPr>
        <p:sp>
          <p:nvSpPr>
            <p:cNvPr id="21" name="TextBox 25"/>
            <p:cNvSpPr txBox="1"/>
            <p:nvPr/>
          </p:nvSpPr>
          <p:spPr>
            <a:xfrm>
              <a:off x="3491815" y="5600273"/>
              <a:ext cx="1606594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e.g. grayscale image</a:t>
              </a:r>
              <a:br>
                <a:rPr lang="en-US" altLang="ko-KR" sz="1200" dirty="0" smtClean="0"/>
              </a:br>
              <a:r>
                <a:rPr lang="en-US" altLang="ko-KR" sz="1200" dirty="0" smtClean="0"/>
                <a:t>     (1-channel)</a:t>
              </a:r>
              <a:endParaRPr lang="ko-KR" altLang="en-US" sz="1200" dirty="0"/>
            </a:p>
          </p:txBody>
        </p:sp>
        <p:pic>
          <p:nvPicPr>
            <p:cNvPr id="22" name="Picture 8" descr="grayscale image rgb convert에 대한 이미지 검색결과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277" t="5038" r="3723" b="69196"/>
            <a:stretch/>
          </p:blipFill>
          <p:spPr bwMode="auto">
            <a:xfrm>
              <a:off x="2458382" y="4876430"/>
              <a:ext cx="1022757" cy="10192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" name="그룹 8"/>
          <p:cNvGrpSpPr/>
          <p:nvPr/>
        </p:nvGrpSpPr>
        <p:grpSpPr>
          <a:xfrm>
            <a:off x="5670570" y="4903860"/>
            <a:ext cx="2844780" cy="1279016"/>
            <a:chOff x="6107354" y="4876434"/>
            <a:chExt cx="2844780" cy="1279016"/>
          </a:xfrm>
        </p:grpSpPr>
        <p:grpSp>
          <p:nvGrpSpPr>
            <p:cNvPr id="16" name="그룹 15"/>
            <p:cNvGrpSpPr/>
            <p:nvPr/>
          </p:nvGrpSpPr>
          <p:grpSpPr>
            <a:xfrm>
              <a:off x="6107354" y="4876434"/>
              <a:ext cx="1222126" cy="1279016"/>
              <a:chOff x="3797670" y="-279798"/>
              <a:chExt cx="773959" cy="809988"/>
            </a:xfrm>
          </p:grpSpPr>
          <p:pic>
            <p:nvPicPr>
              <p:cNvPr id="18" name="Picture 8" descr="grayscale image rgb convert에 대한 이미지 검색결과"/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5638" t="5290" r="37362" b="68569"/>
              <a:stretch/>
            </p:blipFill>
            <p:spPr bwMode="auto">
              <a:xfrm>
                <a:off x="3797670" y="-279798"/>
                <a:ext cx="647700" cy="65484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9" name="Picture 8" descr="grayscale image rgb convert에 대한 이미지 검색결과"/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5709" t="38311" r="37291" b="36233"/>
              <a:stretch/>
            </p:blipFill>
            <p:spPr bwMode="auto">
              <a:xfrm>
                <a:off x="3860799" y="-200259"/>
                <a:ext cx="647701" cy="63768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" name="Picture 8" descr="grayscale image rgb convert에 대한 이미지 검색결과"/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5638" t="70651" r="37362" b="3583"/>
              <a:stretch/>
            </p:blipFill>
            <p:spPr bwMode="auto">
              <a:xfrm>
                <a:off x="3923928" y="-115268"/>
                <a:ext cx="647701" cy="64545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7" name="TextBox 34"/>
            <p:cNvSpPr txBox="1"/>
            <p:nvPr/>
          </p:nvSpPr>
          <p:spPr>
            <a:xfrm>
              <a:off x="7330502" y="5600273"/>
              <a:ext cx="1621632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e.g. </a:t>
              </a:r>
              <a:r>
                <a:rPr lang="en-US" altLang="ko-KR" sz="1200" dirty="0" err="1" smtClean="0"/>
                <a:t>rgb</a:t>
              </a:r>
              <a:r>
                <a:rPr lang="en-US" altLang="ko-KR" sz="1200" dirty="0" smtClean="0"/>
                <a:t> image</a:t>
              </a:r>
            </a:p>
            <a:p>
              <a:r>
                <a:rPr lang="en-US" altLang="ko-KR" sz="1200" dirty="0"/>
                <a:t> </a:t>
              </a:r>
              <a:r>
                <a:rPr lang="en-US" altLang="ko-KR" sz="1200" dirty="0" smtClean="0"/>
                <a:t>    (3-channels)</a:t>
              </a:r>
              <a:endParaRPr lang="ko-KR" altLang="en-US" sz="1200" dirty="0"/>
            </a:p>
          </p:txBody>
        </p:sp>
      </p:grpSp>
      <p:grpSp>
        <p:nvGrpSpPr>
          <p:cNvPr id="10" name="그룹 9"/>
          <p:cNvGrpSpPr/>
          <p:nvPr/>
        </p:nvGrpSpPr>
        <p:grpSpPr>
          <a:xfrm>
            <a:off x="4495256" y="4244934"/>
            <a:ext cx="3730034" cy="371095"/>
            <a:chOff x="4932040" y="3889634"/>
            <a:chExt cx="3730034" cy="371095"/>
          </a:xfrm>
        </p:grpSpPr>
        <p:sp>
          <p:nvSpPr>
            <p:cNvPr id="14" name="TextBox 35"/>
            <p:cNvSpPr txBox="1"/>
            <p:nvPr/>
          </p:nvSpPr>
          <p:spPr>
            <a:xfrm>
              <a:off x="5968708" y="3891397"/>
              <a:ext cx="2693366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altLang="ko-KR" dirty="0" smtClean="0"/>
                <a:t>(width</a:t>
              </a:r>
              <a:r>
                <a:rPr lang="en-US" altLang="ko-KR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×</a:t>
              </a:r>
              <a:r>
                <a:rPr lang="en-US" altLang="ko-KR" dirty="0" smtClean="0"/>
                <a:t>height</a:t>
              </a:r>
              <a:r>
                <a:rPr lang="en-US" altLang="ko-KR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×</a:t>
              </a:r>
              <a:r>
                <a:rPr lang="en-US" altLang="ko-KR" dirty="0" smtClean="0"/>
                <a:t>depth†</a:t>
              </a:r>
              <a:r>
                <a:rPr lang="en-US" altLang="ko-KR" baseline="30000" dirty="0" smtClean="0"/>
                <a:t>1</a:t>
              </a:r>
              <a:r>
                <a:rPr lang="en-US" altLang="ko-KR" dirty="0" smtClean="0"/>
                <a:t>)</a:t>
              </a:r>
              <a:endParaRPr lang="ko-KR" altLang="en-US" dirty="0"/>
            </a:p>
          </p:txBody>
        </p:sp>
        <p:sp>
          <p:nvSpPr>
            <p:cNvPr id="15" name="TextBox 19"/>
            <p:cNvSpPr txBox="1"/>
            <p:nvPr/>
          </p:nvSpPr>
          <p:spPr>
            <a:xfrm>
              <a:off x="4932040" y="3889634"/>
              <a:ext cx="857864" cy="36933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altLang="ko-KR" dirty="0" smtClean="0">
                  <a:solidFill>
                    <a:schemeClr val="bg1"/>
                  </a:solidFill>
                </a:rPr>
                <a:t>Tensor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1" name="그룹 10"/>
          <p:cNvGrpSpPr/>
          <p:nvPr/>
        </p:nvGrpSpPr>
        <p:grpSpPr>
          <a:xfrm>
            <a:off x="810494" y="4295822"/>
            <a:ext cx="2641205" cy="369332"/>
            <a:chOff x="1641870" y="3946023"/>
            <a:chExt cx="2641205" cy="369332"/>
          </a:xfrm>
        </p:grpSpPr>
        <p:sp>
          <p:nvSpPr>
            <p:cNvPr id="12" name="TextBox 24"/>
            <p:cNvSpPr txBox="1"/>
            <p:nvPr/>
          </p:nvSpPr>
          <p:spPr>
            <a:xfrm>
              <a:off x="2545099" y="3946023"/>
              <a:ext cx="1737976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altLang="ko-KR" dirty="0" smtClean="0"/>
                <a:t>(</a:t>
              </a:r>
              <a:r>
                <a:rPr lang="en-US" altLang="ko-KR" dirty="0" err="1" smtClean="0"/>
                <a:t>width</a:t>
              </a:r>
              <a:r>
                <a:rPr lang="en-US" altLang="ko-KR" dirty="0" err="1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×</a:t>
              </a:r>
              <a:r>
                <a:rPr lang="en-US" altLang="ko-KR" dirty="0" err="1" smtClean="0"/>
                <a:t>height</a:t>
              </a:r>
              <a:r>
                <a:rPr lang="en-US" altLang="ko-KR" dirty="0" smtClean="0"/>
                <a:t>)</a:t>
              </a:r>
              <a:endParaRPr lang="ko-KR" altLang="en-US" dirty="0"/>
            </a:p>
          </p:txBody>
        </p:sp>
        <p:sp>
          <p:nvSpPr>
            <p:cNvPr id="13" name="TextBox 18"/>
            <p:cNvSpPr txBox="1"/>
            <p:nvPr/>
          </p:nvSpPr>
          <p:spPr>
            <a:xfrm>
              <a:off x="1641870" y="3946023"/>
              <a:ext cx="841898" cy="36933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altLang="ko-KR" dirty="0" smtClean="0">
                  <a:solidFill>
                    <a:schemeClr val="bg1"/>
                  </a:solidFill>
                </a:rPr>
                <a:t>Matrix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38406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Numpy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561" y="1676919"/>
            <a:ext cx="6392877" cy="4580542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1658867" y="3277274"/>
            <a:ext cx="1869260" cy="2023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오른쪽 화살표 5"/>
          <p:cNvSpPr/>
          <p:nvPr/>
        </p:nvSpPr>
        <p:spPr>
          <a:xfrm>
            <a:off x="2419519" y="2755477"/>
            <a:ext cx="784927" cy="1537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3358194" y="2712792"/>
            <a:ext cx="19987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Anaconda</a:t>
            </a:r>
            <a:endParaRPr lang="ko-KR" altLang="en-US" sz="16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93633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Arrays in </a:t>
            </a:r>
            <a:r>
              <a:rPr lang="en-US" altLang="ko-KR" dirty="0" err="1" smtClean="0"/>
              <a:t>Numpy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229" y="2571033"/>
            <a:ext cx="4853276" cy="28910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2493" y="1958273"/>
            <a:ext cx="4620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Python List to </a:t>
            </a:r>
            <a:r>
              <a:rPr lang="en-US" altLang="ko-KR" sz="20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Numpy</a:t>
            </a:r>
            <a:r>
              <a:rPr lang="en-US" altLang="ko-KR" sz="20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Array</a:t>
            </a:r>
            <a:endParaRPr lang="ko-KR" altLang="en-US" sz="20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54258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Array Function in </a:t>
            </a:r>
            <a:r>
              <a:rPr lang="en-US" altLang="ko-KR" dirty="0" err="1" smtClean="0"/>
              <a:t>Numpy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762" y="1805661"/>
            <a:ext cx="5419725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984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Array </a:t>
            </a:r>
            <a:r>
              <a:rPr lang="en-US" altLang="ko-KR" dirty="0" smtClean="0"/>
              <a:t>Indexing in </a:t>
            </a:r>
            <a:r>
              <a:rPr lang="en-US" altLang="ko-KR" dirty="0" err="1"/>
              <a:t>Numpy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126" y="2126561"/>
            <a:ext cx="5143500" cy="40290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98217" y="1726451"/>
            <a:ext cx="4620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Slicing</a:t>
            </a:r>
            <a:endParaRPr lang="ko-KR" altLang="en-US" sz="20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14902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Array Indexing in </a:t>
            </a:r>
            <a:r>
              <a:rPr lang="en-US" altLang="ko-KR" dirty="0" err="1"/>
              <a:t>Numpy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94" y="1662333"/>
            <a:ext cx="6528375" cy="4555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609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Array Indexing in </a:t>
            </a:r>
            <a:r>
              <a:rPr lang="en-US" altLang="ko-KR" dirty="0" err="1"/>
              <a:t>Numpy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455" y="1995277"/>
            <a:ext cx="4953000" cy="367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3992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Array Indexing in </a:t>
            </a:r>
            <a:r>
              <a:rPr lang="en-US" altLang="ko-KR" dirty="0" err="1"/>
              <a:t>Numpy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872" y="1659294"/>
            <a:ext cx="4782393" cy="4527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3799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Array Indexing in </a:t>
            </a:r>
            <a:r>
              <a:rPr lang="en-US" altLang="ko-KR" dirty="0" err="1"/>
              <a:t>Numpy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856" y="1758542"/>
            <a:ext cx="5410200" cy="429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729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Datatype in </a:t>
            </a:r>
            <a:r>
              <a:rPr lang="en-US" altLang="ko-KR" dirty="0" err="1" smtClean="0"/>
              <a:t>Numpy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426" y="2713487"/>
            <a:ext cx="51149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629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Array Math in </a:t>
            </a:r>
            <a:r>
              <a:rPr lang="en-US" altLang="ko-KR" dirty="0" err="1" smtClean="0"/>
              <a:t>Numpy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r="1102" b="51858"/>
          <a:stretch/>
        </p:blipFill>
        <p:spPr>
          <a:xfrm>
            <a:off x="539638" y="2241492"/>
            <a:ext cx="4140680" cy="330155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l="638" t="50993"/>
          <a:stretch/>
        </p:blipFill>
        <p:spPr>
          <a:xfrm>
            <a:off x="4769330" y="2241492"/>
            <a:ext cx="4160072" cy="3360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7619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Array Math in </a:t>
            </a:r>
            <a:r>
              <a:rPr lang="en-US" altLang="ko-KR" dirty="0" err="1"/>
              <a:t>Numpy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537" y="1690435"/>
            <a:ext cx="4781550" cy="444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3317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Array Math in </a:t>
            </a:r>
            <a:r>
              <a:rPr lang="en-US" altLang="ko-KR" dirty="0" err="1" smtClean="0"/>
              <a:t>Numpy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148" y="1839715"/>
            <a:ext cx="5257800" cy="149542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148" y="3513165"/>
            <a:ext cx="4838700" cy="2543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390563" y="5801989"/>
            <a:ext cx="31073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※ </a:t>
            </a:r>
            <a:r>
              <a:rPr lang="en-US" altLang="ko-KR" sz="16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np.transpose</a:t>
            </a:r>
            <a:r>
              <a:rPr lang="en-US" altLang="ko-KR" sz="16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(v) ?</a:t>
            </a:r>
            <a:endParaRPr lang="ko-KR" altLang="en-US" sz="16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699059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Broadcasting </a:t>
            </a:r>
            <a:r>
              <a:rPr lang="en-US" altLang="ko-KR" dirty="0"/>
              <a:t>in </a:t>
            </a:r>
            <a:r>
              <a:rPr lang="en-US" altLang="ko-KR" dirty="0" err="1" smtClean="0"/>
              <a:t>Numpy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013" y="1963836"/>
            <a:ext cx="5419725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5251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8650" y="462256"/>
            <a:ext cx="7886700" cy="997999"/>
          </a:xfrm>
        </p:spPr>
        <p:txBody>
          <a:bodyPr/>
          <a:lstStyle/>
          <a:p>
            <a:r>
              <a:rPr lang="en-US" altLang="ko-KR" dirty="0"/>
              <a:t>Broadcasting in </a:t>
            </a:r>
            <a:r>
              <a:rPr lang="en-US" altLang="ko-KR" dirty="0" err="1"/>
              <a:t>Numpy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760" y="2183627"/>
            <a:ext cx="4400550" cy="240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9446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Broadcasting in </a:t>
            </a:r>
            <a:r>
              <a:rPr lang="en-US" altLang="ko-KR" dirty="0" err="1"/>
              <a:t>Numpy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779617" y="1744795"/>
            <a:ext cx="7584766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Broadcasting two arrays together follows these rules:</a:t>
            </a:r>
          </a:p>
          <a:p>
            <a:pPr>
              <a:buFont typeface="+mj-lt"/>
              <a:buAutoNum type="arabicPeriod"/>
            </a:pPr>
            <a:r>
              <a:rPr lang="en-US" altLang="ko-KR" sz="16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If the arrays do not have the same rank, prepend the shape of the lower rank array with 1s until both shapes have the same length.</a:t>
            </a:r>
          </a:p>
          <a:p>
            <a:pPr>
              <a:buFont typeface="+mj-lt"/>
              <a:buAutoNum type="arabicPeriod"/>
            </a:pPr>
            <a:r>
              <a:rPr lang="en-US" altLang="ko-KR" sz="16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The two arrays are said to be compatible in a dimension if they have the same size in the dimension, or if one of the arrays has size 1 in that dimension.</a:t>
            </a:r>
          </a:p>
          <a:p>
            <a:pPr>
              <a:buFont typeface="+mj-lt"/>
              <a:buAutoNum type="arabicPeriod"/>
            </a:pPr>
            <a:r>
              <a:rPr lang="en-US" altLang="ko-KR" sz="16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The arrays can be broadcast together if they are compatible in all dimensions.</a:t>
            </a:r>
          </a:p>
          <a:p>
            <a:pPr>
              <a:buFont typeface="+mj-lt"/>
              <a:buAutoNum type="arabicPeriod"/>
            </a:pPr>
            <a:r>
              <a:rPr lang="en-US" altLang="ko-KR" sz="16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After broadcasting, each array behaves as if it had shape equal to the elementwise maximum of shapes of the two input arrays.</a:t>
            </a:r>
          </a:p>
          <a:p>
            <a:pPr>
              <a:buFont typeface="+mj-lt"/>
              <a:buAutoNum type="arabicPeriod"/>
            </a:pPr>
            <a:r>
              <a:rPr lang="en-US" altLang="ko-KR" sz="16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In any dimension where one array had size 1 and the other array had size greater than 1, the first array behaves as if it were copied along that dimension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779616" y="5128844"/>
            <a:ext cx="71020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https://docs.scipy.org/doc/numpy/user/basics.broadcasting.html</a:t>
            </a:r>
          </a:p>
        </p:txBody>
      </p:sp>
    </p:spTree>
    <p:extLst>
      <p:ext uri="{BB962C8B-B14F-4D97-AF65-F5344CB8AC3E}">
        <p14:creationId xmlns:p14="http://schemas.microsoft.com/office/powerpoint/2010/main" val="32703198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8650" y="478881"/>
            <a:ext cx="7886700" cy="997999"/>
          </a:xfrm>
        </p:spPr>
        <p:txBody>
          <a:bodyPr/>
          <a:lstStyle/>
          <a:p>
            <a:r>
              <a:rPr lang="en-US" altLang="ko-KR" dirty="0"/>
              <a:t>Broadcasting in </a:t>
            </a:r>
            <a:r>
              <a:rPr lang="en-US" altLang="ko-KR" dirty="0" err="1"/>
              <a:t>Numpy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l="1" r="646" b="51681"/>
          <a:stretch/>
        </p:blipFill>
        <p:spPr>
          <a:xfrm>
            <a:off x="503959" y="2264152"/>
            <a:ext cx="4212755" cy="331368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l="-255" t="50258"/>
          <a:stretch/>
        </p:blipFill>
        <p:spPr>
          <a:xfrm>
            <a:off x="4716714" y="2215342"/>
            <a:ext cx="4250941" cy="341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4295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err="1" smtClean="0"/>
              <a:t>Scipy</a:t>
            </a:r>
            <a:r>
              <a:rPr lang="en-US" altLang="ko-KR" dirty="0" smtClean="0"/>
              <a:t> - </a:t>
            </a:r>
            <a:r>
              <a:rPr lang="en-US" altLang="ko-KR" dirty="0" err="1" smtClean="0"/>
              <a:t>SCIentific</a:t>
            </a:r>
            <a:r>
              <a:rPr lang="en-US" altLang="ko-KR" dirty="0" smtClean="0"/>
              <a:t> </a:t>
            </a:r>
            <a:r>
              <a:rPr lang="en-US" altLang="ko-KR" dirty="0"/>
              <a:t>computing and technical </a:t>
            </a:r>
            <a:r>
              <a:rPr lang="en-US" altLang="ko-KR" dirty="0" smtClean="0"/>
              <a:t>computing Python library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019" y="1829463"/>
            <a:ext cx="7792630" cy="4359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0465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Image </a:t>
            </a:r>
            <a:r>
              <a:rPr lang="en-US" altLang="ko-KR" dirty="0" smtClean="0"/>
              <a:t>Read &amp; Write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948" y="1842834"/>
            <a:ext cx="5210175" cy="414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9323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Image </a:t>
            </a:r>
            <a:r>
              <a:rPr lang="en-US" altLang="ko-KR" dirty="0" err="1" smtClean="0"/>
              <a:t>Read&amp;Write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143" y="1873053"/>
            <a:ext cx="5778912" cy="3937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5805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Matplotlib</a:t>
            </a:r>
            <a:r>
              <a:rPr lang="en-US" altLang="ko-KR" dirty="0" smtClean="0"/>
              <a:t> - Plot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07" y="1814301"/>
            <a:ext cx="4629150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813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Matplotlib</a:t>
            </a:r>
            <a:r>
              <a:rPr lang="en-US" altLang="ko-KR" dirty="0"/>
              <a:t> </a:t>
            </a:r>
            <a:r>
              <a:rPr lang="en-US" altLang="ko-KR" dirty="0" smtClean="0"/>
              <a:t>– Multi-plot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063" y="1939644"/>
            <a:ext cx="5381625" cy="344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0489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Matplotlib</a:t>
            </a:r>
            <a:r>
              <a:rPr lang="en-US" altLang="ko-KR" dirty="0"/>
              <a:t> </a:t>
            </a:r>
            <a:r>
              <a:rPr lang="en-US" altLang="ko-KR" dirty="0" smtClean="0"/>
              <a:t>- subplot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489" y="1625107"/>
            <a:ext cx="5238750" cy="488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592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Matplotlib</a:t>
            </a:r>
            <a:r>
              <a:rPr lang="en-US" altLang="ko-KR" dirty="0" smtClean="0"/>
              <a:t> </a:t>
            </a:r>
            <a:r>
              <a:rPr lang="en-US" altLang="ko-KR" smtClean="0"/>
              <a:t>- subplot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125" y="1804313"/>
            <a:ext cx="4914900" cy="401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371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2715</TotalTime>
  <Words>174</Words>
  <Application>Microsoft Office PowerPoint</Application>
  <PresentationFormat>화면 슬라이드 쇼(4:3)</PresentationFormat>
  <Paragraphs>46</Paragraphs>
  <Slides>25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26" baseType="lpstr">
      <vt:lpstr>Office 테마</vt:lpstr>
      <vt:lpstr>Python Computing Library</vt:lpstr>
      <vt:lpstr>Machine Learning == Flow of Tensor</vt:lpstr>
      <vt:lpstr>Numpy</vt:lpstr>
      <vt:lpstr>Arrays in Numpy</vt:lpstr>
      <vt:lpstr>Array Function in Numpy</vt:lpstr>
      <vt:lpstr>Array Indexing in Numpy</vt:lpstr>
      <vt:lpstr>Array Indexing in Numpy</vt:lpstr>
      <vt:lpstr>Array Indexing in Numpy</vt:lpstr>
      <vt:lpstr>Array Indexing in Numpy</vt:lpstr>
      <vt:lpstr>Array Indexing in Numpy</vt:lpstr>
      <vt:lpstr>Datatype in Numpy</vt:lpstr>
      <vt:lpstr>Array Math in Numpy</vt:lpstr>
      <vt:lpstr>Array Math in Numpy</vt:lpstr>
      <vt:lpstr>Array Math in Numpy</vt:lpstr>
      <vt:lpstr>Broadcasting in Numpy</vt:lpstr>
      <vt:lpstr>Broadcasting in Numpy</vt:lpstr>
      <vt:lpstr>Broadcasting in Numpy</vt:lpstr>
      <vt:lpstr>Broadcasting in Numpy</vt:lpstr>
      <vt:lpstr>Scipy - SCIentific computing and technical computing Python library</vt:lpstr>
      <vt:lpstr>Image Read &amp; Write</vt:lpstr>
      <vt:lpstr>Image Read&amp;Write</vt:lpstr>
      <vt:lpstr>Matplotlib - Plot</vt:lpstr>
      <vt:lpstr>Matplotlib – Multi-plot</vt:lpstr>
      <vt:lpstr>Matplotlib - subplot</vt:lpstr>
      <vt:lpstr>Matplotlib - subplot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Seongkeun Park</dc:creator>
  <cp:lastModifiedBy>Windows 사용자</cp:lastModifiedBy>
  <cp:revision>491</cp:revision>
  <dcterms:created xsi:type="dcterms:W3CDTF">2016-09-05T08:32:33Z</dcterms:created>
  <dcterms:modified xsi:type="dcterms:W3CDTF">2019-02-18T23:36:16Z</dcterms:modified>
</cp:coreProperties>
</file>