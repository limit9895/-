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303" r:id="rId4"/>
    <p:sldId id="306" r:id="rId5"/>
    <p:sldId id="307" r:id="rId6"/>
    <p:sldId id="305" r:id="rId7"/>
    <p:sldId id="258" r:id="rId8"/>
    <p:sldId id="313" r:id="rId9"/>
    <p:sldId id="308" r:id="rId10"/>
    <p:sldId id="304" r:id="rId11"/>
    <p:sldId id="259" r:id="rId12"/>
    <p:sldId id="260" r:id="rId13"/>
    <p:sldId id="261" r:id="rId14"/>
    <p:sldId id="262" r:id="rId15"/>
    <p:sldId id="264" r:id="rId16"/>
    <p:sldId id="309" r:id="rId17"/>
    <p:sldId id="311" r:id="rId18"/>
    <p:sldId id="312" r:id="rId19"/>
    <p:sldId id="265" r:id="rId20"/>
    <p:sldId id="315" r:id="rId21"/>
    <p:sldId id="314" r:id="rId22"/>
    <p:sldId id="317" r:id="rId23"/>
    <p:sldId id="266" r:id="rId24"/>
    <p:sldId id="316" r:id="rId25"/>
    <p:sldId id="267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5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03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4027A-1E75-420D-87C7-AD2403D30044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D3FA8-EE82-4C17-8F23-37C62FB78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50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94484"/>
            <a:ext cx="6858000" cy="1263316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192" y="6081834"/>
            <a:ext cx="3188484" cy="890093"/>
          </a:xfrm>
          <a:prstGeom prst="rect">
            <a:avLst/>
          </a:prstGeom>
        </p:spPr>
      </p:pic>
      <p:cxnSp>
        <p:nvCxnSpPr>
          <p:cNvPr id="10" name="직선 연결선 9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 userDrawn="1"/>
        </p:nvSpPr>
        <p:spPr>
          <a:xfrm>
            <a:off x="0" y="1442612"/>
            <a:ext cx="9144000" cy="975736"/>
          </a:xfrm>
          <a:prstGeom prst="rect">
            <a:avLst/>
          </a:prstGeom>
          <a:solidFill>
            <a:srgbClr val="92D050"/>
          </a:solidFill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 userDrawn="1"/>
        </p:nvSpPr>
        <p:spPr>
          <a:xfrm>
            <a:off x="0" y="1600200"/>
            <a:ext cx="9144000" cy="1792705"/>
          </a:xfrm>
          <a:prstGeom prst="rect">
            <a:avLst/>
          </a:prstGeom>
          <a:solidFill>
            <a:srgbClr val="00B050"/>
          </a:solidFill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206" y="421418"/>
            <a:ext cx="2581295" cy="57308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6077"/>
            <a:ext cx="7772400" cy="1913885"/>
          </a:xfrm>
        </p:spPr>
        <p:txBody>
          <a:bodyPr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4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93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7318"/>
            <a:ext cx="7886700" cy="99799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579BABCB-72A4-4245-AD44-8A2DEE65F6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1" y="6329011"/>
            <a:ext cx="1922102" cy="536571"/>
          </a:xfrm>
          <a:prstGeom prst="rect">
            <a:avLst/>
          </a:prstGeom>
        </p:spPr>
      </p:pic>
      <p:cxnSp>
        <p:nvCxnSpPr>
          <p:cNvPr id="15" name="직선 연결선 14"/>
          <p:cNvCxnSpPr/>
          <p:nvPr userDrawn="1"/>
        </p:nvCxnSpPr>
        <p:spPr>
          <a:xfrm>
            <a:off x="0" y="365126"/>
            <a:ext cx="9144000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 flipH="1">
            <a:off x="302294" y="0"/>
            <a:ext cx="10528" cy="6858000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V="1">
            <a:off x="628650" y="466816"/>
            <a:ext cx="0" cy="904787"/>
          </a:xfrm>
          <a:prstGeom prst="line">
            <a:avLst/>
          </a:prstGeom>
          <a:ln w="1016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 userDrawn="1"/>
        </p:nvSpPr>
        <p:spPr>
          <a:xfrm>
            <a:off x="445168" y="1580147"/>
            <a:ext cx="8578516" cy="4740109"/>
          </a:xfrm>
          <a:prstGeom prst="roundRect">
            <a:avLst>
              <a:gd name="adj" fmla="val 794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400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358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415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75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64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753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5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4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07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83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E9D86-AD47-474D-8353-A659234A42A1}" type="datetimeFigureOut">
              <a:rPr lang="ko-KR" altLang="en-US" smtClean="0"/>
              <a:t>2018-10-24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48D2D-4EDD-4709-942E-43A31633F2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92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Principle Component Analysis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순천향대학교</a:t>
            </a:r>
            <a:endParaRPr lang="en-US" altLang="ko-KR" dirty="0" smtClean="0"/>
          </a:p>
          <a:p>
            <a:r>
              <a:rPr lang="ko-KR" altLang="en-US" dirty="0" smtClean="0"/>
              <a:t>박성근</a:t>
            </a:r>
            <a:r>
              <a:rPr lang="en-US" altLang="ko-KR" dirty="0" smtClean="0"/>
              <a:t>(keiny@sch.ac.kr)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503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차원의 저주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65150" y="169282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벡터의 차원이 높아짐에 따라 생길 수 있는 문제점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특징이 많으면 잡음 특징들까지 포함되므로 오히려 분류에 상처를 줄 뿐이다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특징이 많으면 패턴 분류기에 의한 학습과 인식 속도가 느려진다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특징이 많으면 모델링에 필요한 학습 집합의 크기가 커진다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180975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None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6" name="Picture 2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05" b="3139"/>
          <a:stretch/>
        </p:blipFill>
        <p:spPr bwMode="auto">
          <a:xfrm>
            <a:off x="1891008" y="3414052"/>
            <a:ext cx="5577941" cy="2574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266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차원의 저주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65150" y="169282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벡터의 차원이 높아짐에 따라 생길 수 있는 문제점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주성분 분석법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(Principle</a:t>
            </a:r>
            <a:r>
              <a:rPr kumimoji="0" lang="en-US" altLang="ko-KR" sz="1700" b="0" i="0" u="none" strike="noStrike" kern="0" cap="none" spc="0" normalizeH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Component Analysis)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은 고차원 특징 벡터를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저차원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특징 벡터로 축소하는 특징 벡터의 차원 축소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(dimension reduction)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뿐만 아니라 데이터 시각화 그리고 특징 추출에도 유용하게 사용되는 데이터 처리 기법 중의 하나임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399465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벡터의 사상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34" y="2474814"/>
            <a:ext cx="60007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5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사상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372" y="2223033"/>
            <a:ext cx="7479978" cy="331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42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사상</a:t>
            </a:r>
          </a:p>
        </p:txBody>
      </p:sp>
      <p:pic>
        <p:nvPicPr>
          <p:cNvPr id="3074" name="Picture 2" descr="https://t1.daumcdn.net/cfile/tistory/221AEE4455C56E832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14"/>
          <a:stretch/>
        </p:blipFill>
        <p:spPr bwMode="auto">
          <a:xfrm>
            <a:off x="2704566" y="3855054"/>
            <a:ext cx="4276725" cy="1833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3705"/>
          <a:stretch/>
        </p:blipFill>
        <p:spPr>
          <a:xfrm>
            <a:off x="549408" y="2144389"/>
            <a:ext cx="8344279" cy="731234"/>
          </a:xfrm>
          <a:prstGeom prst="rect">
            <a:avLst/>
          </a:prstGeom>
        </p:spPr>
      </p:pic>
      <p:sp>
        <p:nvSpPr>
          <p:cNvPr id="3" name="아래쪽 화살표 2"/>
          <p:cNvSpPr/>
          <p:nvPr/>
        </p:nvSpPr>
        <p:spPr>
          <a:xfrm>
            <a:off x="3309642" y="3055270"/>
            <a:ext cx="574535" cy="620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8779" y="3220630"/>
            <a:ext cx="171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Sparse matrix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191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Principle Component Analysis</a:t>
            </a:r>
            <a:endParaRPr lang="ko-KR" altLang="en-US" dirty="0"/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505752" y="170091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데이터 시각화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데이터가 고차원일 경우에는 논문 등에 직접 그 데이터의 분포 형태를 표시할 수가 없다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이와같이 고차원 데이터의 분포를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 혹은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3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 공간상으로 시각화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(data visualization)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하고자 할 때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PCA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가 사용된다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예를 들어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차원으로 축소하려면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PCA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통하여 처음 두 개의 주축을 구한다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그리고 이 주축으로 차원을 축소하고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주축을 기준으로 추정된 데이터의 분포를 나타낼 수 있다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특징 추출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고차원 데이터 집합에 대한 견고한 분류기를 설계하려는 데 필요한 데이터를 충분히 많이 확보하고 있지 않을 경우가 있다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이런 경우에는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PCA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사용하여 차원을 축소시켜 분류기를 설계 하면 확보한 적은 양의 표본으로도 충분히 정확한 데이터의 분포를 표현하고 분류할 수 있다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18083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7" name="내용 개체 틀 4"/>
          <p:cNvSpPr txBox="1">
            <a:spLocks/>
          </p:cNvSpPr>
          <p:nvPr/>
        </p:nvSpPr>
        <p:spPr bwMode="auto">
          <a:xfrm>
            <a:off x="562396" y="166045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19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고유값과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고유벡터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고유값과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고유벡터의 개념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</a:t>
            </a:r>
            <a:r>
              <a:rPr kumimoji="0" lang="en-US" altLang="ko-KR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n×n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정방 행렬이고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x≠0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벡터 </a:t>
            </a:r>
            <a:r>
              <a:rPr kumimoji="0" lang="en-US" altLang="ko-KR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x ∈ </a:t>
            </a:r>
            <a:r>
              <a:rPr kumimoji="0" lang="en-US" altLang="ko-KR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R</a:t>
            </a:r>
            <a:r>
              <a:rPr kumimoji="0" lang="en-US" altLang="ko-KR" sz="1600" b="0" i="1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n</a:t>
            </a:r>
            <a:r>
              <a:rPr kumimoji="0" lang="en-US" altLang="ko-KR" sz="16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가 존재할 때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다음 관계를 만족하는 스칼라 </a:t>
            </a:r>
            <a:r>
              <a:rPr kumimoji="0" lang="el-GR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λ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를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의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고유값이라고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벡터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x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는 </a:t>
            </a:r>
            <a:r>
              <a:rPr kumimoji="0" lang="el-GR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λ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에 대응하는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008080"/>
                </a:solidFill>
                <a:effectLst/>
                <a:uLnTx/>
                <a:uFillTx/>
                <a:latin typeface="Times New Roman" pitchFamily="18" charset="0"/>
                <a:ea typeface="맑은 고딕" pitchFamily="50" charset="-127"/>
              </a:rPr>
              <a:t>의 고유 벡터라고 함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Times New Roman" pitchFamily="18" charset="0"/>
              <a:ea typeface="맑은 고딕" pitchFamily="50" charset="-127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고유값의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계산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</p:txBody>
      </p:sp>
      <p:graphicFrame>
        <p:nvGraphicFramePr>
          <p:cNvPr id="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107849"/>
              </p:ext>
            </p:extLst>
          </p:nvPr>
        </p:nvGraphicFramePr>
        <p:xfrm>
          <a:off x="5686671" y="3452031"/>
          <a:ext cx="8921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Equation" r:id="rId3" imgW="545760" imgH="177480" progId="Equation.DSMT4">
                  <p:embed/>
                </p:oleObj>
              </mc:Choice>
              <mc:Fallback>
                <p:oleObj name="Equation" r:id="rId3" imgW="5457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6671" y="3452031"/>
                        <a:ext cx="8921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927669"/>
              </p:ext>
            </p:extLst>
          </p:nvPr>
        </p:nvGraphicFramePr>
        <p:xfrm>
          <a:off x="1858407" y="4802500"/>
          <a:ext cx="5776913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Equation" r:id="rId5" imgW="4127400" imgH="203040" progId="Equation.DSMT4">
                  <p:embed/>
                </p:oleObj>
              </mc:Choice>
              <mc:Fallback>
                <p:oleObj name="Equation" r:id="rId5" imgW="4127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407" y="4802500"/>
                        <a:ext cx="5776913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755039"/>
              </p:ext>
            </p:extLst>
          </p:nvPr>
        </p:nvGraphicFramePr>
        <p:xfrm>
          <a:off x="1858407" y="5199231"/>
          <a:ext cx="527208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7" imgW="3759120" imgH="253800" progId="Equation.DSMT4">
                  <p:embed/>
                </p:oleObj>
              </mc:Choice>
              <mc:Fallback>
                <p:oleObj name="Equation" r:id="rId7" imgW="37591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407" y="5199231"/>
                        <a:ext cx="527208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523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벡터의 사상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27" y="1789816"/>
            <a:ext cx="2948694" cy="160884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614" y="3528129"/>
            <a:ext cx="5603340" cy="2731525"/>
          </a:xfrm>
          <a:prstGeom prst="rect">
            <a:avLst/>
          </a:prstGeom>
        </p:spPr>
      </p:pic>
      <p:sp>
        <p:nvSpPr>
          <p:cNvPr id="5" name="굽은 화살표 4"/>
          <p:cNvSpPr/>
          <p:nvPr/>
        </p:nvSpPr>
        <p:spPr>
          <a:xfrm rot="5400000">
            <a:off x="3997465" y="2350738"/>
            <a:ext cx="793020" cy="63927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488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19" name="내용 개체 틀 4"/>
          <p:cNvSpPr txBox="1">
            <a:spLocks/>
          </p:cNvSpPr>
          <p:nvPr/>
        </p:nvSpPr>
        <p:spPr bwMode="auto">
          <a:xfrm>
            <a:off x="546213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 벡터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1076325" marR="0" lvl="3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008080"/>
              </a:solidFill>
              <a:effectLst/>
              <a:uLnTx/>
              <a:uFillTx/>
              <a:latin typeface="Comic Sans MS" pitchFamily="66" charset="0"/>
              <a:ea typeface="맑은 고딕" pitchFamily="50" charset="-127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graphicFrame>
        <p:nvGraphicFramePr>
          <p:cNvPr id="2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276926"/>
              </p:ext>
            </p:extLst>
          </p:nvPr>
        </p:nvGraphicFramePr>
        <p:xfrm>
          <a:off x="3004344" y="2528058"/>
          <a:ext cx="2149475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Equation" r:id="rId3" imgW="1218960" imgH="457200" progId="Equation.3">
                  <p:embed/>
                </p:oleObj>
              </mc:Choice>
              <mc:Fallback>
                <p:oleObj name="Equation" r:id="rId3" imgW="12189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344" y="2528058"/>
                        <a:ext cx="2149475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229365"/>
              </p:ext>
            </p:extLst>
          </p:nvPr>
        </p:nvGraphicFramePr>
        <p:xfrm>
          <a:off x="3004344" y="3431346"/>
          <a:ext cx="31353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Equation" r:id="rId5" imgW="1815840" imgH="457200" progId="Equation.3">
                  <p:embed/>
                </p:oleObj>
              </mc:Choice>
              <mc:Fallback>
                <p:oleObj name="Equation" r:id="rId5" imgW="18158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4344" y="3431346"/>
                        <a:ext cx="3135312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24"/>
          <p:cNvSpPr txBox="1">
            <a:spLocks noChangeArrowheads="1"/>
          </p:cNvSpPr>
          <p:nvPr/>
        </p:nvSpPr>
        <p:spPr bwMode="auto">
          <a:xfrm>
            <a:off x="1627981" y="2794758"/>
            <a:ext cx="1003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spcBef>
                <a:spcPct val="50000"/>
              </a:spcBef>
              <a:defRPr/>
            </a:pPr>
            <a:r>
              <a:rPr lang="ko-KR" altLang="en-US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1 :</a:t>
            </a:r>
          </a:p>
        </p:txBody>
      </p:sp>
      <p:sp>
        <p:nvSpPr>
          <p:cNvPr id="23" name="Text Box 25"/>
          <p:cNvSpPr txBox="1">
            <a:spLocks noChangeArrowheads="1"/>
          </p:cNvSpPr>
          <p:nvPr/>
        </p:nvSpPr>
        <p:spPr bwMode="auto">
          <a:xfrm>
            <a:off x="1627981" y="3644071"/>
            <a:ext cx="7921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atinLnBrk="0">
              <a:spcBef>
                <a:spcPct val="50000"/>
              </a:spcBef>
              <a:defRPr/>
            </a:pPr>
            <a:r>
              <a:rPr lang="ko-KR" altLang="en-US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예</a:t>
            </a:r>
            <a:r>
              <a:rPr lang="en-US" altLang="ko-KR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2 :</a:t>
            </a:r>
          </a:p>
        </p:txBody>
      </p:sp>
      <p:sp>
        <p:nvSpPr>
          <p:cNvPr id="24" name="AutoShape 26"/>
          <p:cNvSpPr>
            <a:spLocks noChangeArrowheads="1"/>
          </p:cNvSpPr>
          <p:nvPr/>
        </p:nvSpPr>
        <p:spPr bwMode="auto">
          <a:xfrm>
            <a:off x="2780506" y="4440996"/>
            <a:ext cx="1073150" cy="319087"/>
          </a:xfrm>
          <a:prstGeom prst="roundRect">
            <a:avLst>
              <a:gd name="adj" fmla="val 16667"/>
            </a:avLst>
          </a:prstGeom>
          <a:solidFill>
            <a:srgbClr val="CCCCFF">
              <a:alpha val="4196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변환행렬</a:t>
            </a:r>
          </a:p>
        </p:txBody>
      </p:sp>
      <p:sp>
        <p:nvSpPr>
          <p:cNvPr id="25" name="AutoShape 27"/>
          <p:cNvSpPr>
            <a:spLocks noChangeArrowheads="1"/>
          </p:cNvSpPr>
          <p:nvPr/>
        </p:nvSpPr>
        <p:spPr bwMode="auto">
          <a:xfrm>
            <a:off x="4453731" y="4440996"/>
            <a:ext cx="1135063" cy="319087"/>
          </a:xfrm>
          <a:prstGeom prst="roundRect">
            <a:avLst>
              <a:gd name="adj" fmla="val 16667"/>
            </a:avLst>
          </a:prstGeom>
          <a:solidFill>
            <a:srgbClr val="CCCCFF">
              <a:alpha val="4196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고유벡터</a:t>
            </a:r>
          </a:p>
        </p:txBody>
      </p:sp>
      <p:sp>
        <p:nvSpPr>
          <p:cNvPr id="26" name="AutoShape 28"/>
          <p:cNvSpPr>
            <a:spLocks noChangeArrowheads="1"/>
          </p:cNvSpPr>
          <p:nvPr/>
        </p:nvSpPr>
        <p:spPr bwMode="auto">
          <a:xfrm>
            <a:off x="5299869" y="2847146"/>
            <a:ext cx="1236662" cy="319087"/>
          </a:xfrm>
          <a:prstGeom prst="roundRect">
            <a:avLst>
              <a:gd name="adj" fmla="val 16667"/>
            </a:avLst>
          </a:prstGeom>
          <a:solidFill>
            <a:srgbClr val="CCCCFF">
              <a:alpha val="41960"/>
            </a:srgb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kern="0">
                <a:solidFill>
                  <a:sysClr val="windowText" lastClr="000000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고유값</a:t>
            </a:r>
          </a:p>
        </p:txBody>
      </p:sp>
      <p:sp>
        <p:nvSpPr>
          <p:cNvPr id="27" name="Line 29"/>
          <p:cNvSpPr>
            <a:spLocks noChangeShapeType="1"/>
          </p:cNvSpPr>
          <p:nvPr/>
        </p:nvSpPr>
        <p:spPr bwMode="auto">
          <a:xfrm flipV="1">
            <a:off x="4153694" y="4228271"/>
            <a:ext cx="1587" cy="373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8" name="Line 30"/>
          <p:cNvSpPr>
            <a:spLocks noChangeShapeType="1"/>
          </p:cNvSpPr>
          <p:nvPr/>
        </p:nvSpPr>
        <p:spPr bwMode="auto">
          <a:xfrm flipV="1">
            <a:off x="5904706" y="4228271"/>
            <a:ext cx="1588" cy="373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9" name="Line 31"/>
          <p:cNvSpPr>
            <a:spLocks noChangeShapeType="1"/>
          </p:cNvSpPr>
          <p:nvPr/>
        </p:nvSpPr>
        <p:spPr bwMode="auto">
          <a:xfrm>
            <a:off x="4153694" y="4601333"/>
            <a:ext cx="250825" cy="15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0" name="Line 32"/>
          <p:cNvSpPr>
            <a:spLocks noChangeShapeType="1"/>
          </p:cNvSpPr>
          <p:nvPr/>
        </p:nvSpPr>
        <p:spPr bwMode="auto">
          <a:xfrm flipV="1">
            <a:off x="5588794" y="4601333"/>
            <a:ext cx="315912" cy="1428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1" name="Line 33"/>
          <p:cNvSpPr>
            <a:spLocks noChangeShapeType="1"/>
          </p:cNvSpPr>
          <p:nvPr/>
        </p:nvSpPr>
        <p:spPr bwMode="auto">
          <a:xfrm flipV="1">
            <a:off x="3353594" y="4229858"/>
            <a:ext cx="1587" cy="2111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32" name="Line 34"/>
          <p:cNvSpPr>
            <a:spLocks noChangeShapeType="1"/>
          </p:cNvSpPr>
          <p:nvPr/>
        </p:nvSpPr>
        <p:spPr bwMode="auto">
          <a:xfrm flipH="1">
            <a:off x="5553869" y="3218621"/>
            <a:ext cx="249237" cy="3714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latinLnBrk="0">
              <a:defRPr/>
            </a:pPr>
            <a:endParaRPr lang="ko-KR" altLang="en-US" kern="0">
              <a:solidFill>
                <a:sysClr val="windowText" lastClr="000000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5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19" name="내용 개체 틀 4"/>
          <p:cNvSpPr txBox="1">
            <a:spLocks/>
          </p:cNvSpPr>
          <p:nvPr/>
        </p:nvSpPr>
        <p:spPr bwMode="auto">
          <a:xfrm>
            <a:off x="546213" y="165236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 벡터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고유벡터는 정방행렬에서만 찾을 수 있다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고유벡터에 대한 스케일 처리는 고유벡터에 방향에 영향을 미치지 않는다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고유벡터들은 서로 직교한다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 </a:t>
            </a:r>
            <a:r>
              <a:rPr kumimoji="0" lang="en-US" altLang="ko-KR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  <a:sym typeface="Wingdings" panose="05000000000000000000" pitchFamily="2" charset="2"/>
              </a:rPr>
              <a:t>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기저 벡터로 이용할 수 있다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고유벡터는 그 크기가 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되도록 정규화하여 이용한다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graphicFrame>
        <p:nvGraphicFramePr>
          <p:cNvPr id="3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01733"/>
              </p:ext>
            </p:extLst>
          </p:nvPr>
        </p:nvGraphicFramePr>
        <p:xfrm>
          <a:off x="3538370" y="2841765"/>
          <a:ext cx="126206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Equation" r:id="rId3" imgW="838080" imgH="457200" progId="Equation.3">
                  <p:embed/>
                </p:oleObj>
              </mc:Choice>
              <mc:Fallback>
                <p:oleObj name="Equation" r:id="rId3" imgW="8380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8370" y="2841765"/>
                        <a:ext cx="1262062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323842"/>
              </p:ext>
            </p:extLst>
          </p:nvPr>
        </p:nvGraphicFramePr>
        <p:xfrm>
          <a:off x="3024020" y="3579953"/>
          <a:ext cx="266382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Equation" r:id="rId5" imgW="1828800" imgH="457200" progId="Equation.3">
                  <p:embed/>
                </p:oleObj>
              </mc:Choice>
              <mc:Fallback>
                <p:oleObj name="Equation" r:id="rId5" imgW="1828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020" y="3579953"/>
                        <a:ext cx="266382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963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62396" y="157953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</a:t>
            </a:r>
            <a:endParaRPr kumimoji="0" lang="en-US" altLang="ko-KR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고유값과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고유벡터는 항상 쌍을 이룬다</a:t>
            </a: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3 × 3 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정방행렬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3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개의 </a:t>
            </a:r>
            <a:r>
              <a:rPr kumimoji="0" lang="ko-KR" altLang="en-US" sz="17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열벡터를</a:t>
            </a:r>
            <a:r>
              <a:rPr kumimoji="0" lang="ko-KR" altLang="en-US" sz="17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 가정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825" y="3061206"/>
            <a:ext cx="1704975" cy="97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825" y="5010389"/>
            <a:ext cx="3244850" cy="115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3548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05752" y="158762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02" b="3266"/>
          <a:stretch/>
        </p:blipFill>
        <p:spPr bwMode="auto">
          <a:xfrm>
            <a:off x="1801264" y="1882214"/>
            <a:ext cx="5839118" cy="4178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766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59571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고유값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" r="11811" b="7921"/>
          <a:stretch/>
        </p:blipFill>
        <p:spPr bwMode="auto">
          <a:xfrm>
            <a:off x="997708" y="2120113"/>
            <a:ext cx="5629669" cy="406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2578156" y="2120113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333918" y="4667538"/>
            <a:ext cx="2484255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4" r="39452" b="79019"/>
          <a:stretch/>
        </p:blipFill>
        <p:spPr bwMode="auto">
          <a:xfrm>
            <a:off x="4380881" y="5085581"/>
            <a:ext cx="3616037" cy="942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3553597" y="5450094"/>
            <a:ext cx="517890" cy="178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46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4" name="내용 개체 틀 4"/>
          <p:cNvSpPr txBox="1">
            <a:spLocks/>
          </p:cNvSpPr>
          <p:nvPr/>
        </p:nvSpPr>
        <p:spPr bwMode="auto">
          <a:xfrm>
            <a:off x="441016" y="168473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통계학의 다변량 분석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(multivariate analysis)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에서는 각 차원 간에 상관이 있는 변량 데이터를 다룬다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주성분 분석법은 다차원 특징 벡터로 이루어진 데이터에 대하여 고차원의 정보를 유지하면서 저차원으로 차원을 축소하는 다변량 데이터 처리 방법 중의 하나다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 데이터는 특징 벡터 차원의 수만큼 존재하는 기준 축을 기준으로 표현되며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2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 데이터는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2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개의 기준 축을 기준으로 표현된다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결국 차원을 축소한다는 의미는 이 기준 축의 개수를 줄이는 것으로 생각할 수 있다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10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 데이터를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4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차원으로 축소하려면 기준 축을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10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개에서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4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개로 축소하면 된다는 이야기다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따라서 다변량 데이터의 주성분에 해당하는 주축을 통계적인 방법으로 구하고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이렇게 해서 얻은 특징 벡터 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x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를 주축 방향으로 사영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(projection)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시킴으로써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	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차원을 축소할 수 있는 것이다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사영은 행렬의 내적을 이용해 쉽게 구할 수 있다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700" b="0" i="0" u="none" strike="noStrike" kern="0" cap="none" spc="0" normalizeH="0" baseline="0" noProof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주성분 분석은 상관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(correlated)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이 있는 변량들의 변동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분산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)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을 줄이는 차원에서 상관이 없는 변량의 집합으로 기준 축을 변환하여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,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특징 벡터를 재배치하는 것을 말한다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</a:t>
            </a:r>
            <a:endParaRPr kumimoji="0" lang="en-US" altLang="ko-KR" sz="17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Comic Sans MS" pitchFamily="66" charset="0"/>
              <a:ea typeface="HY견고딕"/>
            </a:endParaRPr>
          </a:p>
        </p:txBody>
      </p:sp>
    </p:spTree>
    <p:extLst>
      <p:ext uri="{BB962C8B-B14F-4D97-AF65-F5344CB8AC3E}">
        <p14:creationId xmlns:p14="http://schemas.microsoft.com/office/powerpoint/2010/main" val="385721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92" y="2662280"/>
            <a:ext cx="4029693" cy="272225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334" y="2443449"/>
            <a:ext cx="4181854" cy="2941084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4149260" y="3853473"/>
            <a:ext cx="914400" cy="3398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92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71" y="2476581"/>
            <a:ext cx="4238078" cy="301196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233" y="3089395"/>
            <a:ext cx="1991526" cy="1786338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161451" y="3884177"/>
            <a:ext cx="906308" cy="4207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87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594" y="2033587"/>
            <a:ext cx="4474812" cy="374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71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3" name="Picture 5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1"/>
          <a:stretch/>
        </p:blipFill>
        <p:spPr bwMode="auto">
          <a:xfrm>
            <a:off x="1745181" y="1747439"/>
            <a:ext cx="5199359" cy="4377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9645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30028" y="165236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19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Times New Roman" pitchFamily="18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Times New Roman" pitchFamily="18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Times New Roman" pitchFamily="18" charset="0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SVD : </a:t>
            </a:r>
            <a:r>
              <a:rPr kumimoji="0" lang="ko-KR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특이 값 재구성</a:t>
            </a:r>
            <a:endParaRPr kumimoji="0" lang="en-US" altLang="ko-KR" sz="19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어떤 </a:t>
            </a:r>
            <a:r>
              <a:rPr kumimoji="0" lang="en-US" altLang="ko-KR" sz="15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n×m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행렬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A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는 다음과 같은 형태의 세 가지 행렬의 곱으로 재구성할 수 있다</a:t>
            </a: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500" b="0" i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latin typeface="Times New Roman" pitchFamily="18" charset="0"/>
              <a:ea typeface="HY견고딕"/>
            </a:endParaRP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U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는 좌측 특이 벡터를 이루는 열로 구성되며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en-US" altLang="ko-KR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V</a:t>
            </a:r>
            <a:r>
              <a:rPr kumimoji="0" lang="en-US" altLang="ko-KR" sz="1400" b="0" i="0" u="none" strike="noStrike" kern="0" cap="none" spc="0" normalizeH="0" baseline="3000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  <a:cs typeface="Times New Roman" panose="02020603050405020304" pitchFamily="18" charset="0"/>
              </a:rPr>
              <a:t>T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는 우측 특이 벡터를 이루는 행으로 구성된다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marL="714375" marR="0" lvl="2" indent="-17145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Σ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은 </a:t>
            </a:r>
            <a:r>
              <a:rPr kumimoji="0" lang="en-US" altLang="ko-KR" sz="1500" b="0" i="1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n×m</a:t>
            </a:r>
            <a:r>
              <a:rPr kumimoji="0" lang="en-US" altLang="ko-KR" sz="1500" b="0" i="1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인 대각행렬로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대각성분은 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0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아닌 양수로 구성되며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, 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이 대각성분을 </a:t>
            </a:r>
            <a:r>
              <a:rPr kumimoji="0" lang="ko-KR" altLang="en-US" sz="15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특이값이라고</a:t>
            </a:r>
            <a:r>
              <a:rPr kumimoji="0" lang="ko-KR" altLang="en-US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 한다</a:t>
            </a:r>
            <a:r>
              <a:rPr kumimoji="0" lang="en-US" altLang="ko-KR" sz="15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Times New Roman" pitchFamily="18" charset="0"/>
                <a:ea typeface="HY견고딕"/>
              </a:rPr>
              <a:t>.</a:t>
            </a:r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kern="0" dirty="0">
                <a:ea typeface="HY견고딕"/>
              </a:rPr>
              <a:t> </a:t>
            </a:r>
            <a:r>
              <a:rPr lang="en-US" altLang="ko-KR" kern="0" dirty="0" smtClean="0">
                <a:ea typeface="HY견고딕"/>
              </a:rPr>
              <a:t>A</a:t>
            </a:r>
            <a:r>
              <a:rPr lang="ko-KR" altLang="en-US" kern="0" dirty="0" smtClean="0">
                <a:ea typeface="HY견고딕"/>
              </a:rPr>
              <a:t>가 </a:t>
            </a:r>
            <a:r>
              <a:rPr lang="en-US" altLang="ko-KR" i="1" kern="0" dirty="0" smtClean="0">
                <a:ea typeface="HY견고딕"/>
              </a:rPr>
              <a:t>n× n </a:t>
            </a:r>
            <a:r>
              <a:rPr lang="ko-KR" altLang="en-US" kern="0" dirty="0" err="1" smtClean="0">
                <a:ea typeface="HY견고딕"/>
              </a:rPr>
              <a:t>일때</a:t>
            </a:r>
            <a:r>
              <a:rPr lang="ko-KR" altLang="en-US" kern="0" dirty="0" smtClean="0">
                <a:ea typeface="HY견고딕"/>
              </a:rPr>
              <a:t> </a:t>
            </a:r>
            <a:r>
              <a:rPr lang="en-US" altLang="ko-KR" kern="0" dirty="0" smtClean="0">
                <a:ea typeface="HY견고딕"/>
              </a:rPr>
              <a:t>U, V</a:t>
            </a:r>
            <a:r>
              <a:rPr lang="ko-KR" altLang="en-US" kern="0" dirty="0" smtClean="0">
                <a:ea typeface="HY견고딕"/>
              </a:rPr>
              <a:t>는 </a:t>
            </a:r>
            <a:r>
              <a:rPr lang="en-US" altLang="ko-KR" kern="0" dirty="0" smtClean="0">
                <a:ea typeface="HY견고딕"/>
              </a:rPr>
              <a:t>A</a:t>
            </a:r>
            <a:r>
              <a:rPr lang="ko-KR" altLang="en-US" kern="0" dirty="0" smtClean="0">
                <a:ea typeface="HY견고딕"/>
              </a:rPr>
              <a:t>의 고유 벡터를 행으로 갖는 행렬로</a:t>
            </a:r>
            <a:r>
              <a:rPr lang="en-US" altLang="ko-KR" kern="0" dirty="0" smtClean="0">
                <a:ea typeface="HY견고딕"/>
              </a:rPr>
              <a:t>,  Σ</a:t>
            </a:r>
            <a:r>
              <a:rPr lang="ko-KR" altLang="en-US" kern="0" dirty="0" smtClean="0">
                <a:ea typeface="HY견고딕"/>
              </a:rPr>
              <a:t>는 고유치를 대각 성분으로 갖는 행렬로 표현될 수 있음</a:t>
            </a:r>
            <a:endParaRPr kumimoji="0" lang="en-US" altLang="ko-KR" sz="1500" b="0" u="none" strike="noStrike" kern="0" cap="none" spc="0" normalizeH="0" baseline="0" noProof="0" dirty="0" smtClean="0">
              <a:ln>
                <a:noFill/>
              </a:ln>
              <a:solidFill>
                <a:srgbClr val="333300"/>
              </a:solidFill>
              <a:effectLst/>
              <a:uLnTx/>
              <a:uFillTx/>
              <a:ea typeface="HY견고딕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0" y="2960270"/>
            <a:ext cx="260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54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4098" name="Picture 2" descr="https://t1.daumcdn.net/cfile/tistory/2725C84C5260AA5F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14" y="2542224"/>
            <a:ext cx="7689436" cy="141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5914" y="4157319"/>
            <a:ext cx="724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           : </a:t>
            </a:r>
            <a:r>
              <a:rPr lang="ko-KR" altLang="en-US" dirty="0" smtClean="0"/>
              <a:t>회전 변환</a:t>
            </a:r>
            <a:r>
              <a:rPr lang="en-US" altLang="ko-KR" dirty="0" smtClean="0"/>
              <a:t>(</a:t>
            </a:r>
            <a:r>
              <a:rPr lang="ko-KR" altLang="en-US" dirty="0" smtClean="0"/>
              <a:t>고유벡터일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고유벡터엔 영향 없음</a:t>
            </a:r>
            <a:r>
              <a:rPr lang="en-US" altLang="ko-KR" dirty="0" smtClean="0"/>
              <a:t>)   </a:t>
            </a:r>
            <a:endParaRPr lang="ko-KR" alt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760" y="2061916"/>
            <a:ext cx="260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96" t="2078" r="47089" b="8572"/>
          <a:stretch/>
        </p:blipFill>
        <p:spPr bwMode="auto">
          <a:xfrm>
            <a:off x="1271849" y="5048012"/>
            <a:ext cx="523701" cy="357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5914" y="4590320"/>
            <a:ext cx="724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           : Scaling(</a:t>
            </a:r>
            <a:r>
              <a:rPr lang="ko-KR" altLang="en-US" dirty="0" smtClean="0"/>
              <a:t>고유 벡터 방향의 분산을 넓혀줌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25914" y="5003832"/>
            <a:ext cx="7245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           : </a:t>
            </a:r>
            <a:r>
              <a:rPr lang="ko-KR" altLang="en-US" dirty="0"/>
              <a:t>회전 변환</a:t>
            </a:r>
            <a:r>
              <a:rPr lang="en-US" altLang="ko-KR" dirty="0"/>
              <a:t>(</a:t>
            </a:r>
            <a:r>
              <a:rPr lang="ko-KR" altLang="en-US" dirty="0"/>
              <a:t>고유벡터일 경우</a:t>
            </a:r>
            <a:r>
              <a:rPr lang="en-US" altLang="ko-KR" dirty="0"/>
              <a:t>, </a:t>
            </a:r>
            <a:r>
              <a:rPr lang="ko-KR" altLang="en-US" dirty="0"/>
              <a:t>고유벡터엔 영향 없음</a:t>
            </a:r>
            <a:r>
              <a:rPr lang="en-US" altLang="ko-KR" dirty="0"/>
              <a:t>)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11" t="3808" r="26016" b="4764"/>
          <a:stretch/>
        </p:blipFill>
        <p:spPr bwMode="auto">
          <a:xfrm>
            <a:off x="1271849" y="4638072"/>
            <a:ext cx="548641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84" t="5452"/>
          <a:stretch/>
        </p:blipFill>
        <p:spPr bwMode="auto">
          <a:xfrm>
            <a:off x="1271849" y="4206507"/>
            <a:ext cx="677322" cy="37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226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29" y="2548992"/>
            <a:ext cx="4029693" cy="2722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2775568"/>
            <a:ext cx="42321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/>
              <a:t>※ </a:t>
            </a:r>
            <a:r>
              <a:rPr lang="ko-KR" altLang="en-US" sz="2000" dirty="0" smtClean="0"/>
              <a:t>데이터의 분포 정도를 나타내는 변수는</a:t>
            </a:r>
            <a:r>
              <a:rPr lang="en-US" altLang="ko-KR" sz="2000" dirty="0" smtClean="0"/>
              <a:t>?</a:t>
            </a:r>
          </a:p>
          <a:p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ko-KR" altLang="en-US" sz="2000" dirty="0" smtClean="0">
                <a:sym typeface="Wingdings" panose="05000000000000000000" pitchFamily="2" charset="2"/>
              </a:rPr>
              <a:t>분산</a:t>
            </a:r>
            <a:endParaRPr lang="en-US" altLang="ko-KR" sz="2000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sz="2000" dirty="0" smtClean="0">
                <a:sym typeface="Wingdings" panose="05000000000000000000" pitchFamily="2" charset="2"/>
              </a:rPr>
              <a:t>PCA</a:t>
            </a:r>
            <a:r>
              <a:rPr lang="ko-KR" altLang="en-US" sz="2000" dirty="0" smtClean="0">
                <a:sym typeface="Wingdings" panose="05000000000000000000" pitchFamily="2" charset="2"/>
              </a:rPr>
              <a:t>는 분산을 기반으로 주축을 분석하여 필요한 축을 추출하여 사용함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838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3" name="Picture 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628" y="1739788"/>
            <a:ext cx="4705792" cy="4517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457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pic>
        <p:nvPicPr>
          <p:cNvPr id="5122" name="Picture 2" descr="https://t1.daumcdn.net/cfile/tistory/2777A333526623231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079" y="1672510"/>
            <a:ext cx="3241071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t1.daumcdn.net/cfile/tistory/2332E333526628B9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830" y="1672510"/>
            <a:ext cx="324107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t1.daumcdn.net/cfile/tistory/2742B835526629113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41" y="3948798"/>
            <a:ext cx="324107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s://t1.daumcdn.net/cfile/tistory/262FD83752662949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830" y="3948798"/>
            <a:ext cx="3241070" cy="19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055377" y="3615988"/>
            <a:ext cx="1424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원본 이미지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116111" y="3615988"/>
            <a:ext cx="30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SVD = 100</a:t>
            </a:r>
            <a:r>
              <a:rPr lang="ko-KR" altLang="en-US" dirty="0" smtClean="0"/>
              <a:t>개 추출 이미지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357361" y="5928798"/>
            <a:ext cx="30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SVD = 50</a:t>
            </a:r>
            <a:r>
              <a:rPr lang="ko-KR" altLang="en-US" dirty="0" smtClean="0"/>
              <a:t>개 추출 이미지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116111" y="5928798"/>
            <a:ext cx="305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SVD = 20</a:t>
            </a:r>
            <a:r>
              <a:rPr lang="ko-KR" altLang="en-US" dirty="0" smtClean="0"/>
              <a:t>개 추출 이미지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623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381000" y="230200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361950" marR="0" lvl="1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다음과 같은 비선형인 멀티 모달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(multimodal) </a:t>
            </a:r>
            <a:r>
              <a:rPr kumimoji="0" lang="ko-KR" altLang="en-US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패턴에는 적용하기가 곤란하다</a:t>
            </a:r>
            <a:r>
              <a:rPr kumimoji="0" lang="en-US" altLang="ko-KR" sz="1700" b="0" i="0" u="none" strike="noStrike" kern="0" cap="none" spc="0" normalizeH="0" baseline="0" noProof="0" smtClean="0">
                <a:ln>
                  <a:noFill/>
                </a:ln>
                <a:solidFill>
                  <a:srgbClr val="333300"/>
                </a:solidFill>
                <a:effectLst/>
                <a:uLnTx/>
                <a:uFillTx/>
                <a:latin typeface="Comic Sans MS" pitchFamily="66" charset="0"/>
                <a:ea typeface="HY견고딕"/>
              </a:rPr>
              <a:t>. </a:t>
            </a:r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57"/>
          <a:stretch/>
        </p:blipFill>
        <p:spPr bwMode="auto">
          <a:xfrm>
            <a:off x="1143000" y="2593779"/>
            <a:ext cx="7069138" cy="1913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181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709008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PCA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를 이용한 얼굴 인식 방법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, MATLAB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실습에서 이를 직접 구현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09"/>
          <a:stretch/>
        </p:blipFill>
        <p:spPr bwMode="auto">
          <a:xfrm>
            <a:off x="2449218" y="2217668"/>
            <a:ext cx="4550393" cy="395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4623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19995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1: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인식후보 얼굴 벡터 집합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(S )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의 구성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113" b="1098"/>
          <a:stretch/>
        </p:blipFill>
        <p:spPr bwMode="auto">
          <a:xfrm>
            <a:off x="2838339" y="2209126"/>
            <a:ext cx="3704592" cy="3940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259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0381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2: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이미지 정규화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0" r="46094"/>
          <a:stretch/>
        </p:blipFill>
        <p:spPr bwMode="auto">
          <a:xfrm>
            <a:off x="2806081" y="2176759"/>
            <a:ext cx="4169253" cy="3919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504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628650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3: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평균 얼굴 벡터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(Ψ )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계산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4" b="75290"/>
          <a:stretch/>
        </p:blipFill>
        <p:spPr bwMode="auto">
          <a:xfrm>
            <a:off x="924627" y="3188262"/>
            <a:ext cx="4236012" cy="942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64" r="50446"/>
          <a:stretch/>
        </p:blipFill>
        <p:spPr bwMode="auto">
          <a:xfrm>
            <a:off x="4310552" y="2394737"/>
            <a:ext cx="2714896" cy="3471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647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432924" y="180611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4: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각 인식후보 얼굴 벡터와 평균 얼굴 벡터의 차 벡터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(Φ</a:t>
            </a:r>
            <a:r>
              <a:rPr kumimoji="0" lang="en-US" altLang="ko-KR" sz="2000" b="0" i="0" u="none" strike="noStrike" kern="0" cap="none" spc="0" normalizeH="0" baseline="-2500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i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)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계산</a:t>
            </a: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altLang="ko-KR" sz="20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5: N</a:t>
            </a:r>
            <a:r>
              <a:rPr kumimoji="0" lang="en-US" altLang="ko-KR" sz="2000" b="0" i="0" u="none" strike="noStrike" kern="0" cap="none" spc="0" normalizeH="0" baseline="3000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2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 ×1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벡터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Φ</a:t>
            </a:r>
            <a:r>
              <a:rPr kumimoji="0" lang="en-US" altLang="ko-KR" sz="2000" b="0" i="0" u="none" strike="noStrike" kern="0" cap="none" spc="0" normalizeH="0" baseline="-2500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i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에서 공분산 행렬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(C)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계산</a:t>
            </a:r>
          </a:p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874" y="2385548"/>
            <a:ext cx="164306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799" y="4341348"/>
            <a:ext cx="2682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7086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46213" y="1563351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6: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공분산 행렬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(C)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의 고유값 계산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282" b="160"/>
          <a:stretch/>
        </p:blipFill>
        <p:spPr bwMode="auto">
          <a:xfrm>
            <a:off x="2365235" y="2225309"/>
            <a:ext cx="4218769" cy="3908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30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628650" y="1733284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7: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주성분 선택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23846"/>
            <a:ext cx="4208463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660026"/>
            <a:ext cx="8267700" cy="225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898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62396" y="1595720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7: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주성분 선택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421" y="2264015"/>
            <a:ext cx="6787245" cy="376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6858843" y="3204446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166340" y="4349469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028775" y="5753100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2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54304" y="167663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7: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주성분 선택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04" y="2233851"/>
            <a:ext cx="7559675" cy="140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04" y="3635614"/>
            <a:ext cx="7559675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124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5" name="내용 개체 틀 4"/>
          <p:cNvSpPr txBox="1">
            <a:spLocks/>
          </p:cNvSpPr>
          <p:nvPr/>
        </p:nvSpPr>
        <p:spPr bwMode="auto">
          <a:xfrm>
            <a:off x="562396" y="1692823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8: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얼굴 인식 단계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089" y="2165125"/>
            <a:ext cx="6447695" cy="4043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7279628" y="4206292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7366281" y="5915256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8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513845" y="1668547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8: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얼굴 인식 단계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395" y="2270209"/>
            <a:ext cx="7559675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45" y="4537159"/>
            <a:ext cx="7559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7415129" y="3321134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37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Principle Component Analysis</a:t>
            </a:r>
            <a:endParaRPr lang="ko-KR" altLang="en-US" dirty="0"/>
          </a:p>
        </p:txBody>
      </p:sp>
      <p:sp>
        <p:nvSpPr>
          <p:cNvPr id="6" name="내용 개체 틀 4"/>
          <p:cNvSpPr txBox="1">
            <a:spLocks/>
          </p:cNvSpPr>
          <p:nvPr/>
        </p:nvSpPr>
        <p:spPr bwMode="auto">
          <a:xfrm>
            <a:off x="966787" y="1636179"/>
            <a:ext cx="8382000" cy="556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  <a:defRPr sz="2000" baseline="0">
                <a:solidFill>
                  <a:schemeClr val="tx1"/>
                </a:solidFill>
                <a:latin typeface="Comic Sans MS" pitchFamily="66" charset="0"/>
                <a:ea typeface="+mn-ea"/>
                <a:cs typeface="+mn-cs"/>
              </a:defRPr>
            </a:lvl1pPr>
            <a:lvl2pPr marL="361950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66633"/>
              </a:buClr>
              <a:buFont typeface="Wingdings" panose="05000000000000000000" pitchFamily="2" charset="2"/>
              <a:buChar char="§"/>
              <a:defRPr sz="17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2pPr>
            <a:lvl3pPr marL="714375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 sz="1500" baseline="0">
                <a:solidFill>
                  <a:srgbClr val="333300"/>
                </a:solidFill>
                <a:latin typeface="Comic Sans MS" pitchFamily="66" charset="0"/>
                <a:ea typeface="+mn-ea"/>
              </a:defRPr>
            </a:lvl3pPr>
            <a:lvl4pPr marL="107632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  <a:buFont typeface="Wingdings" panose="05000000000000000000" pitchFamily="2" charset="2"/>
              <a:buChar char="Ø"/>
              <a:defRPr sz="1500" baseline="0">
                <a:solidFill>
                  <a:schemeClr val="folHlink"/>
                </a:solidFill>
                <a:latin typeface="Comic Sans MS" pitchFamily="66" charset="0"/>
                <a:ea typeface="맑은 고딕" pitchFamily="50" charset="-127"/>
              </a:defRPr>
            </a:lvl4pPr>
            <a:lvl5pPr marL="1438275" indent="-180975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8368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32940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7512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4208463" indent="-3048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marL="266700" marR="0" lvl="0" indent="-2667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단계 </a:t>
            </a:r>
            <a:r>
              <a:rPr kumimoji="0" lang="en-US" altLang="ko-KR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8: </a:t>
            </a:r>
            <a:r>
              <a:rPr kumimoji="0" lang="ko-KR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Comic Sans MS" pitchFamily="66" charset="0"/>
                <a:ea typeface="HY견고딕"/>
                <a:cs typeface="+mn-cs"/>
              </a:rPr>
              <a:t>얼굴 인식 단계</a:t>
            </a:r>
            <a:endParaRPr kumimoji="0" lang="ko-KR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Comic Sans MS" pitchFamily="66" charset="0"/>
              <a:ea typeface="HY견고딕"/>
              <a:cs typeface="+mn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03" r="42563"/>
          <a:stretch/>
        </p:blipFill>
        <p:spPr bwMode="auto">
          <a:xfrm>
            <a:off x="2062681" y="2826054"/>
            <a:ext cx="3997297" cy="305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399"/>
          <a:stretch>
            <a:fillRect/>
          </a:stretch>
        </p:blipFill>
        <p:spPr bwMode="auto">
          <a:xfrm>
            <a:off x="509587" y="2167991"/>
            <a:ext cx="8474075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직사각형 8"/>
          <p:cNvSpPr/>
          <p:nvPr/>
        </p:nvSpPr>
        <p:spPr>
          <a:xfrm>
            <a:off x="7834593" y="2219765"/>
            <a:ext cx="1149069" cy="2670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99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2141</TotalTime>
  <Words>824</Words>
  <Application>Microsoft Office PowerPoint</Application>
  <PresentationFormat>화면 슬라이드 쇼(4:3)</PresentationFormat>
  <Paragraphs>144</Paragraphs>
  <Slides>37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6" baseType="lpstr">
      <vt:lpstr>HY견고딕</vt:lpstr>
      <vt:lpstr>돋움</vt:lpstr>
      <vt:lpstr>맑은 고딕</vt:lpstr>
      <vt:lpstr>Arial</vt:lpstr>
      <vt:lpstr>Comic Sans MS</vt:lpstr>
      <vt:lpstr>Times New Roman</vt:lpstr>
      <vt:lpstr>Wingdings</vt:lpstr>
      <vt:lpstr>Office 테마</vt:lpstr>
      <vt:lpstr>Equation</vt:lpstr>
      <vt:lpstr>Principle Component Analysis</vt:lpstr>
      <vt:lpstr>차원의 저주</vt:lpstr>
      <vt:lpstr>차원의 저주</vt:lpstr>
      <vt:lpstr>벡터의 사상</vt:lpstr>
      <vt:lpstr>벡터의 사상</vt:lpstr>
      <vt:lpstr>벡터의 사상</vt:lpstr>
      <vt:lpstr>Principle Component Analysis</vt:lpstr>
      <vt:lpstr>Principle Component Analysis</vt:lpstr>
      <vt:lpstr>벡터의 사상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  <vt:lpstr>Principle Component Analysis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Seongkeun Park</dc:creator>
  <cp:lastModifiedBy>user</cp:lastModifiedBy>
  <cp:revision>387</cp:revision>
  <dcterms:created xsi:type="dcterms:W3CDTF">2016-09-05T08:32:33Z</dcterms:created>
  <dcterms:modified xsi:type="dcterms:W3CDTF">2018-10-24T01:26:45Z</dcterms:modified>
</cp:coreProperties>
</file>