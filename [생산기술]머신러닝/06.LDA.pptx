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73" r:id="rId8"/>
    <p:sldId id="267" r:id="rId9"/>
    <p:sldId id="262" r:id="rId10"/>
    <p:sldId id="268" r:id="rId11"/>
    <p:sldId id="263" r:id="rId12"/>
    <p:sldId id="264" r:id="rId13"/>
    <p:sldId id="265" r:id="rId14"/>
    <p:sldId id="272" r:id="rId15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00"/>
    <a:srgbClr val="33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15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1032" y="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84027A-1E75-420D-87C7-AD2403D30044}" type="datetimeFigureOut">
              <a:rPr lang="ko-KR" altLang="en-US" smtClean="0"/>
              <a:t>2018-07-27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CD3FA8-EE82-4C17-8F23-37C62FB785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6501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994484"/>
            <a:ext cx="6858000" cy="1263316"/>
          </a:xfrm>
        </p:spPr>
        <p:txBody>
          <a:bodyPr anchor="ctr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 smtClean="0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9D86-AD47-474D-8353-A659234A42A1}" type="datetimeFigureOut">
              <a:rPr lang="ko-KR" altLang="en-US" smtClean="0"/>
              <a:t>2018-07-27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48D2D-4EDD-4709-942E-43A31633F2AD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5192" y="6081834"/>
            <a:ext cx="3188484" cy="890093"/>
          </a:xfrm>
          <a:prstGeom prst="rect">
            <a:avLst/>
          </a:prstGeom>
        </p:spPr>
      </p:pic>
      <p:cxnSp>
        <p:nvCxnSpPr>
          <p:cNvPr id="10" name="직선 연결선 9"/>
          <p:cNvCxnSpPr/>
          <p:nvPr userDrawn="1"/>
        </p:nvCxnSpPr>
        <p:spPr>
          <a:xfrm>
            <a:off x="0" y="365126"/>
            <a:ext cx="9144000" cy="0"/>
          </a:xfrm>
          <a:prstGeom prst="line">
            <a:avLst/>
          </a:prstGeom>
          <a:ln w="762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 userDrawn="1"/>
        </p:nvCxnSpPr>
        <p:spPr>
          <a:xfrm flipH="1">
            <a:off x="302294" y="0"/>
            <a:ext cx="10528" cy="6858000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/>
          <p:cNvSpPr/>
          <p:nvPr userDrawn="1"/>
        </p:nvSpPr>
        <p:spPr>
          <a:xfrm>
            <a:off x="0" y="1442612"/>
            <a:ext cx="9144000" cy="975736"/>
          </a:xfrm>
          <a:prstGeom prst="rect">
            <a:avLst/>
          </a:prstGeom>
          <a:solidFill>
            <a:srgbClr val="92D050"/>
          </a:solidFill>
          <a:ln w="762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 userDrawn="1"/>
        </p:nvSpPr>
        <p:spPr>
          <a:xfrm>
            <a:off x="0" y="1600200"/>
            <a:ext cx="9144000" cy="1792705"/>
          </a:xfrm>
          <a:prstGeom prst="rect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" name="그림 1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4206" y="421418"/>
            <a:ext cx="2581295" cy="57308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6077"/>
            <a:ext cx="7772400" cy="1913885"/>
          </a:xfrm>
        </p:spPr>
        <p:txBody>
          <a:bodyPr anchor="ctr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4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44293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37318"/>
            <a:ext cx="7886700" cy="997999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9D86-AD47-474D-8353-A659234A42A1}" type="datetimeFigureOut">
              <a:rPr lang="ko-KR" altLang="en-US" smtClean="0"/>
              <a:t>2018-07-27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579BABCB-72A4-4245-AD44-8A2DEE65F69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3921" y="6329011"/>
            <a:ext cx="1922102" cy="536571"/>
          </a:xfrm>
          <a:prstGeom prst="rect">
            <a:avLst/>
          </a:prstGeom>
        </p:spPr>
      </p:pic>
      <p:cxnSp>
        <p:nvCxnSpPr>
          <p:cNvPr id="15" name="직선 연결선 14"/>
          <p:cNvCxnSpPr/>
          <p:nvPr userDrawn="1"/>
        </p:nvCxnSpPr>
        <p:spPr>
          <a:xfrm>
            <a:off x="0" y="365126"/>
            <a:ext cx="9144000" cy="0"/>
          </a:xfrm>
          <a:prstGeom prst="line">
            <a:avLst/>
          </a:prstGeom>
          <a:ln w="762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 userDrawn="1"/>
        </p:nvCxnSpPr>
        <p:spPr>
          <a:xfrm flipH="1">
            <a:off x="302294" y="0"/>
            <a:ext cx="10528" cy="6858000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 userDrawn="1"/>
        </p:nvCxnSpPr>
        <p:spPr>
          <a:xfrm flipV="1">
            <a:off x="628650" y="466816"/>
            <a:ext cx="0" cy="904787"/>
          </a:xfrm>
          <a:prstGeom prst="line">
            <a:avLst/>
          </a:prstGeom>
          <a:ln w="1016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모서리가 둥근 직사각형 25"/>
          <p:cNvSpPr/>
          <p:nvPr userDrawn="1"/>
        </p:nvSpPr>
        <p:spPr>
          <a:xfrm>
            <a:off x="445168" y="1580147"/>
            <a:ext cx="8578516" cy="4740109"/>
          </a:xfrm>
          <a:prstGeom prst="roundRect">
            <a:avLst>
              <a:gd name="adj" fmla="val 7944"/>
            </a:avLst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14008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9D86-AD47-474D-8353-A659234A42A1}" type="datetimeFigureOut">
              <a:rPr lang="ko-KR" altLang="en-US" smtClean="0"/>
              <a:t>2018-07-27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48D2D-4EDD-4709-942E-43A31633F2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23584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9D86-AD47-474D-8353-A659234A42A1}" type="datetimeFigureOut">
              <a:rPr lang="ko-KR" altLang="en-US" smtClean="0"/>
              <a:t>2018-07-27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48D2D-4EDD-4709-942E-43A31633F2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44150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9D86-AD47-474D-8353-A659234A42A1}" type="datetimeFigureOut">
              <a:rPr lang="ko-KR" altLang="en-US" smtClean="0"/>
              <a:t>2018-07-27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48D2D-4EDD-4709-942E-43A31633F2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17175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9D86-AD47-474D-8353-A659234A42A1}" type="datetimeFigureOut">
              <a:rPr lang="ko-KR" altLang="en-US" smtClean="0"/>
              <a:t>2018-07-27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48D2D-4EDD-4709-942E-43A31633F2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2649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9D86-AD47-474D-8353-A659234A42A1}" type="datetimeFigureOut">
              <a:rPr lang="ko-KR" altLang="en-US" smtClean="0"/>
              <a:t>2018-07-27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48D2D-4EDD-4709-942E-43A31633F2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2753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9D86-AD47-474D-8353-A659234A42A1}" type="datetimeFigureOut">
              <a:rPr lang="ko-KR" altLang="en-US" smtClean="0"/>
              <a:t>2018-07-27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48D2D-4EDD-4709-942E-43A31633F2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2559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9D86-AD47-474D-8353-A659234A42A1}" type="datetimeFigureOut">
              <a:rPr lang="ko-KR" altLang="en-US" smtClean="0"/>
              <a:t>2018-07-27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48D2D-4EDD-4709-942E-43A31633F2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9457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9D86-AD47-474D-8353-A659234A42A1}" type="datetimeFigureOut">
              <a:rPr lang="ko-KR" altLang="en-US" smtClean="0"/>
              <a:t>2018-07-27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48D2D-4EDD-4709-942E-43A31633F2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7074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9D86-AD47-474D-8353-A659234A42A1}" type="datetimeFigureOut">
              <a:rPr lang="ko-KR" altLang="en-US" smtClean="0"/>
              <a:t>2018-07-27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48D2D-4EDD-4709-942E-43A31633F2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1839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7E9D86-AD47-474D-8353-A659234A42A1}" type="datetimeFigureOut">
              <a:rPr lang="ko-KR" altLang="en-US" smtClean="0"/>
              <a:t>2018-07-27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F48D2D-4EDD-4709-942E-43A31633F2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3921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7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altLang="ko-KR" dirty="0" smtClean="0"/>
              <a:t>Linear Discriminant Analysis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 smtClean="0"/>
              <a:t>순천향대학교</a:t>
            </a:r>
            <a:endParaRPr lang="en-US" altLang="ko-KR" dirty="0" smtClean="0"/>
          </a:p>
          <a:p>
            <a:r>
              <a:rPr lang="ko-KR" altLang="en-US" dirty="0" smtClean="0"/>
              <a:t>박성근</a:t>
            </a:r>
            <a:r>
              <a:rPr lang="en-US" altLang="ko-KR" dirty="0" smtClean="0"/>
              <a:t>(keiny@sch.ac.kr)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75030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Linear Discriminant Analysis</a:t>
            </a:r>
            <a:endParaRPr lang="ko-KR" altLang="en-US" dirty="0"/>
          </a:p>
        </p:txBody>
      </p:sp>
      <p:sp>
        <p:nvSpPr>
          <p:cNvPr id="5" name="내용 개체 틀 4"/>
          <p:cNvSpPr txBox="1">
            <a:spLocks/>
          </p:cNvSpPr>
          <p:nvPr/>
        </p:nvSpPr>
        <p:spPr bwMode="auto">
          <a:xfrm>
            <a:off x="570489" y="1628087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20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Comic Sans MS" pitchFamily="66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선형판별분석법</a:t>
            </a:r>
            <a:r>
              <a:rPr kumimoji="0" lang="en-US" altLang="ko-KR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(LDA)</a:t>
            </a:r>
            <a:r>
              <a:rPr kumimoji="0" lang="ko-KR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이란</a:t>
            </a:r>
            <a:r>
              <a:rPr kumimoji="0" lang="en-US" altLang="ko-KR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? </a:t>
            </a: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LDA : 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클래스간 분산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(between-class scatter)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과 </a:t>
            </a:r>
            <a:r>
              <a:rPr kumimoji="0" lang="ko-KR" altLang="en-US" sz="17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클래스내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 분산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(within-class scatter) 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의 비율을 최대화하는 방식으로 데이터에 대한 특징 벡터의 차원을 축소하는 방법</a:t>
            </a: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선형판별분석법은 특징 공간상에서 클래스 분리를 최대화하는 주축으로 사상시켜 선형 </a:t>
            </a:r>
            <a:r>
              <a:rPr kumimoji="0" lang="ko-KR" altLang="en-US" sz="17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부공간으로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 차원을 축소하는 방법 </a:t>
            </a: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ko-KR" altLang="en-US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</p:txBody>
      </p:sp>
      <p:pic>
        <p:nvPicPr>
          <p:cNvPr id="6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7026" y="2896877"/>
            <a:ext cx="6763537" cy="2178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3822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Linear Discriminant Analysis</a:t>
            </a:r>
            <a:endParaRPr lang="ko-KR" altLang="en-US" dirty="0"/>
          </a:p>
        </p:txBody>
      </p:sp>
      <p:sp>
        <p:nvSpPr>
          <p:cNvPr id="5" name="내용 개체 틀 4"/>
          <p:cNvSpPr txBox="1">
            <a:spLocks/>
          </p:cNvSpPr>
          <p:nvPr/>
        </p:nvSpPr>
        <p:spPr bwMode="auto">
          <a:xfrm>
            <a:off x="628650" y="1676640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20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Comic Sans MS" pitchFamily="66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선형판별분석에 의한 차원 축소</a:t>
            </a:r>
            <a:endParaRPr kumimoji="0" lang="en-US" altLang="ko-KR" sz="2000" b="0" i="0" u="none" strike="noStrike" kern="0" cap="none" spc="0" normalizeH="0" baseline="0" noProof="0" dirty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주성분 분석법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(PCA)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은 데이터의 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최적 표현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의 견지에서 데이터를 축소하는 방법인데 반하여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, 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선형판별분석법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(LDA)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은 데이터의 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최적 분류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의 견지에서 데이터를 축소하는 방법 </a:t>
            </a: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ko-KR" altLang="en-US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</p:txBody>
      </p:sp>
      <p:pic>
        <p:nvPicPr>
          <p:cNvPr id="6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750" y="3002202"/>
            <a:ext cx="7624763" cy="323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직사각형 2"/>
          <p:cNvSpPr/>
          <p:nvPr/>
        </p:nvSpPr>
        <p:spPr>
          <a:xfrm>
            <a:off x="5182949" y="5139683"/>
            <a:ext cx="3758750" cy="634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61950" lvl="1" indent="-180975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/>
            </a:pPr>
            <a:r>
              <a:rPr lang="en-US" altLang="ko-KR" sz="1100" kern="0" dirty="0">
                <a:solidFill>
                  <a:srgbClr val="333300"/>
                </a:solidFill>
                <a:latin typeface="Comic Sans MS" pitchFamily="66" charset="0"/>
                <a:ea typeface="HY견고딕"/>
              </a:rPr>
              <a:t>LDA</a:t>
            </a:r>
            <a:r>
              <a:rPr lang="ko-KR" altLang="en-US" sz="1100" kern="0" dirty="0">
                <a:solidFill>
                  <a:srgbClr val="333300"/>
                </a:solidFill>
                <a:latin typeface="Comic Sans MS" pitchFamily="66" charset="0"/>
                <a:ea typeface="HY견고딕"/>
              </a:rPr>
              <a:t>의 목적</a:t>
            </a:r>
            <a:r>
              <a:rPr lang="en-US" altLang="ko-KR" sz="1100" kern="0" dirty="0">
                <a:solidFill>
                  <a:srgbClr val="333300"/>
                </a:solidFill>
                <a:latin typeface="Comic Sans MS" pitchFamily="66" charset="0"/>
                <a:ea typeface="HY견고딕"/>
              </a:rPr>
              <a:t>:</a:t>
            </a:r>
            <a:r>
              <a:rPr lang="ko-KR" altLang="en-US" sz="1100" kern="0" dirty="0">
                <a:solidFill>
                  <a:srgbClr val="333300"/>
                </a:solidFill>
                <a:latin typeface="Comic Sans MS" pitchFamily="66" charset="0"/>
                <a:ea typeface="HY견고딕"/>
              </a:rPr>
              <a:t>가능한 클래스간의 분별 정보를 최대한 유지시키면서 차원을 축소시키는 것 </a:t>
            </a:r>
          </a:p>
          <a:p>
            <a:pPr marL="361950" lvl="1" indent="-180975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/>
            </a:pPr>
            <a:endParaRPr lang="ko-KR" altLang="en-US" sz="1100" kern="0" dirty="0">
              <a:solidFill>
                <a:srgbClr val="333300"/>
              </a:solidFill>
              <a:latin typeface="Comic Sans MS" pitchFamily="66" charset="0"/>
              <a:ea typeface="HY견고딕"/>
            </a:endParaRPr>
          </a:p>
        </p:txBody>
      </p:sp>
    </p:spTree>
    <p:extLst>
      <p:ext uri="{BB962C8B-B14F-4D97-AF65-F5344CB8AC3E}">
        <p14:creationId xmlns:p14="http://schemas.microsoft.com/office/powerpoint/2010/main" val="1383231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Linear Discriminant Analysis</a:t>
            </a:r>
            <a:endParaRPr lang="ko-KR" altLang="en-US" dirty="0"/>
          </a:p>
        </p:txBody>
      </p:sp>
      <p:sp>
        <p:nvSpPr>
          <p:cNvPr id="5" name="내용 개체 틀 4"/>
          <p:cNvSpPr txBox="1">
            <a:spLocks/>
          </p:cNvSpPr>
          <p:nvPr/>
        </p:nvSpPr>
        <p:spPr bwMode="auto">
          <a:xfrm>
            <a:off x="628650" y="1644272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20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Comic Sans MS" pitchFamily="66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20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선형판별분석에 의한 차원 축소</a:t>
            </a:r>
            <a:endParaRPr kumimoji="0" lang="en-US" altLang="ko-KR" sz="2000" b="0" i="0" u="none" strike="noStrike" kern="0" cap="none" spc="0" normalizeH="0" baseline="0" noProof="0" dirty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788" y="2165126"/>
            <a:ext cx="6782868" cy="39231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970295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Linear Discriminant Analysis</a:t>
            </a:r>
            <a:endParaRPr lang="ko-KR" altLang="en-US" dirty="0"/>
          </a:p>
        </p:txBody>
      </p:sp>
      <p:sp>
        <p:nvSpPr>
          <p:cNvPr id="5" name="내용 개체 틀 4"/>
          <p:cNvSpPr txBox="1">
            <a:spLocks/>
          </p:cNvSpPr>
          <p:nvPr/>
        </p:nvSpPr>
        <p:spPr bwMode="auto">
          <a:xfrm>
            <a:off x="628650" y="1684732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20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Comic Sans MS" pitchFamily="66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20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선형판별분석에 의한 차원 축소</a:t>
            </a:r>
            <a:endParaRPr kumimoji="0" lang="en-US" altLang="ko-KR" sz="2000" b="0" i="0" u="none" strike="noStrike" kern="0" cap="none" spc="0" normalizeH="0" baseline="0" noProof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8646" y="2446955"/>
            <a:ext cx="5029200" cy="385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6023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Linear Discriminant Analysis</a:t>
            </a:r>
            <a:endParaRPr lang="ko-KR" altLang="en-US" dirty="0"/>
          </a:p>
        </p:txBody>
      </p:sp>
      <p:sp>
        <p:nvSpPr>
          <p:cNvPr id="14" name="내용 개체 틀 4"/>
          <p:cNvSpPr txBox="1">
            <a:spLocks/>
          </p:cNvSpPr>
          <p:nvPr/>
        </p:nvSpPr>
        <p:spPr bwMode="auto">
          <a:xfrm>
            <a:off x="610949" y="1741375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20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Comic Sans MS" pitchFamily="66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altLang="ko-KR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2</a:t>
            </a:r>
            <a:r>
              <a:rPr kumimoji="0" lang="ko-KR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진 분류에 적용된 </a:t>
            </a:r>
            <a:r>
              <a:rPr kumimoji="0" lang="en-US" altLang="ko-KR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LDA 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1181185" y="1885445"/>
            <a:ext cx="6983679" cy="4253584"/>
            <a:chOff x="582374" y="2231912"/>
            <a:chExt cx="7958931" cy="5002195"/>
          </a:xfrm>
        </p:grpSpPr>
        <p:sp>
          <p:nvSpPr>
            <p:cNvPr id="15" name="Text Box 11"/>
            <p:cNvSpPr txBox="1">
              <a:spLocks noChangeArrowheads="1"/>
            </p:cNvSpPr>
            <p:nvPr/>
          </p:nvSpPr>
          <p:spPr bwMode="auto">
            <a:xfrm>
              <a:off x="582374" y="2520837"/>
              <a:ext cx="2347913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b="1">
                  <a:solidFill>
                    <a:srgbClr val="292929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b="1">
                  <a:solidFill>
                    <a:srgbClr val="292929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b="1">
                  <a:solidFill>
                    <a:srgbClr val="292929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b="1">
                  <a:solidFill>
                    <a:srgbClr val="292929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b="1">
                  <a:solidFill>
                    <a:srgbClr val="292929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rgbClr val="292929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rgbClr val="292929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rgbClr val="292929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rgbClr val="292929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8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돋움" panose="020B0600000101010101" pitchFamily="50" charset="-127"/>
                  <a:ea typeface="돋움" panose="020B0600000101010101" pitchFamily="50" charset="-127"/>
                </a:rPr>
                <a:t>선형변환에 의한 </a:t>
              </a:r>
              <a:r>
                <a:rPr kumimoji="0" lang="ko-KR" altLang="en-US" sz="1800" b="1" i="0" u="none" strike="noStrike" kern="0" cap="none" spc="0" normalizeH="0" baseline="0" noProof="0" dirty="0" err="1" smtClean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돋움" panose="020B0600000101010101" pitchFamily="50" charset="-127"/>
                  <a:ea typeface="돋움" panose="020B0600000101010101" pitchFamily="50" charset="-127"/>
                </a:rPr>
                <a:t>사영</a:t>
              </a:r>
              <a:endParaRPr kumimoji="0" lang="ko-KR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  <p:sp>
          <p:nvSpPr>
            <p:cNvPr id="16" name="Text Box 13"/>
            <p:cNvSpPr txBox="1">
              <a:spLocks noChangeArrowheads="1"/>
            </p:cNvSpPr>
            <p:nvPr/>
          </p:nvSpPr>
          <p:spPr bwMode="auto">
            <a:xfrm>
              <a:off x="4496355" y="4338525"/>
              <a:ext cx="40449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b="1">
                  <a:solidFill>
                    <a:srgbClr val="292929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b="1">
                  <a:solidFill>
                    <a:srgbClr val="292929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b="1">
                  <a:solidFill>
                    <a:srgbClr val="292929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b="1">
                  <a:solidFill>
                    <a:srgbClr val="292929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b="1">
                  <a:solidFill>
                    <a:srgbClr val="292929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rgbClr val="292929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rgbClr val="292929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rgbClr val="292929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rgbClr val="292929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8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돋움" panose="020B0600000101010101" pitchFamily="50" charset="-127"/>
                  <a:ea typeface="돋움" panose="020B0600000101010101" pitchFamily="50" charset="-127"/>
                </a:rPr>
                <a:t>어느 </a:t>
              </a:r>
              <a:r>
                <a:rPr kumimoji="0" lang="ko-KR" altLang="en-US" sz="1800" b="1" i="0" u="none" strike="noStrike" kern="0" cap="none" spc="0" normalizeH="0" baseline="0" noProof="0" dirty="0" err="1" smtClean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돋움" panose="020B0600000101010101" pitchFamily="50" charset="-127"/>
                  <a:ea typeface="돋움" panose="020B0600000101010101" pitchFamily="50" charset="-127"/>
                </a:rPr>
                <a:t>사영을</a:t>
              </a:r>
              <a:r>
                <a:rPr kumimoji="0" lang="ko-KR" altLang="en-US" sz="18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돋움" panose="020B0600000101010101" pitchFamily="50" charset="-127"/>
                  <a:ea typeface="돋움" panose="020B0600000101010101" pitchFamily="50" charset="-127"/>
                </a:rPr>
                <a:t> 취하는 것이 좋을 것인가</a:t>
              </a:r>
              <a:r>
                <a:rPr kumimoji="0" lang="en-US" altLang="ko-KR" sz="18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돋움" panose="020B0600000101010101" pitchFamily="50" charset="-127"/>
                  <a:ea typeface="돋움" panose="020B0600000101010101" pitchFamily="50" charset="-127"/>
                </a:rPr>
                <a:t>?</a:t>
              </a:r>
            </a:p>
          </p:txBody>
        </p:sp>
        <p:sp>
          <p:nvSpPr>
            <p:cNvPr id="17" name="Text Box 15"/>
            <p:cNvSpPr txBox="1">
              <a:spLocks noChangeArrowheads="1"/>
            </p:cNvSpPr>
            <p:nvPr/>
          </p:nvSpPr>
          <p:spPr bwMode="auto">
            <a:xfrm>
              <a:off x="868123" y="6148275"/>
              <a:ext cx="6993578" cy="1085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b="1">
                  <a:solidFill>
                    <a:srgbClr val="292929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b="1">
                  <a:solidFill>
                    <a:srgbClr val="292929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b="1">
                  <a:solidFill>
                    <a:srgbClr val="292929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b="1">
                  <a:solidFill>
                    <a:srgbClr val="292929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b="1">
                  <a:solidFill>
                    <a:srgbClr val="292929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rgbClr val="292929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rgbClr val="292929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rgbClr val="292929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rgbClr val="292929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8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돋움" panose="020B0600000101010101" pitchFamily="50" charset="-127"/>
                  <a:ea typeface="돋움" panose="020B0600000101010101" pitchFamily="50" charset="-127"/>
                </a:rPr>
                <a:t>두 데이터가 가장 멀어지게 하기 위해서는</a:t>
              </a:r>
              <a:r>
                <a:rPr lang="en-US" altLang="ko-KR" kern="0" dirty="0">
                  <a:solidFill>
                    <a:srgbClr val="000066"/>
                  </a:solidFill>
                </a:rPr>
                <a:t> </a:t>
              </a:r>
              <a:r>
                <a:rPr lang="ko-KR" altLang="en-US" kern="0" dirty="0" smtClean="0">
                  <a:solidFill>
                    <a:srgbClr val="000066"/>
                  </a:solidFill>
                </a:rPr>
                <a:t>두 </a:t>
              </a:r>
              <a:r>
                <a:rPr lang="ko-KR" altLang="en-US" kern="0" dirty="0" err="1" smtClean="0">
                  <a:solidFill>
                    <a:srgbClr val="000066"/>
                  </a:solidFill>
                </a:rPr>
                <a:t>데이터사이의</a:t>
              </a:r>
              <a:endParaRPr lang="en-US" altLang="ko-KR" kern="0" dirty="0" smtClean="0">
                <a:solidFill>
                  <a:srgbClr val="000066"/>
                </a:solidFill>
              </a:endParaRPr>
            </a:p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kern="0" noProof="0" dirty="0" smtClean="0">
                  <a:solidFill>
                    <a:srgbClr val="000066"/>
                  </a:solidFill>
                </a:rPr>
                <a:t>① 평균이 멀어지고</a:t>
              </a:r>
              <a:r>
                <a:rPr lang="en-US" altLang="ko-KR" kern="0" noProof="0" dirty="0" smtClean="0">
                  <a:solidFill>
                    <a:srgbClr val="000066"/>
                  </a:solidFill>
                </a:rPr>
                <a:t>,</a:t>
              </a:r>
            </a:p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800" b="1" i="0" u="none" strike="noStrike" kern="0" cap="none" spc="0" normalizeH="0" baseline="0" dirty="0" smtClean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돋움" panose="020B0600000101010101" pitchFamily="50" charset="-127"/>
                  <a:ea typeface="돋움" panose="020B0600000101010101" pitchFamily="50" charset="-127"/>
                </a:rPr>
                <a:t>② 데이터 집단 자체의 분산은 작아지고</a:t>
              </a:r>
              <a:r>
                <a:rPr kumimoji="0" lang="en-US" altLang="ko-KR" sz="1800" b="1" i="0" u="none" strike="noStrike" kern="0" cap="none" spc="0" normalizeH="0" baseline="0" dirty="0" smtClean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돋움" panose="020B0600000101010101" pitchFamily="50" charset="-127"/>
                  <a:ea typeface="돋움" panose="020B0600000101010101" pitchFamily="50" charset="-127"/>
                </a:rPr>
                <a:t>!</a:t>
              </a:r>
              <a:endParaRPr kumimoji="0" lang="en-US" altLang="ko-KR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  <p:graphicFrame>
          <p:nvGraphicFramePr>
            <p:cNvPr id="18" name="Object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93571846"/>
                </p:ext>
              </p:extLst>
            </p:nvPr>
          </p:nvGraphicFramePr>
          <p:xfrm>
            <a:off x="6768862" y="3236800"/>
            <a:ext cx="114300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3" name="Equation" r:id="rId3" imgW="114120" imgH="215640" progId="Equation.3">
                    <p:embed/>
                  </p:oleObj>
                </mc:Choice>
                <mc:Fallback>
                  <p:oleObj name="Equation" r:id="rId3" imgW="11412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68862" y="3236800"/>
                          <a:ext cx="114300" cy="215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" name="AutoShape 33"/>
            <p:cNvSpPr>
              <a:spLocks noChangeArrowheads="1"/>
            </p:cNvSpPr>
            <p:nvPr/>
          </p:nvSpPr>
          <p:spPr bwMode="auto">
            <a:xfrm>
              <a:off x="3373569" y="2537965"/>
              <a:ext cx="1079500" cy="376239"/>
            </a:xfrm>
            <a:prstGeom prst="rightArrow">
              <a:avLst>
                <a:gd name="adj1" fmla="val 50000"/>
                <a:gd name="adj2" fmla="val 46824"/>
              </a:avLst>
            </a:prstGeom>
            <a:solidFill>
              <a:srgbClr val="9CC7DC"/>
            </a:solidFill>
            <a:ln w="9525">
              <a:solidFill>
                <a:srgbClr val="000066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b="1">
                  <a:solidFill>
                    <a:srgbClr val="292929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b="1">
                  <a:solidFill>
                    <a:srgbClr val="292929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b="1">
                  <a:solidFill>
                    <a:srgbClr val="292929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b="1">
                  <a:solidFill>
                    <a:srgbClr val="292929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b="1">
                  <a:solidFill>
                    <a:srgbClr val="292929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rgbClr val="292929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rgbClr val="292929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rgbClr val="292929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rgbClr val="292929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0" u="none" strike="noStrike" kern="0" cap="none" spc="0" normalizeH="0" baseline="0" noProof="0" smtClean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  <p:pic>
          <p:nvPicPr>
            <p:cNvPr id="20" name="Picture 13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36849" y="2231912"/>
              <a:ext cx="3763963" cy="798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" name="Picture 14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8124" y="3144725"/>
              <a:ext cx="3429000" cy="284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9414831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Linear Discriminant Analysis</a:t>
            </a:r>
            <a:endParaRPr lang="ko-KR" altLang="en-US" dirty="0"/>
          </a:p>
        </p:txBody>
      </p:sp>
      <p:sp>
        <p:nvSpPr>
          <p:cNvPr id="14" name="내용 개체 틀 4"/>
          <p:cNvSpPr txBox="1">
            <a:spLocks/>
          </p:cNvSpPr>
          <p:nvPr/>
        </p:nvSpPr>
        <p:spPr bwMode="auto">
          <a:xfrm>
            <a:off x="610949" y="1741375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20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Comic Sans MS" pitchFamily="66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altLang="ko-KR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2</a:t>
            </a:r>
            <a:r>
              <a:rPr kumimoji="0" lang="ko-KR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진 분류에 적용된 </a:t>
            </a:r>
            <a:r>
              <a:rPr kumimoji="0" lang="en-US" altLang="ko-KR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LDA 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1181185" y="1885445"/>
            <a:ext cx="6860401" cy="4376442"/>
            <a:chOff x="582374" y="2231912"/>
            <a:chExt cx="7818438" cy="5146675"/>
          </a:xfrm>
        </p:grpSpPr>
        <p:sp>
          <p:nvSpPr>
            <p:cNvPr id="15" name="Text Box 11"/>
            <p:cNvSpPr txBox="1">
              <a:spLocks noChangeArrowheads="1"/>
            </p:cNvSpPr>
            <p:nvPr/>
          </p:nvSpPr>
          <p:spPr bwMode="auto">
            <a:xfrm>
              <a:off x="582374" y="2520837"/>
              <a:ext cx="2347913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b="1">
                  <a:solidFill>
                    <a:srgbClr val="292929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b="1">
                  <a:solidFill>
                    <a:srgbClr val="292929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b="1">
                  <a:solidFill>
                    <a:srgbClr val="292929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b="1">
                  <a:solidFill>
                    <a:srgbClr val="292929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b="1">
                  <a:solidFill>
                    <a:srgbClr val="292929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rgbClr val="292929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rgbClr val="292929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rgbClr val="292929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rgbClr val="292929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8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돋움" panose="020B0600000101010101" pitchFamily="50" charset="-127"/>
                  <a:ea typeface="돋움" panose="020B0600000101010101" pitchFamily="50" charset="-127"/>
                </a:rPr>
                <a:t>선형변환에 의한 </a:t>
              </a:r>
              <a:r>
                <a:rPr kumimoji="0" lang="ko-KR" altLang="en-US" sz="1800" b="1" i="0" u="none" strike="noStrike" kern="0" cap="none" spc="0" normalizeH="0" baseline="0" noProof="0" dirty="0" err="1" smtClean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돋움" panose="020B0600000101010101" pitchFamily="50" charset="-127"/>
                  <a:ea typeface="돋움" panose="020B0600000101010101" pitchFamily="50" charset="-127"/>
                </a:rPr>
                <a:t>사영</a:t>
              </a:r>
              <a:endParaRPr kumimoji="0" lang="ko-KR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  <p:sp>
          <p:nvSpPr>
            <p:cNvPr id="17" name="Text Box 15"/>
            <p:cNvSpPr txBox="1">
              <a:spLocks noChangeArrowheads="1"/>
            </p:cNvSpPr>
            <p:nvPr/>
          </p:nvSpPr>
          <p:spPr bwMode="auto">
            <a:xfrm>
              <a:off x="868124" y="6148275"/>
              <a:ext cx="2805113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b="1">
                  <a:solidFill>
                    <a:srgbClr val="292929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b="1">
                  <a:solidFill>
                    <a:srgbClr val="292929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b="1">
                  <a:solidFill>
                    <a:srgbClr val="292929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b="1">
                  <a:solidFill>
                    <a:srgbClr val="292929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b="1">
                  <a:solidFill>
                    <a:srgbClr val="292929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rgbClr val="292929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rgbClr val="292929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rgbClr val="292929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rgbClr val="292929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800" b="1" i="0" u="none" strike="noStrike" kern="0" cap="none" spc="0" normalizeH="0" baseline="0" noProof="0" smtClean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돋움" panose="020B0600000101010101" pitchFamily="50" charset="-127"/>
                  <a:ea typeface="돋움" panose="020B0600000101010101" pitchFamily="50" charset="-127"/>
                </a:rPr>
                <a:t>평균을 기준 척도로 하면</a:t>
              </a:r>
              <a:r>
                <a:rPr kumimoji="0" lang="en-US" altLang="ko-KR" sz="1800" b="1" i="0" u="none" strike="noStrike" kern="0" cap="none" spc="0" normalizeH="0" baseline="0" noProof="0" smtClean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돋움" panose="020B0600000101010101" pitchFamily="50" charset="-127"/>
                  <a:ea typeface="돋움" panose="020B0600000101010101" pitchFamily="50" charset="-127"/>
                </a:rPr>
                <a:t>, </a:t>
              </a:r>
            </a:p>
          </p:txBody>
        </p:sp>
        <p:graphicFrame>
          <p:nvGraphicFramePr>
            <p:cNvPr id="18" name="Object 18"/>
            <p:cNvGraphicFramePr>
              <a:graphicFrameLocks noChangeAspect="1"/>
            </p:cNvGraphicFramePr>
            <p:nvPr>
              <p:extLst/>
            </p:nvPr>
          </p:nvGraphicFramePr>
          <p:xfrm>
            <a:off x="6768862" y="3236800"/>
            <a:ext cx="114300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0" name="Equation" r:id="rId3" imgW="114120" imgH="215640" progId="Equation.3">
                    <p:embed/>
                  </p:oleObj>
                </mc:Choice>
                <mc:Fallback>
                  <p:oleObj name="Equation" r:id="rId3" imgW="11412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68862" y="3236800"/>
                          <a:ext cx="114300" cy="215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" name="AutoShape 33"/>
            <p:cNvSpPr>
              <a:spLocks noChangeArrowheads="1"/>
            </p:cNvSpPr>
            <p:nvPr/>
          </p:nvSpPr>
          <p:spPr bwMode="auto">
            <a:xfrm>
              <a:off x="3373569" y="2537965"/>
              <a:ext cx="1079500" cy="376239"/>
            </a:xfrm>
            <a:prstGeom prst="rightArrow">
              <a:avLst>
                <a:gd name="adj1" fmla="val 50000"/>
                <a:gd name="adj2" fmla="val 46824"/>
              </a:avLst>
            </a:prstGeom>
            <a:solidFill>
              <a:srgbClr val="9CC7DC"/>
            </a:solidFill>
            <a:ln w="9525">
              <a:solidFill>
                <a:srgbClr val="000066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b="1">
                  <a:solidFill>
                    <a:srgbClr val="292929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b="1">
                  <a:solidFill>
                    <a:srgbClr val="292929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b="1">
                  <a:solidFill>
                    <a:srgbClr val="292929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b="1">
                  <a:solidFill>
                    <a:srgbClr val="292929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b="1">
                  <a:solidFill>
                    <a:srgbClr val="292929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rgbClr val="292929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rgbClr val="292929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rgbClr val="292929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rgbClr val="292929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0" u="none" strike="noStrike" kern="0" cap="none" spc="0" normalizeH="0" baseline="0" noProof="0" smtClean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  <p:pic>
          <p:nvPicPr>
            <p:cNvPr id="20" name="Picture 13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36849" y="2231912"/>
              <a:ext cx="3763963" cy="798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" name="Picture 14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8124" y="3144725"/>
              <a:ext cx="3429000" cy="284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" name="Picture 15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1949" y="6576900"/>
              <a:ext cx="5900738" cy="8016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1957943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Linear Discriminant Analysis</a:t>
            </a:r>
            <a:endParaRPr lang="ko-KR" altLang="en-US" dirty="0"/>
          </a:p>
        </p:txBody>
      </p:sp>
      <p:sp>
        <p:nvSpPr>
          <p:cNvPr id="10" name="내용 개체 틀 13"/>
          <p:cNvSpPr txBox="1">
            <a:spLocks/>
          </p:cNvSpPr>
          <p:nvPr/>
        </p:nvSpPr>
        <p:spPr bwMode="auto">
          <a:xfrm>
            <a:off x="538120" y="1644271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20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Comic Sans MS" pitchFamily="66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7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사영된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 데이터들의 중심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(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평균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)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간의 거리를 목적 함수로 선택하면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, </a:t>
            </a: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평균만을 고려하여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, 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좋은 척도가 아니다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. </a:t>
            </a: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분산도 고려하자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. </a:t>
            </a: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7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사영표본의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 </a:t>
            </a:r>
            <a:r>
              <a:rPr kumimoji="0" lang="ko-KR" altLang="en-US" sz="17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클래스내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 분산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(within-class scatter) </a:t>
            </a: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ko-KR" altLang="en-US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</p:txBody>
      </p:sp>
      <p:sp>
        <p:nvSpPr>
          <p:cNvPr id="11" name="Line 15"/>
          <p:cNvSpPr>
            <a:spLocks noChangeShapeType="1"/>
          </p:cNvSpPr>
          <p:nvPr/>
        </p:nvSpPr>
        <p:spPr bwMode="auto">
          <a:xfrm>
            <a:off x="2074820" y="2023683"/>
            <a:ext cx="0" cy="358775"/>
          </a:xfrm>
          <a:prstGeom prst="line">
            <a:avLst/>
          </a:prstGeom>
          <a:noFill/>
          <a:ln w="9525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 smtClean="0">
              <a:ln>
                <a:noFill/>
              </a:ln>
              <a:solidFill>
                <a:srgbClr val="292929"/>
              </a:solidFill>
              <a:effectLst/>
              <a:uLnTx/>
              <a:uFillTx/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12" name="Line 16"/>
          <p:cNvSpPr>
            <a:spLocks noChangeShapeType="1"/>
          </p:cNvSpPr>
          <p:nvPr/>
        </p:nvSpPr>
        <p:spPr bwMode="auto">
          <a:xfrm>
            <a:off x="2074820" y="2384046"/>
            <a:ext cx="431800" cy="0"/>
          </a:xfrm>
          <a:prstGeom prst="line">
            <a:avLst/>
          </a:prstGeom>
          <a:noFill/>
          <a:ln w="9525">
            <a:solidFill>
              <a:srgbClr val="0000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 smtClean="0">
              <a:ln>
                <a:noFill/>
              </a:ln>
              <a:solidFill>
                <a:srgbClr val="292929"/>
              </a:solidFill>
              <a:effectLst/>
              <a:uLnTx/>
              <a:uFillTx/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13" name="AutoShape 31"/>
          <p:cNvSpPr>
            <a:spLocks noChangeArrowheads="1"/>
          </p:cNvSpPr>
          <p:nvPr/>
        </p:nvSpPr>
        <p:spPr bwMode="auto">
          <a:xfrm>
            <a:off x="3141620" y="3895346"/>
            <a:ext cx="863600" cy="504825"/>
          </a:xfrm>
          <a:prstGeom prst="rightArrow">
            <a:avLst>
              <a:gd name="adj1" fmla="val 50000"/>
              <a:gd name="adj2" fmla="val 42767"/>
            </a:avLst>
          </a:prstGeom>
          <a:solidFill>
            <a:srgbClr val="9CC7DC"/>
          </a:solidFill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 smtClean="0">
              <a:ln>
                <a:noFill/>
              </a:ln>
              <a:solidFill>
                <a:srgbClr val="292929"/>
              </a:solidFill>
              <a:effectLst/>
              <a:uLnTx/>
              <a:uFillTx/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pic>
        <p:nvPicPr>
          <p:cNvPr id="14" name="Picture 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2345" y="2109408"/>
            <a:ext cx="3305175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6845" y="3904870"/>
            <a:ext cx="1946275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1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558" y="5697158"/>
            <a:ext cx="10715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1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2632" y="2382458"/>
            <a:ext cx="1677500" cy="13501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아래쪽 화살표 2"/>
          <p:cNvSpPr/>
          <p:nvPr/>
        </p:nvSpPr>
        <p:spPr>
          <a:xfrm>
            <a:off x="7295306" y="3787396"/>
            <a:ext cx="291313" cy="36036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9" name="Picture 13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4948" b="48094"/>
          <a:stretch/>
        </p:blipFill>
        <p:spPr bwMode="auto">
          <a:xfrm>
            <a:off x="7172914" y="4323503"/>
            <a:ext cx="827411" cy="3524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340001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Linear Discriminant Analysis</a:t>
            </a:r>
            <a:endParaRPr lang="ko-KR" altLang="en-US" dirty="0"/>
          </a:p>
        </p:txBody>
      </p:sp>
      <p:sp>
        <p:nvSpPr>
          <p:cNvPr id="10" name="내용 개체 틀 13"/>
          <p:cNvSpPr txBox="1">
            <a:spLocks/>
          </p:cNvSpPr>
          <p:nvPr/>
        </p:nvSpPr>
        <p:spPr bwMode="auto">
          <a:xfrm>
            <a:off x="481476" y="1530984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20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Comic Sans MS" pitchFamily="66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1076325" marR="0" lvl="3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008080"/>
              </a:solidFill>
              <a:effectLst/>
              <a:uLnTx/>
              <a:uFillTx/>
              <a:latin typeface="Comic Sans MS" pitchFamily="66" charset="0"/>
              <a:ea typeface="맑은 고딕" pitchFamily="50" charset="-127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32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목적함수를 다시 작성하면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, </a:t>
            </a: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Fisher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의 선형 판별식은 동일한 클래스의 표본들은 인접하게 </a:t>
            </a:r>
            <a:r>
              <a:rPr kumimoji="0" lang="ko-KR" altLang="en-US" sz="17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사영이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 취해지고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, 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동시에 클래스간의 사영은 중심이 가능한 멀리 떨어지게 하는 변환행렬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(W)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를 찾아내는 것 </a:t>
            </a: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ko-KR" altLang="en-US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</p:txBody>
      </p:sp>
      <p:sp>
        <p:nvSpPr>
          <p:cNvPr id="11" name="Text Box 8"/>
          <p:cNvSpPr txBox="1">
            <a:spLocks noChangeArrowheads="1"/>
          </p:cNvSpPr>
          <p:nvPr/>
        </p:nvSpPr>
        <p:spPr bwMode="auto">
          <a:xfrm>
            <a:off x="6516725" y="4526469"/>
            <a:ext cx="69215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ko-KR" altLang="en-US" sz="1500" smtClean="0">
                <a:solidFill>
                  <a:srgbClr val="000066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최대</a:t>
            </a:r>
          </a:p>
        </p:txBody>
      </p:sp>
      <p:sp>
        <p:nvSpPr>
          <p:cNvPr id="12" name="Text Box 9"/>
          <p:cNvSpPr txBox="1">
            <a:spLocks noChangeArrowheads="1"/>
          </p:cNvSpPr>
          <p:nvPr/>
        </p:nvSpPr>
        <p:spPr bwMode="auto">
          <a:xfrm>
            <a:off x="6527837" y="5009069"/>
            <a:ext cx="69215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ko-KR" altLang="en-US" sz="1500" smtClean="0">
                <a:solidFill>
                  <a:srgbClr val="000066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최소</a:t>
            </a:r>
          </a:p>
        </p:txBody>
      </p:sp>
      <p:sp>
        <p:nvSpPr>
          <p:cNvPr id="13" name="Line 10"/>
          <p:cNvSpPr>
            <a:spLocks noChangeShapeType="1"/>
          </p:cNvSpPr>
          <p:nvPr/>
        </p:nvSpPr>
        <p:spPr bwMode="auto">
          <a:xfrm flipV="1">
            <a:off x="4983200" y="4710619"/>
            <a:ext cx="1366837" cy="0"/>
          </a:xfrm>
          <a:prstGeom prst="line">
            <a:avLst/>
          </a:prstGeom>
          <a:noFill/>
          <a:ln w="9525">
            <a:solidFill>
              <a:srgbClr val="0000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 smtClean="0">
              <a:ln>
                <a:noFill/>
              </a:ln>
              <a:solidFill>
                <a:srgbClr val="292929"/>
              </a:solidFill>
              <a:effectLst/>
              <a:uLnTx/>
              <a:uFillTx/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14" name="Line 11"/>
          <p:cNvSpPr>
            <a:spLocks noChangeShapeType="1"/>
          </p:cNvSpPr>
          <p:nvPr/>
        </p:nvSpPr>
        <p:spPr bwMode="auto">
          <a:xfrm>
            <a:off x="4983200" y="5213857"/>
            <a:ext cx="1366837" cy="0"/>
          </a:xfrm>
          <a:prstGeom prst="line">
            <a:avLst/>
          </a:prstGeom>
          <a:noFill/>
          <a:ln w="9525">
            <a:solidFill>
              <a:srgbClr val="0000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 smtClean="0">
              <a:ln>
                <a:noFill/>
              </a:ln>
              <a:solidFill>
                <a:srgbClr val="292929"/>
              </a:solidFill>
              <a:effectLst/>
              <a:uLnTx/>
              <a:uFillTx/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pic>
        <p:nvPicPr>
          <p:cNvPr id="15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5528" y="1681518"/>
            <a:ext cx="5333896" cy="2260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3562" y="4505832"/>
            <a:ext cx="2124075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16297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Linear Discriminant Analysis</a:t>
            </a:r>
            <a:endParaRPr lang="ko-KR" altLang="en-US" dirty="0"/>
          </a:p>
        </p:txBody>
      </p:sp>
      <p:sp>
        <p:nvSpPr>
          <p:cNvPr id="11" name="내용 개체 틀 13"/>
          <p:cNvSpPr txBox="1">
            <a:spLocks/>
          </p:cNvSpPr>
          <p:nvPr/>
        </p:nvSpPr>
        <p:spPr bwMode="auto">
          <a:xfrm>
            <a:off x="546213" y="1644271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20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Comic Sans MS" pitchFamily="66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altLang="ko-KR" sz="20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Fisher’s Linear Discriminant </a:t>
            </a: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다차원 특징 공간에서 분산</a:t>
            </a:r>
            <a:r>
              <a:rPr kumimoji="0" lang="en-US" altLang="ko-KR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(scatter) </a:t>
            </a:r>
            <a:r>
              <a:rPr kumimoji="0" lang="ko-KR" altLang="en-US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행렬은 사영상에서 분산과 동일한 형태 </a:t>
            </a:r>
          </a:p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endParaRPr kumimoji="0" lang="en-US" altLang="ko-KR" sz="2000" b="0" i="0" u="none" strike="noStrike" kern="0" cap="none" spc="0" normalizeH="0" baseline="0" noProof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endParaRPr kumimoji="0" lang="en-US" altLang="ko-KR" sz="2000" b="0" i="0" u="none" strike="noStrike" kern="0" cap="none" spc="0" normalizeH="0" baseline="0" noProof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endParaRPr kumimoji="0" lang="en-US" altLang="ko-KR" sz="2000" b="0" i="0" u="none" strike="noStrike" kern="0" cap="none" spc="0" normalizeH="0" baseline="0" noProof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클래스내 분산</a:t>
            </a:r>
            <a:r>
              <a:rPr kumimoji="0" lang="en-US" altLang="ko-KR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(within-class scatter) </a:t>
            </a:r>
            <a:r>
              <a:rPr kumimoji="0" lang="ko-KR" altLang="en-US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행렬 </a:t>
            </a: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</p:txBody>
      </p:sp>
      <p:pic>
        <p:nvPicPr>
          <p:cNvPr id="12" name="Picture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0501" y="2512633"/>
            <a:ext cx="2627312" cy="6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AutoShape 35"/>
          <p:cNvSpPr>
            <a:spLocks noChangeArrowheads="1"/>
          </p:cNvSpPr>
          <p:nvPr/>
        </p:nvSpPr>
        <p:spPr bwMode="auto">
          <a:xfrm>
            <a:off x="5238863" y="3288921"/>
            <a:ext cx="647700" cy="504825"/>
          </a:xfrm>
          <a:prstGeom prst="rightArrow">
            <a:avLst>
              <a:gd name="adj1" fmla="val 50000"/>
              <a:gd name="adj2" fmla="val 32075"/>
            </a:avLst>
          </a:prstGeom>
          <a:solidFill>
            <a:srgbClr val="00CC99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latinLnBrk="0">
              <a:defRPr/>
            </a:pPr>
            <a:endParaRPr lang="ko-KR" altLang="en-US" kern="0">
              <a:solidFill>
                <a:sysClr val="windowText" lastClr="000000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pic>
        <p:nvPicPr>
          <p:cNvPr id="14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8988" y="3300033"/>
            <a:ext cx="1266825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363" y="4119183"/>
            <a:ext cx="3792538" cy="56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1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5551" y="4989133"/>
            <a:ext cx="2700337" cy="617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1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5551" y="5905121"/>
            <a:ext cx="919162" cy="28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1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3401" y="4912933"/>
            <a:ext cx="2011362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60150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Linear Discriminant Analysis</a:t>
            </a:r>
            <a:endParaRPr lang="ko-KR" altLang="en-US" dirty="0"/>
          </a:p>
        </p:txBody>
      </p:sp>
      <p:sp>
        <p:nvSpPr>
          <p:cNvPr id="11" name="내용 개체 틀 13"/>
          <p:cNvSpPr txBox="1">
            <a:spLocks/>
          </p:cNvSpPr>
          <p:nvPr/>
        </p:nvSpPr>
        <p:spPr bwMode="auto">
          <a:xfrm>
            <a:off x="628650" y="1644272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20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Comic Sans MS" pitchFamily="66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altLang="ko-KR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Fisher’s Linear Discriminant </a:t>
            </a: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다차원 특징 공간에서 분산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(scatter) 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행렬은 </a:t>
            </a:r>
            <a:r>
              <a:rPr kumimoji="0" lang="ko-KR" altLang="en-US" sz="17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사영상에서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 분산과 동일한 형태 </a:t>
            </a:r>
          </a:p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endParaRPr kumimoji="0" lang="en-US" altLang="ko-KR" sz="2000" b="0" i="0" u="none" strike="noStrike" kern="0" cap="none" spc="0" normalizeH="0" baseline="0" noProof="0" dirty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endParaRPr kumimoji="0" lang="en-US" altLang="ko-KR" sz="2000" b="0" i="0" u="none" strike="noStrike" kern="0" cap="none" spc="0" normalizeH="0" baseline="0" noProof="0" dirty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					</a:t>
            </a: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				      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클래스간 분산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(between-class scatter)</a:t>
            </a: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이 목적함수를 최대로 하는 변환행렬 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W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를 어떻게 찾을 것인가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?</a:t>
            </a: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</p:txBody>
      </p:sp>
      <p:pic>
        <p:nvPicPr>
          <p:cNvPr id="12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750" y="2468184"/>
            <a:ext cx="7781925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타원 12"/>
          <p:cNvSpPr>
            <a:spLocks noChangeArrowheads="1"/>
          </p:cNvSpPr>
          <p:nvPr/>
        </p:nvSpPr>
        <p:spPr bwMode="auto">
          <a:xfrm>
            <a:off x="8083550" y="2539622"/>
            <a:ext cx="214313" cy="357187"/>
          </a:xfrm>
          <a:prstGeom prst="ellipse">
            <a:avLst/>
          </a:prstGeom>
          <a:noFill/>
          <a:ln w="9525" algn="ctr">
            <a:noFill/>
            <a:round/>
            <a:headEnd/>
            <a:tailEnd/>
          </a:ln>
        </p:spPr>
        <p:txBody>
          <a:bodyPr anchor="ctr"/>
          <a:lstStyle/>
          <a:p>
            <a:pPr marL="381000" indent="-381000" latinLnBrk="0">
              <a:defRPr/>
            </a:pPr>
            <a:endParaRPr lang="ko-KR" altLang="en-US" kern="0">
              <a:solidFill>
                <a:sysClr val="windowText" lastClr="000000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cxnSp>
        <p:nvCxnSpPr>
          <p:cNvPr id="14" name="직선 화살표 연결선 17"/>
          <p:cNvCxnSpPr>
            <a:cxnSpLocks noChangeShapeType="1"/>
          </p:cNvCxnSpPr>
          <p:nvPr/>
        </p:nvCxnSpPr>
        <p:spPr bwMode="auto">
          <a:xfrm rot="5400000">
            <a:off x="7507288" y="3182559"/>
            <a:ext cx="857250" cy="428625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" name="타원 18"/>
          <p:cNvSpPr>
            <a:spLocks noChangeArrowheads="1"/>
          </p:cNvSpPr>
          <p:nvPr/>
        </p:nvSpPr>
        <p:spPr bwMode="auto">
          <a:xfrm>
            <a:off x="8012113" y="2539622"/>
            <a:ext cx="357187" cy="428625"/>
          </a:xfrm>
          <a:prstGeom prst="ellipse">
            <a:avLst/>
          </a:prstGeom>
          <a:noFill/>
          <a:ln w="9525" algn="ctr">
            <a:solidFill>
              <a:srgbClr val="000000"/>
            </a:solidFill>
            <a:round/>
            <a:headEnd/>
            <a:tailEnd/>
          </a:ln>
        </p:spPr>
        <p:txBody>
          <a:bodyPr anchor="ctr"/>
          <a:lstStyle/>
          <a:p>
            <a:pPr marL="381000" indent="-381000" latinLnBrk="0">
              <a:defRPr/>
            </a:pPr>
            <a:endParaRPr lang="ko-KR" altLang="en-US" kern="0">
              <a:solidFill>
                <a:sysClr val="windowText" lastClr="000000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16" name="AutoShape 20"/>
          <p:cNvSpPr>
            <a:spLocks noChangeArrowheads="1"/>
          </p:cNvSpPr>
          <p:nvPr/>
        </p:nvSpPr>
        <p:spPr bwMode="auto">
          <a:xfrm rot="1460581">
            <a:off x="3958143" y="4621002"/>
            <a:ext cx="1158875" cy="608013"/>
          </a:xfrm>
          <a:prstGeom prst="rightArrow">
            <a:avLst>
              <a:gd name="adj1" fmla="val 46296"/>
              <a:gd name="adj2" fmla="val 49591"/>
            </a:avLst>
          </a:prstGeom>
          <a:noFill/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latinLnBrk="0">
              <a:defRPr/>
            </a:pPr>
            <a:endParaRPr lang="ko-KR" altLang="en-US" kern="0">
              <a:solidFill>
                <a:sysClr val="windowText" lastClr="000000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pic>
        <p:nvPicPr>
          <p:cNvPr id="17" name="Picture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4205" y="4792452"/>
            <a:ext cx="1890713" cy="77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1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2593" y="3966952"/>
            <a:ext cx="2068512" cy="944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774904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Linear Discriminant Analysis</a:t>
            </a:r>
            <a:endParaRPr lang="ko-KR" altLang="en-US" dirty="0"/>
          </a:p>
        </p:txBody>
      </p:sp>
      <p:sp>
        <p:nvSpPr>
          <p:cNvPr id="6" name="내용 개체 틀 13"/>
          <p:cNvSpPr txBox="1">
            <a:spLocks/>
          </p:cNvSpPr>
          <p:nvPr/>
        </p:nvSpPr>
        <p:spPr bwMode="auto">
          <a:xfrm>
            <a:off x="628650" y="1563351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20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Comic Sans MS" pitchFamily="66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altLang="ko-KR" sz="20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Fisher’s Linear Discriminant </a:t>
            </a:r>
          </a:p>
        </p:txBody>
      </p:sp>
      <p:pic>
        <p:nvPicPr>
          <p:cNvPr id="7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7345" y="2112022"/>
            <a:ext cx="5329121" cy="41208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8055" y="5120869"/>
            <a:ext cx="200025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597212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Linear Discriminant Analysis</a:t>
            </a:r>
            <a:endParaRPr lang="ko-KR" altLang="en-US" dirty="0"/>
          </a:p>
        </p:txBody>
      </p:sp>
      <p:sp>
        <p:nvSpPr>
          <p:cNvPr id="9" name="내용 개체 틀 13"/>
          <p:cNvSpPr txBox="1">
            <a:spLocks/>
          </p:cNvSpPr>
          <p:nvPr/>
        </p:nvSpPr>
        <p:spPr bwMode="auto">
          <a:xfrm>
            <a:off x="505753" y="1636179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20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Comic Sans MS" pitchFamily="66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altLang="ko-KR" sz="20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Fisher’s Linear Discriminant </a:t>
            </a:r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3180691" y="5733516"/>
            <a:ext cx="51847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돋움" panose="020B0600000101010101" pitchFamily="50" charset="-127"/>
                <a:ea typeface="돋움" panose="020B0600000101010101" pitchFamily="50" charset="-127"/>
              </a:rPr>
              <a:t>Fisher's Linear Discriminant(1936) </a:t>
            </a:r>
          </a:p>
        </p:txBody>
      </p:sp>
      <p:sp>
        <p:nvSpPr>
          <p:cNvPr id="13" name="AutoShape 15"/>
          <p:cNvSpPr>
            <a:spLocks noChangeArrowheads="1"/>
          </p:cNvSpPr>
          <p:nvPr/>
        </p:nvSpPr>
        <p:spPr bwMode="auto">
          <a:xfrm rot="5400000">
            <a:off x="4189547" y="4937385"/>
            <a:ext cx="647700" cy="357188"/>
          </a:xfrm>
          <a:prstGeom prst="rightArrow">
            <a:avLst>
              <a:gd name="adj1" fmla="val 50000"/>
              <a:gd name="adj2" fmla="val 32077"/>
            </a:avLst>
          </a:prstGeom>
          <a:solidFill>
            <a:srgbClr val="9CC7DC"/>
          </a:solidFill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 smtClean="0">
              <a:ln>
                <a:noFill/>
              </a:ln>
              <a:solidFill>
                <a:srgbClr val="292929"/>
              </a:solidFill>
              <a:effectLst/>
              <a:uLnTx/>
              <a:uFillTx/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pic>
        <p:nvPicPr>
          <p:cNvPr id="1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128" y="2015591"/>
            <a:ext cx="7920038" cy="2652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직사각형 2"/>
          <p:cNvSpPr/>
          <p:nvPr/>
        </p:nvSpPr>
        <p:spPr>
          <a:xfrm>
            <a:off x="7768354" y="4135030"/>
            <a:ext cx="1019596" cy="3965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94619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Linear Discriminant Analysis</a:t>
            </a:r>
            <a:endParaRPr lang="ko-KR" altLang="en-US" dirty="0"/>
          </a:p>
        </p:txBody>
      </p:sp>
      <p:sp>
        <p:nvSpPr>
          <p:cNvPr id="5" name="내용 개체 틀 13"/>
          <p:cNvSpPr txBox="1">
            <a:spLocks/>
          </p:cNvSpPr>
          <p:nvPr/>
        </p:nvSpPr>
        <p:spPr bwMode="auto">
          <a:xfrm>
            <a:off x="521936" y="1668547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20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Comic Sans MS" pitchFamily="66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클래스</a:t>
            </a:r>
            <a:r>
              <a:rPr kumimoji="0" lang="en-US" altLang="ko-KR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-</a:t>
            </a:r>
            <a:r>
              <a:rPr kumimoji="0" lang="ko-KR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독립 변환 </a:t>
            </a:r>
            <a:endParaRPr kumimoji="0" lang="en-US" altLang="ko-KR" sz="2000" b="0" i="0" u="none" strike="noStrike" kern="0" cap="none" spc="0" normalizeH="0" baseline="0" noProof="0" dirty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이 접근법은 각 클래스간 분산과 </a:t>
            </a:r>
            <a:r>
              <a:rPr kumimoji="0" lang="ko-KR" altLang="en-US" sz="17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클래스내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 분산의 비율을 최대 화 하는 방법이다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. 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즉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, 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적절한 클래스 분류 능력을 가지도록 클래스간 분산과 </a:t>
            </a:r>
            <a:r>
              <a:rPr kumimoji="0" lang="ko-KR" altLang="en-US" sz="17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클래스내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 분산의 비율을 최대화하는 </a:t>
            </a:r>
            <a:r>
              <a:rPr kumimoji="0" lang="ko-KR" altLang="en-US" sz="17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변환법이다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. 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해당 클래스의 변환 행렬을 클래스 마다 지정하여야 하므로 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2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클래스 분류에서는 두 개의 최적화된 변환 행렬을 사용 하게 된다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.</a:t>
            </a:r>
          </a:p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클래스</a:t>
            </a:r>
            <a:r>
              <a:rPr kumimoji="0" lang="en-US" altLang="ko-KR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-</a:t>
            </a:r>
            <a:r>
              <a:rPr kumimoji="0" lang="ko-KR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종속 변환</a:t>
            </a:r>
            <a:endParaRPr kumimoji="0" lang="en-US" altLang="ko-KR" sz="2000" b="0" i="0" u="none" strike="noStrike" kern="0" cap="none" spc="0" normalizeH="0" baseline="0" noProof="0" dirty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이 접근법은 전체 분산과 </a:t>
            </a:r>
            <a:r>
              <a:rPr kumimoji="0" lang="ko-KR" altLang="en-US" sz="17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클래스내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 분산 비율을 최대화하는 방법으로 데이터 집합을 변환하기 위해서 하나의 변환 행렬만이 필요하다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.</a:t>
            </a: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데이터가 </a:t>
            </a:r>
            <a:r>
              <a:rPr kumimoji="0" lang="ko-KR" altLang="en-US" sz="17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유니모달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 분포인 경우에 적합하며 비선형적으로 이루어진 데이터와 같이 동일한 평균을 가진 데이터를 가진 클래스에는 적절치 않다</a:t>
            </a:r>
          </a:p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endParaRPr kumimoji="0" lang="ko-KR" alt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</p:txBody>
      </p:sp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7011" y="4625308"/>
            <a:ext cx="4569977" cy="1502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482969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1861</TotalTime>
  <Words>390</Words>
  <Application>Microsoft Office PowerPoint</Application>
  <PresentationFormat>화면 슬라이드 쇼(4:3)</PresentationFormat>
  <Paragraphs>108</Paragraphs>
  <Slides>14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3" baseType="lpstr">
      <vt:lpstr>HY견고딕</vt:lpstr>
      <vt:lpstr>굴림</vt:lpstr>
      <vt:lpstr>돋움</vt:lpstr>
      <vt:lpstr>맑은 고딕</vt:lpstr>
      <vt:lpstr>Arial</vt:lpstr>
      <vt:lpstr>Comic Sans MS</vt:lpstr>
      <vt:lpstr>Wingdings</vt:lpstr>
      <vt:lpstr>Office 테마</vt:lpstr>
      <vt:lpstr>Equation</vt:lpstr>
      <vt:lpstr>Linear Discriminant Analysis</vt:lpstr>
      <vt:lpstr>Linear Discriminant Analysis</vt:lpstr>
      <vt:lpstr>Linear Discriminant Analysis</vt:lpstr>
      <vt:lpstr>Linear Discriminant Analysis</vt:lpstr>
      <vt:lpstr>Linear Discriminant Analysis</vt:lpstr>
      <vt:lpstr>Linear Discriminant Analysis</vt:lpstr>
      <vt:lpstr>Linear Discriminant Analysis</vt:lpstr>
      <vt:lpstr>Linear Discriminant Analysis</vt:lpstr>
      <vt:lpstr>Linear Discriminant Analysis</vt:lpstr>
      <vt:lpstr>Linear Discriminant Analysis</vt:lpstr>
      <vt:lpstr>Linear Discriminant Analysis</vt:lpstr>
      <vt:lpstr>Linear Discriminant Analysis</vt:lpstr>
      <vt:lpstr>Linear Discriminant Analysis</vt:lpstr>
      <vt:lpstr>Linear Discriminant Analysis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Seongkeun Park</dc:creator>
  <cp:lastModifiedBy>user</cp:lastModifiedBy>
  <cp:revision>361</cp:revision>
  <dcterms:created xsi:type="dcterms:W3CDTF">2016-09-05T08:32:33Z</dcterms:created>
  <dcterms:modified xsi:type="dcterms:W3CDTF">2018-07-27T01:44:45Z</dcterms:modified>
</cp:coreProperties>
</file>